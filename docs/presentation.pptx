
<file path=[Content_Types].xml><?xml version="1.0" encoding="utf-8"?>
<Types xmlns="http://schemas.openxmlformats.org/package/2006/content-types">
  <Default Extension="xml" ContentType="application/vnd.openxmlformats-officedocument.presentationml.presentation.main+xml"/>
  <Default Extension="fntdata" ContentType="application/x-fontdata"/>
  <Default Extension="png" ContentType="image/png"/>
  <Default Extension="svg" ContentType="image/svg+xml"/>
  <Default Extension="rels" ContentType="application/vnd.openxmlformats-package.relationship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4df145ff985f4f70" /><Relationship Type="http://schemas.openxmlformats.org/package/2006/relationships/metadata/core-properties" Target="/docProps/core.xml" Id="Rbdbdd6dc86854a35" /><Relationship Type="http://schemas.openxmlformats.org/officeDocument/2006/relationships/extended-properties" Target="/docProps/app.xml" Id="Rb6e7e7527cfe4fd1"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c4562a024c7049ae"/>
  </p:sldMasterIdLst>
  <p:notesMasterIdLst>
    <p:notesMasterId r:id="R7cf47bd492574e97"/>
  </p:notesMasterIdLst>
  <p:sldIdLst>
    <p:sldId id="256" r:id="Rab37e193183b457e"/>
    <p:sldId id="257" r:id="R717c0f12e13047fe"/>
    <p:sldId id="258" r:id="R159a4d108f8c424f"/>
    <p:sldId id="259" r:id="Rda6e9c8f5c5b4bb5"/>
    <p:sldId id="260" r:id="Rcc88ea5d537a4400"/>
    <p:sldId id="261" r:id="R3e192d4cf4f04ac6"/>
    <p:sldId id="262" r:id="Rdf33039556ff4c7b"/>
    <p:sldId id="263" r:id="R573e35fd21db4a15"/>
    <p:sldId id="264" r:id="R0958de63800c4c95"/>
    <p:sldId id="265" r:id="Rf0b1bcca27c2477e"/>
    <p:sldId id="266" r:id="R83f7caee95374199"/>
    <p:sldId id="267" r:id="R9618376900fe422c"/>
    <p:sldId id="268" r:id="R45beeaeedaf147cc"/>
  </p:sldIdLst>
  <p:sldSz cx="14630400" cy="8229600"/>
  <p:notesSz cx="8229600" cy="14630400"/>
  <p:embeddedFontLst>
    <p:embeddedFont>
      <p:font typeface="Tomorrow Semi Bold"/>
      <p:regular r:id="rcId5669cd3437924917"/>
    </p:embeddedFont>
    <p:embeddedFont>
      <p:font typeface="Tomorrow Semi Bold"/>
      <p:regular r:id="rcId9084388aec5b4d3d"/>
    </p:embeddedFont>
    <p:embeddedFont>
      <p:font typeface="Tomorrow Semi Bold"/>
      <p:regular r:id="rcId8973ecdc47f54333"/>
    </p:embeddedFont>
    <p:embeddedFont>
      <p:font typeface="Tomorrow Semi Bold"/>
      <p:regular r:id="rcIdf49671adf3d44716"/>
    </p:embeddedFont>
    <p:embeddedFont>
      <p:font typeface="Tomorrow"/>
      <p:regular r:id="rcIda0ebf2b425f34b8f"/>
    </p:embeddedFont>
    <p:embeddedFont>
      <p:font typeface="Tomorrow"/>
      <p:regular r:id="rcId30464544a2264c3b"/>
    </p:embeddedFont>
    <p:embeddedFont>
      <p:font typeface="Tomorrow"/>
      <p:regular r:id="rcId55857b95833346dd"/>
    </p:embeddedFont>
    <p:embeddedFont>
      <p:font typeface="Tomorrow"/>
      <p:regular r:id="rcId53dc9e03e3084f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font" Target="/ppt/fonts/font.fntdata" Id="rcId5669cd3437924917" /><Relationship Type="http://schemas.openxmlformats.org/officeDocument/2006/relationships/font" Target="/ppt/fonts/font2.fntdata" Id="rcId9084388aec5b4d3d" /><Relationship Type="http://schemas.openxmlformats.org/officeDocument/2006/relationships/font" Target="/ppt/fonts/font3.fntdata" Id="rcId8973ecdc47f54333" /><Relationship Type="http://schemas.openxmlformats.org/officeDocument/2006/relationships/font" Target="/ppt/fonts/font4.fntdata" Id="rcIdf49671adf3d44716" /><Relationship Type="http://schemas.openxmlformats.org/officeDocument/2006/relationships/font" Target="/ppt/fonts/font5.fntdata" Id="rcIda0ebf2b425f34b8f" /><Relationship Type="http://schemas.openxmlformats.org/officeDocument/2006/relationships/font" Target="/ppt/fonts/font6.fntdata" Id="rcId30464544a2264c3b" /><Relationship Type="http://schemas.openxmlformats.org/officeDocument/2006/relationships/font" Target="/ppt/fonts/font7.fntdata" Id="rcId55857b95833346dd" /><Relationship Type="http://schemas.openxmlformats.org/officeDocument/2006/relationships/font" Target="/ppt/fonts/font8.fntdata" Id="rcId53dc9e03e3084f19" /><Relationship Type="http://schemas.openxmlformats.org/officeDocument/2006/relationships/notesMaster" Target="/ppt/notesMasters/notesMaster1.xml" Id="R7cf47bd492574e97" /><Relationship Type="http://schemas.openxmlformats.org/officeDocument/2006/relationships/presProps" Target="/ppt/presProps.xml" Id="R56c392bf4e634880" /><Relationship Type="http://schemas.openxmlformats.org/officeDocument/2006/relationships/viewProps" Target="/ppt/viewProps.xml" Id="R35facf5def5c4d63" /><Relationship Type="http://schemas.openxmlformats.org/officeDocument/2006/relationships/slideMaster" Target="/ppt/slideMasters/slideMaster1.xml" Id="Rc4562a024c7049ae" /><Relationship Type="http://schemas.openxmlformats.org/officeDocument/2006/relationships/theme" Target="/ppt/slideMasters/theme/theme2.xml" Id="Rdc8272bd02c14a5b" /><Relationship Type="http://schemas.openxmlformats.org/officeDocument/2006/relationships/slide" Target="/ppt/slides/slide1.xml" Id="Rab37e193183b457e" /><Relationship Type="http://schemas.openxmlformats.org/officeDocument/2006/relationships/slide" Target="/ppt/slides/slide2.xml" Id="R717c0f12e13047fe" /><Relationship Type="http://schemas.openxmlformats.org/officeDocument/2006/relationships/slide" Target="/ppt/slides/slide3.xml" Id="R159a4d108f8c424f" /><Relationship Type="http://schemas.openxmlformats.org/officeDocument/2006/relationships/slide" Target="/ppt/slides/slide4.xml" Id="Rda6e9c8f5c5b4bb5" /><Relationship Type="http://schemas.openxmlformats.org/officeDocument/2006/relationships/slide" Target="/ppt/slides/slide5.xml" Id="Rcc88ea5d537a4400" /><Relationship Type="http://schemas.openxmlformats.org/officeDocument/2006/relationships/slide" Target="/ppt/slides/slide6.xml" Id="R3e192d4cf4f04ac6" /><Relationship Type="http://schemas.openxmlformats.org/officeDocument/2006/relationships/slide" Target="/ppt/slides/slide7.xml" Id="Rdf33039556ff4c7b" /><Relationship Type="http://schemas.openxmlformats.org/officeDocument/2006/relationships/slide" Target="/ppt/slides/slide8.xml" Id="R573e35fd21db4a15" /><Relationship Type="http://schemas.openxmlformats.org/officeDocument/2006/relationships/slide" Target="/ppt/slides/slide9.xml" Id="R0958de63800c4c95" /><Relationship Type="http://schemas.openxmlformats.org/officeDocument/2006/relationships/slide" Target="/ppt/slides/slide10.xml" Id="Rf0b1bcca27c2477e" /><Relationship Type="http://schemas.openxmlformats.org/officeDocument/2006/relationships/slide" Target="/ppt/slides/slide11.xml" Id="R83f7caee95374199" /><Relationship Type="http://schemas.openxmlformats.org/officeDocument/2006/relationships/slide" Target="/ppt/slides/slide12.xml" Id="R9618376900fe422c" /><Relationship Type="http://schemas.openxmlformats.org/officeDocument/2006/relationships/slide" Target="/ppt/slides/slide13.xml" Id="R45beeaeedaf147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xml" Id="Ra3a0069f90b44449"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31c461fbfe45466a" /><Relationship Type="http://schemas.openxmlformats.org/officeDocument/2006/relationships/notesMaster" Target="/ppt/notesMasters/notesMaster1.xml" Id="R1b3d6b61591e47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63c6468f6d45e4" /><Relationship Type="http://schemas.openxmlformats.org/officeDocument/2006/relationships/notesMaster" Target="/ppt/notesMasters/notesMaster1.xml" Id="R0952503f066d42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05fb68ca0d4b60" /><Relationship Type="http://schemas.openxmlformats.org/officeDocument/2006/relationships/notesMaster" Target="/ppt/notesMasters/notesMaster1.xml" Id="Rd732ea9185d94d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3d23397be94034" /><Relationship Type="http://schemas.openxmlformats.org/officeDocument/2006/relationships/notesMaster" Target="/ppt/notesMasters/notesMaster1.xml" Id="R9b943a123cb44d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c51ec83f1b44cf" /><Relationship Type="http://schemas.openxmlformats.org/officeDocument/2006/relationships/notesMaster" Target="/ppt/notesMasters/notesMaster1.xml" Id="R77e8f7910dfb4b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465ddf42fe44aa" /><Relationship Type="http://schemas.openxmlformats.org/officeDocument/2006/relationships/notesMaster" Target="/ppt/notesMasters/notesMaster1.xml" Id="R5ea3733fd0374d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74548742934803" /><Relationship Type="http://schemas.openxmlformats.org/officeDocument/2006/relationships/notesMaster" Target="/ppt/notesMasters/notesMaster1.xml" Id="Rb33693198a7e4a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ba030873214399" /><Relationship Type="http://schemas.openxmlformats.org/officeDocument/2006/relationships/notesMaster" Target="/ppt/notesMasters/notesMaster1.xml" Id="R1c0fa0de2cb546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0a52b3745d4e25" /><Relationship Type="http://schemas.openxmlformats.org/officeDocument/2006/relationships/notesMaster" Target="/ppt/notesMasters/notesMaster1.xml" Id="R49a3c81606cd48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8fffef36db46ea" /><Relationship Type="http://schemas.openxmlformats.org/officeDocument/2006/relationships/notesMaster" Target="/ppt/notesMasters/notesMaster1.xml" Id="R143677a5d10545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25103a24574144" /><Relationship Type="http://schemas.openxmlformats.org/officeDocument/2006/relationships/notesMaster" Target="/ppt/notesMasters/notesMaster1.xml" Id="Rc0833b9762cc41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84e2dffb0c48db" /><Relationship Type="http://schemas.openxmlformats.org/officeDocument/2006/relationships/notesMaster" Target="/ppt/notesMasters/notesMaster1.xml" Id="Rf16f27db73104a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4b7d9ce38645b7" /><Relationship Type="http://schemas.openxmlformats.org/officeDocument/2006/relationships/notesMaster" Target="/ppt/notesMasters/notesMaster1.xml" Id="R6dcd97732e86488c"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e11e26b44344a2" /><Relationship Type="http://schemas.openxmlformats.org/officeDocument/2006/relationships/image" Target="/ppt/media/image.png" Id="R4e3452f2fc8c4be0" /><Relationship Type="http://schemas.openxmlformats.org/officeDocument/2006/relationships/hyperlink" Target="https://gamma.app/?utm_source=made-with-gamma" TargetMode="External" Id="rcId335a4063f0614252" /></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cId335a4063f0614252" tooltip=""/>
          </p:cNvPr>
          <p:cNvPicPr>
            <a:picLocks noChangeAspect="1"/>
          </p:cNvPicPr>
          <p:nvPr/>
        </p:nvPicPr>
        <p:blipFill>
          <a:blip r:embed="R4e3452f2fc8c4be0"/>
          <a:stretch>
            <a:fillRect/>
          </a:stretch>
        </p:blipFill>
        <p:spPr>
          <a:xfrm>
            <a:off x="12839215" y="7749540"/>
            <a:ext cx="1722605" cy="411480"/>
          </a:xfrm>
          <a:prstGeom prst="rect">
            <a:avLst/>
          </a:prstGeom>
        </p:spPr>
      </p:pic>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cfd036fac54a2e" /><Relationship Type="http://schemas.openxmlformats.org/officeDocument/2006/relationships/slideLayout" Target="/ppt/slideLayouts/slideLayout2.xml" Id="R72f986eb88804a2e"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72f986eb88804a2e"/>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2.png" Id="R7904d98653204e00" /><Relationship Type="http://schemas.openxmlformats.org/officeDocument/2006/relationships/notesSlide" Target="/ppt/notesSlides/notesSlide1.xml" Id="R5443d8c2724a4394" /><Relationship Type="http://schemas.openxmlformats.org/officeDocument/2006/relationships/slideLayout" Target="/ppt/slideLayouts/slideLayout2.xml" Id="Rd0f51d8561294829" /></Relationships>
</file>

<file path=ppt/slides/_rels/slide2.xml.rels>&#65279;<?xml version="1.0" encoding="utf-8"?><Relationships xmlns="http://schemas.openxmlformats.org/package/2006/relationships"><Relationship Type="http://schemas.openxmlformats.org/officeDocument/2006/relationships/notesSlide" Target="/ppt/notesSlides/notesSlide2.xml" Id="Re912893e778b4e20" /><Relationship Type="http://schemas.openxmlformats.org/officeDocument/2006/relationships/slideLayout" Target="/ppt/slideLayouts/slideLayout2.xml" Id="Re38975ba3a0d4688" /></Relationships>
</file>

<file path=ppt/slides/_rels/slide3.xml.rels>&#65279;<?xml version="1.0" encoding="utf-8"?><Relationships xmlns="http://schemas.openxmlformats.org/package/2006/relationships"><Relationship Type="http://schemas.openxmlformats.org/officeDocument/2006/relationships/image" Target="/ppt/media/image3.png" Id="R5d36732f2ec14a40" /><Relationship Type="http://schemas.openxmlformats.org/officeDocument/2006/relationships/notesSlide" Target="/ppt/notesSlides/notesSlide3.xml" Id="R6688543424f546c8" /><Relationship Type="http://schemas.openxmlformats.org/officeDocument/2006/relationships/slideLayout" Target="/ppt/slideLayouts/slideLayout2.xml" Id="Rba270a8f5ff04c7c" /></Relationships>
</file>

<file path=ppt/slides/_rels/slide4.xml.rels>&#65279;<?xml version="1.0" encoding="utf-8"?><Relationships xmlns="http://schemas.openxmlformats.org/package/2006/relationships"><Relationship Type="http://schemas.openxmlformats.org/officeDocument/2006/relationships/image" Target="/ppt/media/image4.png" Id="R6ecc11ae20ee4e5c" /><Relationship Type="http://schemas.openxmlformats.org/officeDocument/2006/relationships/image" Target="/ppt/media/image5.png" Id="Rcfb3c29f89f343a1" /><Relationship Type="http://schemas.openxmlformats.org/officeDocument/2006/relationships/image" Target="/ppt/media/image.svg" Id="Rc63bc11641174e1e" /><Relationship Type="http://schemas.openxmlformats.org/officeDocument/2006/relationships/image" Target="/ppt/media/image2.svg" Id="Ra4a9c33257604959" /><Relationship Type="http://schemas.openxmlformats.org/officeDocument/2006/relationships/image" Target="/ppt/media/image3.svg" Id="Rf1efde2e9661406f" /><Relationship Type="http://schemas.openxmlformats.org/officeDocument/2006/relationships/image" Target="/ppt/media/image4.svg" Id="R1f854c5a55aa4f40" /><Relationship Type="http://schemas.openxmlformats.org/officeDocument/2006/relationships/notesSlide" Target="/ppt/notesSlides/notesSlide4.xml" Id="R405fe97c05f24511" /><Relationship Type="http://schemas.openxmlformats.org/officeDocument/2006/relationships/slideLayout" Target="/ppt/slideLayouts/slideLayout2.xml" Id="R9909424e4eb24f7a" /></Relationships>
</file>

<file path=ppt/slides/_rels/slide5.xml.rels>&#65279;<?xml version="1.0" encoding="utf-8"?><Relationships xmlns="http://schemas.openxmlformats.org/package/2006/relationships"><Relationship Type="http://schemas.openxmlformats.org/officeDocument/2006/relationships/image" Target="/ppt/media/image5.png" Id="R0c987912e129483b" /><Relationship Type="http://schemas.openxmlformats.org/officeDocument/2006/relationships/image" Target="/ppt/media/image5.svg" Id="R06ed337242dc4fab" /><Relationship Type="http://schemas.openxmlformats.org/officeDocument/2006/relationships/notesSlide" Target="/ppt/notesSlides/notesSlide5.xml" Id="R053bae047ea540e5" /><Relationship Type="http://schemas.openxmlformats.org/officeDocument/2006/relationships/slideLayout" Target="/ppt/slideLayouts/slideLayout2.xml" Id="Raaf9c0ccc10c4ddb" /></Relationships>
</file>

<file path=ppt/slides/_rels/slide6.xml.rels>&#65279;<?xml version="1.0" encoding="utf-8"?><Relationships xmlns="http://schemas.openxmlformats.org/package/2006/relationships"><Relationship Type="http://schemas.openxmlformats.org/officeDocument/2006/relationships/image" Target="/ppt/media/image6.png" Id="Rda81128e7b544c0f" /><Relationship Type="http://schemas.openxmlformats.org/officeDocument/2006/relationships/notesSlide" Target="/ppt/notesSlides/notesSlide6.xml" Id="Re3dddd149be0470a" /><Relationship Type="http://schemas.openxmlformats.org/officeDocument/2006/relationships/slideLayout" Target="/ppt/slideLayouts/slideLayout2.xml" Id="R4a529b1d9b984569" /></Relationships>
</file>

<file path=ppt/slides/_rels/slide7.xml.rels>&#65279;<?xml version="1.0" encoding="utf-8"?><Relationships xmlns="http://schemas.openxmlformats.org/package/2006/relationships"><Relationship Type="http://schemas.openxmlformats.org/officeDocument/2006/relationships/image" Target="/ppt/media/image7.png" Id="R78fe53c157d04b9a" /><Relationship Type="http://schemas.openxmlformats.org/officeDocument/2006/relationships/notesSlide" Target="/ppt/notesSlides/notesSlide7.xml" Id="Reb75d9f6be3b4cbe" /><Relationship Type="http://schemas.openxmlformats.org/officeDocument/2006/relationships/slideLayout" Target="/ppt/slideLayouts/slideLayout2.xml" Id="R88de0786a1db40a6" /></Relationships>
</file>

<file path=ppt/slides/_rels/slide8.xml.rels>&#65279;<?xml version="1.0" encoding="utf-8"?><Relationships xmlns="http://schemas.openxmlformats.org/package/2006/relationships"><Relationship Type="http://schemas.openxmlformats.org/officeDocument/2006/relationships/image" Target="/ppt/media/image8.png" Id="R0ca592b95b86424c" /><Relationship Type="http://schemas.openxmlformats.org/officeDocument/2006/relationships/notesSlide" Target="/ppt/notesSlides/notesSlide8.xml" Id="Rc345b60aa4854c64" /><Relationship Type="http://schemas.openxmlformats.org/officeDocument/2006/relationships/slideLayout" Target="/ppt/slideLayouts/slideLayout2.xml" Id="Rbb61cdedea0145ae" /></Relationships>
</file>

<file path=ppt/slides/_rels/slide9.xml.rels>&#65279;<?xml version="1.0" encoding="utf-8"?><Relationships xmlns="http://schemas.openxmlformats.org/package/2006/relationships"><Relationship Type="http://schemas.openxmlformats.org/officeDocument/2006/relationships/image" Target="/ppt/media/image9.png" Id="R0934d5de0a494b3a" /><Relationship Type="http://schemas.openxmlformats.org/officeDocument/2006/relationships/image" Target="/ppt/media/image10.png" Id="Rfb5f29e74c044a50" /><Relationship Type="http://schemas.openxmlformats.org/officeDocument/2006/relationships/image" Target="/ppt/media/image11.png" Id="R6575e11db096425c" /><Relationship Type="http://schemas.openxmlformats.org/officeDocument/2006/relationships/notesSlide" Target="/ppt/notesSlides/notesSlide9.xml" Id="R29c80e15f9e14fd5" /><Relationship Type="http://schemas.openxmlformats.org/officeDocument/2006/relationships/slideLayout" Target="/ppt/slideLayouts/slideLayout2.xml" Id="R6257362663074a32" /></Relationships>
</file>

<file path=ppt/slides/_rels/slide10.xml.rels>&#65279;<?xml version="1.0" encoding="utf-8"?><Relationships xmlns="http://schemas.openxmlformats.org/package/2006/relationships"><Relationship Type="http://schemas.openxmlformats.org/officeDocument/2006/relationships/image" Target="/ppt/media/image5.png" Id="Rf29491656f824e78" /><Relationship Type="http://schemas.openxmlformats.org/officeDocument/2006/relationships/image" Target="/ppt/media/image5.svg" Id="R1df89766bced46bb" /><Relationship Type="http://schemas.openxmlformats.org/officeDocument/2006/relationships/notesSlide" Target="/ppt/notesSlides/notesSlide10.xml" Id="R4bd440c8b87541a9" /><Relationship Type="http://schemas.openxmlformats.org/officeDocument/2006/relationships/slideLayout" Target="/ppt/slideLayouts/slideLayout2.xml" Id="Rc064adad771346d4" /></Relationships>
</file>

<file path=ppt/slides/_rels/slide11.xml.rels>&#65279;<?xml version="1.0" encoding="utf-8"?><Relationships xmlns="http://schemas.openxmlformats.org/package/2006/relationships"><Relationship Type="http://schemas.openxmlformats.org/officeDocument/2006/relationships/image" Target="/ppt/media/image12.png" Id="Rc7a09d1c57a64b42" /><Relationship Type="http://schemas.openxmlformats.org/officeDocument/2006/relationships/notesSlide" Target="/ppt/notesSlides/notesSlide11.xml" Id="Rf72406bcbf8f4b33" /><Relationship Type="http://schemas.openxmlformats.org/officeDocument/2006/relationships/slideLayout" Target="/ppt/slideLayouts/slideLayout2.xml" Id="Re9e2d5b7fd65408b" /></Relationships>
</file>

<file path=ppt/slides/_rels/slide12.xml.rels>&#65279;<?xml version="1.0" encoding="utf-8"?><Relationships xmlns="http://schemas.openxmlformats.org/package/2006/relationships"><Relationship Type="http://schemas.openxmlformats.org/officeDocument/2006/relationships/image" Target="/ppt/media/image5.png" Id="Rb5196815057f4974" /><Relationship Type="http://schemas.openxmlformats.org/officeDocument/2006/relationships/image" Target="/ppt/media/image6.svg" Id="R569b3987ce004b69" /><Relationship Type="http://schemas.openxmlformats.org/officeDocument/2006/relationships/image" Target="/ppt/media/image7.svg" Id="Rc74593d995f84d60" /><Relationship Type="http://schemas.openxmlformats.org/officeDocument/2006/relationships/image" Target="/ppt/media/image8.svg" Id="R033173bc38d54b86" /><Relationship Type="http://schemas.openxmlformats.org/officeDocument/2006/relationships/image" Target="/ppt/media/image9.svg" Id="R77c75b65a2f0444d" /><Relationship Type="http://schemas.openxmlformats.org/officeDocument/2006/relationships/image" Target="/ppt/media/image10.svg" Id="Recfd6cdc43e946a4" /><Relationship Type="http://schemas.openxmlformats.org/officeDocument/2006/relationships/notesSlide" Target="/ppt/notesSlides/notesSlide12.xml" Id="Rf3b1fbcf8c914b5a" /><Relationship Type="http://schemas.openxmlformats.org/officeDocument/2006/relationships/slideLayout" Target="/ppt/slideLayouts/slideLayout2.xml" Id="Rb1b18158699e4aa5" /></Relationships>
</file>

<file path=ppt/slides/_rels/slide13.xml.rels>&#65279;<?xml version="1.0" encoding="utf-8"?><Relationships xmlns="http://schemas.openxmlformats.org/package/2006/relationships"><Relationship Type="http://schemas.openxmlformats.org/officeDocument/2006/relationships/notesSlide" Target="/ppt/notesSlides/notesSlide13.xml" Id="Rf4431df8ea2c4fd8" /><Relationship Type="http://schemas.openxmlformats.org/officeDocument/2006/relationships/slideLayout" Target="/ppt/slideLayouts/slideLayout2.xml" Id="R21f004b398a84d08"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7904d98653204e00"/>
          <a:stretch>
            <a:fillRect/>
          </a:stretch>
        </p:blipFill>
        <p:spPr>
          <a:xfrm>
            <a:off x="0" y="0"/>
            <a:ext cx="5486400" cy="8229600"/>
          </a:xfrm>
          <a:prstGeom prst="rect">
            <a:avLst/>
          </a:prstGeom>
        </p:spPr>
      </p:pic>
      <p:sp>
        <p:nvSpPr>
          <p:cNvPr id="3" name="Text 0"/>
          <p:cNvSpPr/>
          <p:nvPr/>
        </p:nvSpPr>
        <p:spPr>
          <a:xfrm>
            <a:off x="6280190" y="2119670"/>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Hotel Management System</a:t>
            </a:r>
            <a:endParaRPr lang="en-US" sz="4450" dirty="0"/>
          </a:p>
        </p:txBody>
      </p:sp>
      <p:sp>
        <p:nvSpPr>
          <p:cNvPr id="4" name="Text 1"/>
          <p:cNvSpPr/>
          <p:nvPr/>
        </p:nvSpPr>
        <p:spPr>
          <a:xfrm>
            <a:off x="6280190" y="387738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Using MySQL (Relational) and MongoDB (NoSQL)</a:t>
            </a:r>
            <a:endParaRPr lang="en-US" sz="1750" dirty="0"/>
          </a:p>
        </p:txBody>
      </p:sp>
      <p:sp>
        <p:nvSpPr>
          <p:cNvPr id="5" name="Shape 2"/>
          <p:cNvSpPr/>
          <p:nvPr/>
        </p:nvSpPr>
        <p:spPr>
          <a:xfrm>
            <a:off x="6280190" y="4503063"/>
            <a:ext cx="1022628" cy="426244"/>
          </a:xfrm>
          <a:prstGeom prst="roundRect">
            <a:avLst>
              <a:gd name="adj" fmla="val 6386"/>
            </a:avLst>
          </a:prstGeom>
          <a:solidFill>
            <a:srgbClr val="272725"/>
          </a:solidFill>
          <a:ln/>
        </p:spPr>
      </p:sp>
      <p:sp>
        <p:nvSpPr>
          <p:cNvPr id="6" name="Text 3"/>
          <p:cNvSpPr/>
          <p:nvPr/>
        </p:nvSpPr>
        <p:spPr>
          <a:xfrm>
            <a:off x="6416278" y="4571048"/>
            <a:ext cx="750451" cy="290274"/>
          </a:xfrm>
          <a:prstGeom prst="rect">
            <a:avLst/>
          </a:prstGeom>
          <a:noFill/>
          <a:ln/>
        </p:spPr>
        <p:txBody>
          <a:bodyPr wrap="none" lIns="0" tIns="0" rIns="0" bIns="0" rtlCol="0" anchor="t"/>
          <a:lstStyle/>
          <a:p>
            <a:pPr algn="l" indent="0" marL="0">
              <a:lnSpc>
                <a:spcPts val="2250"/>
              </a:lnSpc>
              <a:buNone/>
            </a:pPr>
            <a:r>
              <a:rPr lang="en-US" sz="1400" dirty="0">
                <a:solidFill>
                  <a:srgbClr val="C9C9C0"/>
                </a:solidFill>
                <a:latin typeface="Tomorrow" pitchFamily="34" charset="0"/>
                <a:ea typeface="Tomorrow" pitchFamily="34" charset="-122"/>
                <a:cs typeface="Tomorrow" pitchFamily="34" charset="-120"/>
              </a:rPr>
              <a:t>GROUP 7</a:t>
            </a:r>
            <a:endParaRPr lang="en-US" sz="1400" dirty="0"/>
          </a:p>
        </p:txBody>
      </p:sp>
      <p:sp>
        <p:nvSpPr>
          <p:cNvPr id="7" name="Shape 4"/>
          <p:cNvSpPr/>
          <p:nvPr/>
        </p:nvSpPr>
        <p:spPr>
          <a:xfrm>
            <a:off x="7416165" y="4495443"/>
            <a:ext cx="5110877" cy="441484"/>
          </a:xfrm>
          <a:prstGeom prst="roundRect">
            <a:avLst>
              <a:gd name="adj" fmla="val 6165"/>
            </a:avLst>
          </a:prstGeom>
          <a:noFill/>
          <a:ln w="7620">
            <a:solidFill>
              <a:srgbClr val="E1E1DF"/>
            </a:solidFill>
            <a:prstDash val="solid"/>
          </a:ln>
        </p:spPr>
      </p:sp>
      <p:sp>
        <p:nvSpPr>
          <p:cNvPr id="8" name="Text 5"/>
          <p:cNvSpPr/>
          <p:nvPr/>
        </p:nvSpPr>
        <p:spPr>
          <a:xfrm>
            <a:off x="7559873" y="4571048"/>
            <a:ext cx="4823460" cy="290274"/>
          </a:xfrm>
          <a:prstGeom prst="rect">
            <a:avLst/>
          </a:prstGeom>
          <a:noFill/>
          <a:ln/>
        </p:spPr>
        <p:txBody>
          <a:bodyPr wrap="none" lIns="0" tIns="0" rIns="0" bIns="0" rtlCol="0" anchor="t"/>
          <a:lstStyle/>
          <a:p>
            <a:pPr algn="l" indent="0" marL="0">
              <a:lnSpc>
                <a:spcPts val="2250"/>
              </a:lnSpc>
              <a:buNone/>
            </a:pPr>
            <a:r>
              <a:rPr lang="en-US" sz="1400" dirty="0">
                <a:solidFill>
                  <a:srgbClr val="E1E1DF"/>
                </a:solidFill>
                <a:latin typeface="Tomorrow" pitchFamily="34" charset="0"/>
                <a:ea typeface="Tomorrow" pitchFamily="34" charset="-122"/>
                <a:cs typeface="Tomorrow" pitchFamily="34" charset="-120"/>
              </a:rPr>
              <a:t>ADDIS ABABA SCIENCE AND TECHNOLOGY UNIVERSITY</a:t>
            </a:r>
            <a:endParaRPr lang="en-US" sz="1400" dirty="0"/>
          </a:p>
        </p:txBody>
      </p:sp>
      <p:sp>
        <p:nvSpPr>
          <p:cNvPr id="9" name="Shape 6"/>
          <p:cNvSpPr/>
          <p:nvPr/>
        </p:nvSpPr>
        <p:spPr>
          <a:xfrm>
            <a:off x="6280190" y="5050274"/>
            <a:ext cx="4049554" cy="441484"/>
          </a:xfrm>
          <a:prstGeom prst="roundRect">
            <a:avLst>
              <a:gd name="adj" fmla="val 6165"/>
            </a:avLst>
          </a:prstGeom>
          <a:noFill/>
          <a:ln w="7620">
            <a:solidFill>
              <a:srgbClr val="E1E1DF"/>
            </a:solidFill>
            <a:prstDash val="solid"/>
          </a:ln>
        </p:spPr>
      </p:sp>
      <p:sp>
        <p:nvSpPr>
          <p:cNvPr id="10" name="Text 7"/>
          <p:cNvSpPr/>
          <p:nvPr/>
        </p:nvSpPr>
        <p:spPr>
          <a:xfrm>
            <a:off x="6423898" y="5125879"/>
            <a:ext cx="3762137" cy="290274"/>
          </a:xfrm>
          <a:prstGeom prst="rect">
            <a:avLst/>
          </a:prstGeom>
          <a:noFill/>
          <a:ln/>
        </p:spPr>
        <p:txBody>
          <a:bodyPr wrap="none" lIns="0" tIns="0" rIns="0" bIns="0" rtlCol="0" anchor="t"/>
          <a:lstStyle/>
          <a:p>
            <a:pPr algn="l" indent="0" marL="0">
              <a:lnSpc>
                <a:spcPts val="2250"/>
              </a:lnSpc>
              <a:buNone/>
            </a:pPr>
            <a:r>
              <a:rPr lang="en-US" sz="1400" dirty="0">
                <a:solidFill>
                  <a:srgbClr val="E1E1DF"/>
                </a:solidFill>
                <a:latin typeface="Tomorrow" pitchFamily="34" charset="0"/>
                <a:ea typeface="Tomorrow" pitchFamily="34" charset="-122"/>
                <a:cs typeface="Tomorrow" pitchFamily="34" charset="-120"/>
              </a:rPr>
              <a:t>DEPARTMENT OF SOFTWARE ENGINEERING</a:t>
            </a:r>
            <a:endParaRPr lang="en-US" sz="1400" dirty="0"/>
          </a:p>
        </p:txBody>
      </p:sp>
      <p:sp>
        <p:nvSpPr>
          <p:cNvPr id="11" name="Text 8"/>
          <p:cNvSpPr/>
          <p:nvPr/>
        </p:nvSpPr>
        <p:spPr>
          <a:xfrm>
            <a:off x="6280190" y="574690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May 2026</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49799"/>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Group Members</a:t>
            </a:r>
            <a:endParaRPr lang="en-US" sz="4450" dirty="0"/>
          </a:p>
        </p:txBody>
      </p:sp>
      <p:sp>
        <p:nvSpPr>
          <p:cNvPr id="3" name="Shape 1"/>
          <p:cNvSpPr/>
          <p:nvPr/>
        </p:nvSpPr>
        <p:spPr>
          <a:xfrm>
            <a:off x="793790" y="2412206"/>
            <a:ext cx="13042821" cy="4567476"/>
          </a:xfrm>
          <a:prstGeom prst="roundRect">
            <a:avLst>
              <a:gd name="adj" fmla="val 745"/>
            </a:avLst>
          </a:prstGeom>
          <a:noFill/>
          <a:ln w="7620">
            <a:solidFill>
              <a:srgbClr val="FFFFFF">
                <a:alpha val="24000"/>
              </a:srgbClr>
            </a:solidFill>
            <a:prstDash val="solid"/>
          </a:ln>
        </p:spPr>
      </p:sp>
      <p:sp>
        <p:nvSpPr>
          <p:cNvPr id="4" name="Shape 2"/>
          <p:cNvSpPr/>
          <p:nvPr/>
        </p:nvSpPr>
        <p:spPr>
          <a:xfrm>
            <a:off x="801410" y="2419826"/>
            <a:ext cx="13027581" cy="650319"/>
          </a:xfrm>
          <a:prstGeom prst="rect">
            <a:avLst/>
          </a:prstGeom>
          <a:solidFill>
            <a:srgbClr val="FFFFFF">
              <a:alpha val="4000"/>
            </a:srgbClr>
          </a:solidFill>
          <a:ln/>
        </p:spPr>
      </p:sp>
      <p:sp>
        <p:nvSpPr>
          <p:cNvPr id="5" name="Text 3"/>
          <p:cNvSpPr/>
          <p:nvPr/>
        </p:nvSpPr>
        <p:spPr>
          <a:xfrm>
            <a:off x="1028343" y="2563535"/>
            <a:ext cx="845225" cy="362903"/>
          </a:xfrm>
          <a:prstGeom prst="rect">
            <a:avLst/>
          </a:prstGeom>
          <a:noFill/>
          <a:ln/>
        </p:spPr>
        <p:txBody>
          <a:bodyPr wrap="none" lIns="0" tIns="0" rIns="0" bIns="0" rtlCol="0" anchor="t"/>
          <a:lstStyle/>
          <a:p>
            <a:pPr algn="l" indent="0" marL="0">
              <a:lnSpc>
                <a:spcPts val="2850"/>
              </a:lnSpc>
              <a:buNone/>
            </a:pPr>
            <a:r>
              <a:rPr lang="en-US" sz="1750" b="1" dirty="0">
                <a:solidFill>
                  <a:srgbClr val="C9C9C0"/>
                </a:solidFill>
                <a:latin typeface="Tomorrow" pitchFamily="34" charset="0"/>
                <a:ea typeface="Tomorrow" pitchFamily="34" charset="-122"/>
                <a:cs typeface="Tomorrow" pitchFamily="34" charset="-120"/>
              </a:rPr>
              <a:t>No.</a:t>
            </a:r>
            <a:endParaRPr lang="en-US" sz="1750" dirty="0"/>
          </a:p>
        </p:txBody>
      </p:sp>
      <p:sp>
        <p:nvSpPr>
          <p:cNvPr id="6" name="Text 4"/>
          <p:cNvSpPr/>
          <p:nvPr/>
        </p:nvSpPr>
        <p:spPr>
          <a:xfrm>
            <a:off x="2334816" y="2563535"/>
            <a:ext cx="5401151" cy="362903"/>
          </a:xfrm>
          <a:prstGeom prst="rect">
            <a:avLst/>
          </a:prstGeom>
          <a:noFill/>
          <a:ln/>
        </p:spPr>
        <p:txBody>
          <a:bodyPr wrap="none" lIns="0" tIns="0" rIns="0" bIns="0" rtlCol="0" anchor="t"/>
          <a:lstStyle/>
          <a:p>
            <a:pPr algn="l" indent="0" marL="0">
              <a:lnSpc>
                <a:spcPts val="2850"/>
              </a:lnSpc>
              <a:buNone/>
            </a:pPr>
            <a:r>
              <a:rPr lang="en-US" sz="1750" b="1" dirty="0">
                <a:solidFill>
                  <a:srgbClr val="C9C9C0"/>
                </a:solidFill>
                <a:latin typeface="Tomorrow" pitchFamily="34" charset="0"/>
                <a:ea typeface="Tomorrow" pitchFamily="34" charset="-122"/>
                <a:cs typeface="Tomorrow" pitchFamily="34" charset="-120"/>
              </a:rPr>
              <a:t>Name</a:t>
            </a:r>
            <a:endParaRPr lang="en-US" sz="1750" dirty="0"/>
          </a:p>
        </p:txBody>
      </p:sp>
      <p:sp>
        <p:nvSpPr>
          <p:cNvPr id="7" name="Text 5"/>
          <p:cNvSpPr/>
          <p:nvPr/>
        </p:nvSpPr>
        <p:spPr>
          <a:xfrm>
            <a:off x="8197215" y="2563535"/>
            <a:ext cx="5404961" cy="362903"/>
          </a:xfrm>
          <a:prstGeom prst="rect">
            <a:avLst/>
          </a:prstGeom>
          <a:noFill/>
          <a:ln/>
        </p:spPr>
        <p:txBody>
          <a:bodyPr wrap="none" lIns="0" tIns="0" rIns="0" bIns="0" rtlCol="0" anchor="t"/>
          <a:lstStyle/>
          <a:p>
            <a:pPr algn="l" indent="0" marL="0">
              <a:lnSpc>
                <a:spcPts val="2850"/>
              </a:lnSpc>
              <a:buNone/>
            </a:pPr>
            <a:r>
              <a:rPr lang="en-US" sz="1750" b="1" dirty="0">
                <a:solidFill>
                  <a:srgbClr val="C9C9C0"/>
                </a:solidFill>
                <a:latin typeface="Tomorrow" pitchFamily="34" charset="0"/>
                <a:ea typeface="Tomorrow" pitchFamily="34" charset="-122"/>
                <a:cs typeface="Tomorrow" pitchFamily="34" charset="-120"/>
              </a:rPr>
              <a:t>ID</a:t>
            </a:r>
            <a:endParaRPr lang="en-US" sz="1750" dirty="0"/>
          </a:p>
        </p:txBody>
      </p:sp>
      <p:sp>
        <p:nvSpPr>
          <p:cNvPr id="8" name="Shape 6"/>
          <p:cNvSpPr/>
          <p:nvPr/>
        </p:nvSpPr>
        <p:spPr>
          <a:xfrm>
            <a:off x="801410" y="3070146"/>
            <a:ext cx="13027581" cy="650319"/>
          </a:xfrm>
          <a:prstGeom prst="rect">
            <a:avLst/>
          </a:prstGeom>
          <a:solidFill>
            <a:srgbClr val="000000">
              <a:alpha val="4000"/>
            </a:srgbClr>
          </a:solidFill>
          <a:ln/>
        </p:spPr>
      </p:sp>
      <p:sp>
        <p:nvSpPr>
          <p:cNvPr id="9" name="Text 7"/>
          <p:cNvSpPr/>
          <p:nvPr/>
        </p:nvSpPr>
        <p:spPr>
          <a:xfrm>
            <a:off x="1028343" y="3213854"/>
            <a:ext cx="845225"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1</a:t>
            </a:r>
            <a:endParaRPr lang="en-US" sz="1750" dirty="0"/>
          </a:p>
        </p:txBody>
      </p:sp>
      <p:sp>
        <p:nvSpPr>
          <p:cNvPr id="10" name="Text 8"/>
          <p:cNvSpPr/>
          <p:nvPr/>
        </p:nvSpPr>
        <p:spPr>
          <a:xfrm>
            <a:off x="2334816" y="3213854"/>
            <a:ext cx="540115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Beka Solomon</a:t>
            </a:r>
            <a:endParaRPr lang="en-US" sz="1750" dirty="0"/>
          </a:p>
        </p:txBody>
      </p:sp>
      <p:sp>
        <p:nvSpPr>
          <p:cNvPr id="11" name="Text 9"/>
          <p:cNvSpPr/>
          <p:nvPr/>
        </p:nvSpPr>
        <p:spPr>
          <a:xfrm>
            <a:off x="8197215" y="3213854"/>
            <a:ext cx="540496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ETS 0242/17</a:t>
            </a:r>
            <a:endParaRPr lang="en-US" sz="1750" dirty="0"/>
          </a:p>
        </p:txBody>
      </p:sp>
      <p:sp>
        <p:nvSpPr>
          <p:cNvPr id="12" name="Shape 10"/>
          <p:cNvSpPr/>
          <p:nvPr/>
        </p:nvSpPr>
        <p:spPr>
          <a:xfrm>
            <a:off x="801410" y="3720465"/>
            <a:ext cx="13027581" cy="650319"/>
          </a:xfrm>
          <a:prstGeom prst="rect">
            <a:avLst/>
          </a:prstGeom>
          <a:solidFill>
            <a:srgbClr val="FFFFFF">
              <a:alpha val="4000"/>
            </a:srgbClr>
          </a:solidFill>
          <a:ln/>
        </p:spPr>
      </p:sp>
      <p:sp>
        <p:nvSpPr>
          <p:cNvPr id="13" name="Text 11"/>
          <p:cNvSpPr/>
          <p:nvPr/>
        </p:nvSpPr>
        <p:spPr>
          <a:xfrm>
            <a:off x="1028343" y="3864173"/>
            <a:ext cx="845225"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2</a:t>
            </a:r>
            <a:endParaRPr lang="en-US" sz="1750" dirty="0"/>
          </a:p>
        </p:txBody>
      </p:sp>
      <p:sp>
        <p:nvSpPr>
          <p:cNvPr id="14" name="Text 12"/>
          <p:cNvSpPr/>
          <p:nvPr/>
        </p:nvSpPr>
        <p:spPr>
          <a:xfrm>
            <a:off x="2334816" y="3864173"/>
            <a:ext cx="540115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Deborah Mesfin</a:t>
            </a:r>
            <a:endParaRPr lang="en-US" sz="1750" dirty="0"/>
          </a:p>
        </p:txBody>
      </p:sp>
      <p:sp>
        <p:nvSpPr>
          <p:cNvPr id="15" name="Text 13"/>
          <p:cNvSpPr/>
          <p:nvPr/>
        </p:nvSpPr>
        <p:spPr>
          <a:xfrm>
            <a:off x="8197215" y="3864173"/>
            <a:ext cx="540496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ETS 0434/17</a:t>
            </a:r>
            <a:endParaRPr lang="en-US" sz="1750" dirty="0"/>
          </a:p>
        </p:txBody>
      </p:sp>
      <p:sp>
        <p:nvSpPr>
          <p:cNvPr id="16" name="Shape 14"/>
          <p:cNvSpPr/>
          <p:nvPr/>
        </p:nvSpPr>
        <p:spPr>
          <a:xfrm>
            <a:off x="801410" y="4370784"/>
            <a:ext cx="13027581" cy="650319"/>
          </a:xfrm>
          <a:prstGeom prst="rect">
            <a:avLst/>
          </a:prstGeom>
          <a:solidFill>
            <a:srgbClr val="000000">
              <a:alpha val="4000"/>
            </a:srgbClr>
          </a:solidFill>
          <a:ln/>
        </p:spPr>
      </p:sp>
      <p:sp>
        <p:nvSpPr>
          <p:cNvPr id="17" name="Text 15"/>
          <p:cNvSpPr/>
          <p:nvPr/>
        </p:nvSpPr>
        <p:spPr>
          <a:xfrm>
            <a:off x="1028343" y="4514493"/>
            <a:ext cx="845225"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3</a:t>
            </a:r>
            <a:endParaRPr lang="en-US" sz="1750" dirty="0"/>
          </a:p>
        </p:txBody>
      </p:sp>
      <p:sp>
        <p:nvSpPr>
          <p:cNvPr id="18" name="Text 16"/>
          <p:cNvSpPr/>
          <p:nvPr/>
        </p:nvSpPr>
        <p:spPr>
          <a:xfrm>
            <a:off x="2334816" y="4514493"/>
            <a:ext cx="540115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Biruk Molla</a:t>
            </a:r>
            <a:endParaRPr lang="en-US" sz="1750" dirty="0"/>
          </a:p>
        </p:txBody>
      </p:sp>
      <p:sp>
        <p:nvSpPr>
          <p:cNvPr id="19" name="Text 17"/>
          <p:cNvSpPr/>
          <p:nvPr/>
        </p:nvSpPr>
        <p:spPr>
          <a:xfrm>
            <a:off x="8197215" y="4514493"/>
            <a:ext cx="540496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ETS 0336/17</a:t>
            </a:r>
            <a:endParaRPr lang="en-US" sz="1750" dirty="0"/>
          </a:p>
        </p:txBody>
      </p:sp>
      <p:sp>
        <p:nvSpPr>
          <p:cNvPr id="20" name="Shape 18"/>
          <p:cNvSpPr/>
          <p:nvPr/>
        </p:nvSpPr>
        <p:spPr>
          <a:xfrm>
            <a:off x="801410" y="5021104"/>
            <a:ext cx="13027581" cy="650319"/>
          </a:xfrm>
          <a:prstGeom prst="rect">
            <a:avLst/>
          </a:prstGeom>
          <a:solidFill>
            <a:srgbClr val="FFFFFF">
              <a:alpha val="4000"/>
            </a:srgbClr>
          </a:solidFill>
          <a:ln/>
        </p:spPr>
      </p:sp>
      <p:sp>
        <p:nvSpPr>
          <p:cNvPr id="21" name="Text 19"/>
          <p:cNvSpPr/>
          <p:nvPr/>
        </p:nvSpPr>
        <p:spPr>
          <a:xfrm>
            <a:off x="1028343" y="5164812"/>
            <a:ext cx="845225"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4</a:t>
            </a:r>
            <a:endParaRPr lang="en-US" sz="1750" dirty="0"/>
          </a:p>
        </p:txBody>
      </p:sp>
      <p:sp>
        <p:nvSpPr>
          <p:cNvPr id="22" name="Text 20"/>
          <p:cNvSpPr/>
          <p:nvPr/>
        </p:nvSpPr>
        <p:spPr>
          <a:xfrm>
            <a:off x="2334816" y="5164812"/>
            <a:ext cx="540115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Abreham Teshale</a:t>
            </a:r>
            <a:endParaRPr lang="en-US" sz="1750" dirty="0"/>
          </a:p>
        </p:txBody>
      </p:sp>
      <p:sp>
        <p:nvSpPr>
          <p:cNvPr id="23" name="Text 21"/>
          <p:cNvSpPr/>
          <p:nvPr/>
        </p:nvSpPr>
        <p:spPr>
          <a:xfrm>
            <a:off x="8197215" y="5164812"/>
            <a:ext cx="540496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ETS 0076/17</a:t>
            </a:r>
            <a:endParaRPr lang="en-US" sz="1750" dirty="0"/>
          </a:p>
        </p:txBody>
      </p:sp>
      <p:sp>
        <p:nvSpPr>
          <p:cNvPr id="24" name="Shape 22"/>
          <p:cNvSpPr/>
          <p:nvPr/>
        </p:nvSpPr>
        <p:spPr>
          <a:xfrm>
            <a:off x="801410" y="5671423"/>
            <a:ext cx="13027581" cy="650319"/>
          </a:xfrm>
          <a:prstGeom prst="rect">
            <a:avLst/>
          </a:prstGeom>
          <a:solidFill>
            <a:srgbClr val="000000">
              <a:alpha val="4000"/>
            </a:srgbClr>
          </a:solidFill>
          <a:ln/>
        </p:spPr>
      </p:sp>
      <p:sp>
        <p:nvSpPr>
          <p:cNvPr id="25" name="Text 23"/>
          <p:cNvSpPr/>
          <p:nvPr/>
        </p:nvSpPr>
        <p:spPr>
          <a:xfrm>
            <a:off x="1028343" y="5815132"/>
            <a:ext cx="845225"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5</a:t>
            </a:r>
            <a:endParaRPr lang="en-US" sz="1750" dirty="0"/>
          </a:p>
        </p:txBody>
      </p:sp>
      <p:sp>
        <p:nvSpPr>
          <p:cNvPr id="26" name="Text 24"/>
          <p:cNvSpPr/>
          <p:nvPr/>
        </p:nvSpPr>
        <p:spPr>
          <a:xfrm>
            <a:off x="2334816" y="5815132"/>
            <a:ext cx="540115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Awach Awach Garang</a:t>
            </a:r>
            <a:endParaRPr lang="en-US" sz="1750" dirty="0"/>
          </a:p>
        </p:txBody>
      </p:sp>
      <p:sp>
        <p:nvSpPr>
          <p:cNvPr id="27" name="Text 25"/>
          <p:cNvSpPr/>
          <p:nvPr/>
        </p:nvSpPr>
        <p:spPr>
          <a:xfrm>
            <a:off x="8197215" y="5815132"/>
            <a:ext cx="540496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ETS 1869/17</a:t>
            </a:r>
            <a:endParaRPr lang="en-US" sz="1750" dirty="0"/>
          </a:p>
        </p:txBody>
      </p:sp>
      <p:sp>
        <p:nvSpPr>
          <p:cNvPr id="28" name="Shape 26"/>
          <p:cNvSpPr/>
          <p:nvPr/>
        </p:nvSpPr>
        <p:spPr>
          <a:xfrm>
            <a:off x="801410" y="6321743"/>
            <a:ext cx="13027581" cy="650319"/>
          </a:xfrm>
          <a:prstGeom prst="rect">
            <a:avLst/>
          </a:prstGeom>
          <a:solidFill>
            <a:srgbClr val="FFFFFF">
              <a:alpha val="4000"/>
            </a:srgbClr>
          </a:solidFill>
          <a:ln/>
        </p:spPr>
      </p:sp>
      <p:sp>
        <p:nvSpPr>
          <p:cNvPr id="29" name="Text 27"/>
          <p:cNvSpPr/>
          <p:nvPr/>
        </p:nvSpPr>
        <p:spPr>
          <a:xfrm>
            <a:off x="1028343" y="6465451"/>
            <a:ext cx="845225"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6</a:t>
            </a:r>
            <a:endParaRPr lang="en-US" sz="1750" dirty="0"/>
          </a:p>
        </p:txBody>
      </p:sp>
      <p:sp>
        <p:nvSpPr>
          <p:cNvPr id="30" name="Text 28"/>
          <p:cNvSpPr/>
          <p:nvPr/>
        </p:nvSpPr>
        <p:spPr>
          <a:xfrm>
            <a:off x="2334816" y="6465451"/>
            <a:ext cx="540115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Gakeer Deng</a:t>
            </a:r>
            <a:endParaRPr lang="en-US" sz="1750" dirty="0"/>
          </a:p>
        </p:txBody>
      </p:sp>
      <p:sp>
        <p:nvSpPr>
          <p:cNvPr id="31" name="Text 29"/>
          <p:cNvSpPr/>
          <p:nvPr/>
        </p:nvSpPr>
        <p:spPr>
          <a:xfrm>
            <a:off x="8197215" y="6465451"/>
            <a:ext cx="5404961" cy="362903"/>
          </a:xfrm>
          <a:prstGeom prst="rect">
            <a:avLst/>
          </a:prstGeom>
          <a:noFill/>
          <a:ln/>
        </p:spPr>
        <p:txBody>
          <a:bodyPr wrap="non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ETS 1865/17</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5d36732f2ec14a40"/>
          <a:stretch>
            <a:fillRect/>
          </a:stretch>
        </p:blipFill>
        <p:spPr>
          <a:xfrm>
            <a:off x="694611" y="751761"/>
            <a:ext cx="8437245" cy="4781074"/>
          </a:xfrm>
          <a:prstGeom prst="rect">
            <a:avLst/>
          </a:prstGeom>
        </p:spPr>
      </p:pic>
      <p:sp>
        <p:nvSpPr>
          <p:cNvPr id="3" name="Shape 0"/>
          <p:cNvSpPr/>
          <p:nvPr/>
        </p:nvSpPr>
        <p:spPr>
          <a:xfrm>
            <a:off x="9623584" y="889754"/>
            <a:ext cx="1323618" cy="357307"/>
          </a:xfrm>
          <a:prstGeom prst="roundRect">
            <a:avLst>
              <a:gd name="adj" fmla="val 6666"/>
            </a:avLst>
          </a:prstGeom>
          <a:solidFill>
            <a:srgbClr val="272725"/>
          </a:solidFill>
          <a:ln/>
        </p:spPr>
      </p:sp>
      <p:sp>
        <p:nvSpPr>
          <p:cNvPr id="4" name="Text 1"/>
          <p:cNvSpPr/>
          <p:nvPr/>
        </p:nvSpPr>
        <p:spPr>
          <a:xfrm>
            <a:off x="9742646" y="949285"/>
            <a:ext cx="1085493" cy="238244"/>
          </a:xfrm>
          <a:prstGeom prst="rect">
            <a:avLst/>
          </a:prstGeom>
          <a:noFill/>
          <a:ln/>
        </p:spPr>
        <p:txBody>
          <a:bodyPr wrap="none" lIns="0" tIns="0" rIns="0" bIns="0" rtlCol="0" anchor="t"/>
          <a:lstStyle/>
          <a:p>
            <a:pPr algn="l" indent="0" marL="0">
              <a:lnSpc>
                <a:spcPts val="1850"/>
              </a:lnSpc>
              <a:buNone/>
            </a:pPr>
            <a:r>
              <a:rPr lang="en-US" sz="1250" dirty="0">
                <a:solidFill>
                  <a:srgbClr val="C9C9C0"/>
                </a:solidFill>
                <a:latin typeface="Tomorrow" pitchFamily="34" charset="0"/>
                <a:ea typeface="Tomorrow" pitchFamily="34" charset="-122"/>
                <a:cs typeface="Tomorrow" pitchFamily="34" charset="-120"/>
              </a:rPr>
              <a:t>BACKGROUND</a:t>
            </a:r>
            <a:endParaRPr lang="en-US" sz="1250" dirty="0"/>
          </a:p>
        </p:txBody>
      </p:sp>
      <p:sp>
        <p:nvSpPr>
          <p:cNvPr id="5" name="Text 2"/>
          <p:cNvSpPr/>
          <p:nvPr/>
        </p:nvSpPr>
        <p:spPr>
          <a:xfrm>
            <a:off x="9623584" y="1316474"/>
            <a:ext cx="4319707" cy="1860233"/>
          </a:xfrm>
          <a:prstGeom prst="rect">
            <a:avLst/>
          </a:prstGeom>
          <a:noFill/>
          <a:ln/>
        </p:spPr>
        <p:txBody>
          <a:bodyPr wrap="square" lIns="0" tIns="0" rIns="0" bIns="0" rtlCol="0" anchor="t"/>
          <a:lstStyle/>
          <a:p>
            <a:pPr algn="l"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Introduction to Addis Grand Hotel</a:t>
            </a:r>
            <a:endParaRPr lang="en-US" sz="3900" dirty="0"/>
          </a:p>
        </p:txBody>
      </p:sp>
      <p:sp>
        <p:nvSpPr>
          <p:cNvPr id="6" name="Text 3"/>
          <p:cNvSpPr/>
          <p:nvPr/>
        </p:nvSpPr>
        <p:spPr>
          <a:xfrm>
            <a:off x="9623584" y="3350300"/>
            <a:ext cx="4319707" cy="2083594"/>
          </a:xfrm>
          <a:prstGeom prst="rect">
            <a:avLst/>
          </a:prstGeom>
          <a:noFill/>
          <a:ln/>
        </p:spPr>
        <p:txBody>
          <a:bodyPr wrap="square" lIns="0" tIns="0" rIns="0" bIns="0" rtlCol="0" anchor="t"/>
          <a:lstStyle/>
          <a:p>
            <a:pPr algn="l" indent="0" marL="0">
              <a:lnSpc>
                <a:spcPts val="2300"/>
              </a:lnSpc>
              <a:buNone/>
            </a:pPr>
            <a:r>
              <a:rPr lang="en-US" sz="1550" dirty="0">
                <a:solidFill>
                  <a:srgbClr val="C9C9C0"/>
                </a:solidFill>
                <a:latin typeface="Tomorrow" pitchFamily="34" charset="0"/>
                <a:ea typeface="Tomorrow" pitchFamily="34" charset="-122"/>
                <a:cs typeface="Tomorrow" pitchFamily="34" charset="-120"/>
              </a:rPr>
              <a:t>Addis Grand Hotel is a mid-sized 3-star hotel located in Addis Ababa, serving both business and leisure travellers. The hotel offers a range of accommodation options alongside dining and guest services, but currently relies on manual processes for day-to-day operations.</a:t>
            </a:r>
            <a:endParaRPr lang="en-US" sz="1550" dirty="0"/>
          </a:p>
        </p:txBody>
      </p:sp>
      <p:sp>
        <p:nvSpPr>
          <p:cNvPr id="7" name="Shape 4"/>
          <p:cNvSpPr/>
          <p:nvPr/>
        </p:nvSpPr>
        <p:spPr>
          <a:xfrm>
            <a:off x="694611" y="5923359"/>
            <a:ext cx="4297918" cy="1749742"/>
          </a:xfrm>
          <a:prstGeom prst="roundRect">
            <a:avLst>
              <a:gd name="adj" fmla="val 6271"/>
            </a:avLst>
          </a:prstGeom>
          <a:solidFill>
            <a:srgbClr val="1D1D1B"/>
          </a:solidFill>
          <a:ln w="22860">
            <a:solidFill>
              <a:srgbClr val="555553"/>
            </a:solidFill>
            <a:prstDash val="solid"/>
          </a:ln>
        </p:spPr>
      </p:sp>
      <p:sp>
        <p:nvSpPr>
          <p:cNvPr id="8" name="Shape 5"/>
          <p:cNvSpPr/>
          <p:nvPr/>
        </p:nvSpPr>
        <p:spPr>
          <a:xfrm>
            <a:off x="671751" y="5923359"/>
            <a:ext cx="91440" cy="1749742"/>
          </a:xfrm>
          <a:prstGeom prst="roundRect">
            <a:avLst>
              <a:gd name="adj" fmla="val 32558"/>
            </a:avLst>
          </a:prstGeom>
          <a:solidFill>
            <a:srgbClr val="E1E1DF"/>
          </a:solidFill>
          <a:ln/>
        </p:spPr>
      </p:sp>
      <p:sp>
        <p:nvSpPr>
          <p:cNvPr id="9" name="Text 6"/>
          <p:cNvSpPr/>
          <p:nvPr/>
        </p:nvSpPr>
        <p:spPr>
          <a:xfrm>
            <a:off x="984409" y="614457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Accommodation</a:t>
            </a:r>
            <a:endParaRPr lang="en-US" sz="1950" dirty="0"/>
          </a:p>
        </p:txBody>
      </p:sp>
      <p:sp>
        <p:nvSpPr>
          <p:cNvPr id="10" name="Text 7"/>
          <p:cNvSpPr/>
          <p:nvPr/>
        </p:nvSpPr>
        <p:spPr>
          <a:xfrm>
            <a:off x="984409" y="6558915"/>
            <a:ext cx="3786902" cy="892969"/>
          </a:xfrm>
          <a:prstGeom prst="rect">
            <a:avLst/>
          </a:prstGeom>
          <a:noFill/>
          <a:ln/>
        </p:spPr>
        <p:txBody>
          <a:bodyPr wrap="square" lIns="0" tIns="0" rIns="0" bIns="0" rtlCol="0" anchor="t"/>
          <a:lstStyle/>
          <a:p>
            <a:pPr algn="l" indent="0" marL="0">
              <a:lnSpc>
                <a:spcPts val="2300"/>
              </a:lnSpc>
              <a:buNone/>
            </a:pPr>
            <a:r>
              <a:rPr lang="en-US" sz="1550" dirty="0">
                <a:solidFill>
                  <a:srgbClr val="C9C9C0"/>
                </a:solidFill>
                <a:latin typeface="Tomorrow" pitchFamily="34" charset="0"/>
                <a:ea typeface="Tomorrow" pitchFamily="34" charset="-122"/>
                <a:cs typeface="Tomorrow" pitchFamily="34" charset="-120"/>
              </a:rPr>
              <a:t>Approximately 120 rooms across four categories: Single, Double, Deluxe, and Suite</a:t>
            </a:r>
            <a:endParaRPr lang="en-US" sz="1550" dirty="0"/>
          </a:p>
        </p:txBody>
      </p:sp>
      <p:sp>
        <p:nvSpPr>
          <p:cNvPr id="11" name="Shape 8"/>
          <p:cNvSpPr/>
          <p:nvPr/>
        </p:nvSpPr>
        <p:spPr>
          <a:xfrm>
            <a:off x="5166122" y="5923359"/>
            <a:ext cx="4298037" cy="1749742"/>
          </a:xfrm>
          <a:prstGeom prst="roundRect">
            <a:avLst>
              <a:gd name="adj" fmla="val 6271"/>
            </a:avLst>
          </a:prstGeom>
          <a:solidFill>
            <a:srgbClr val="1D1D1B"/>
          </a:solidFill>
          <a:ln w="22860">
            <a:solidFill>
              <a:srgbClr val="555553"/>
            </a:solidFill>
            <a:prstDash val="solid"/>
          </a:ln>
        </p:spPr>
      </p:sp>
      <p:sp>
        <p:nvSpPr>
          <p:cNvPr id="12" name="Shape 9"/>
          <p:cNvSpPr/>
          <p:nvPr/>
        </p:nvSpPr>
        <p:spPr>
          <a:xfrm>
            <a:off x="5143262" y="5923359"/>
            <a:ext cx="91440" cy="1749742"/>
          </a:xfrm>
          <a:prstGeom prst="roundRect">
            <a:avLst>
              <a:gd name="adj" fmla="val 32558"/>
            </a:avLst>
          </a:prstGeom>
          <a:solidFill>
            <a:srgbClr val="E1E1DF"/>
          </a:solidFill>
          <a:ln/>
        </p:spPr>
      </p:sp>
      <p:sp>
        <p:nvSpPr>
          <p:cNvPr id="13" name="Text 10"/>
          <p:cNvSpPr/>
          <p:nvPr/>
        </p:nvSpPr>
        <p:spPr>
          <a:xfrm>
            <a:off x="5455920" y="614457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Services</a:t>
            </a:r>
            <a:endParaRPr lang="en-US" sz="1950" dirty="0"/>
          </a:p>
        </p:txBody>
      </p:sp>
      <p:sp>
        <p:nvSpPr>
          <p:cNvPr id="14" name="Text 11"/>
          <p:cNvSpPr/>
          <p:nvPr/>
        </p:nvSpPr>
        <p:spPr>
          <a:xfrm>
            <a:off x="5455920" y="6558915"/>
            <a:ext cx="3787021" cy="595313"/>
          </a:xfrm>
          <a:prstGeom prst="rect">
            <a:avLst/>
          </a:prstGeom>
          <a:noFill/>
          <a:ln/>
        </p:spPr>
        <p:txBody>
          <a:bodyPr wrap="square" lIns="0" tIns="0" rIns="0" bIns="0" rtlCol="0" anchor="t"/>
          <a:lstStyle/>
          <a:p>
            <a:pPr algn="l" indent="0" marL="0">
              <a:lnSpc>
                <a:spcPts val="2300"/>
              </a:lnSpc>
              <a:buNone/>
            </a:pPr>
            <a:r>
              <a:rPr lang="en-US" sz="1550" dirty="0">
                <a:solidFill>
                  <a:srgbClr val="C9C9C0"/>
                </a:solidFill>
                <a:latin typeface="Tomorrow" pitchFamily="34" charset="0"/>
                <a:ea typeface="Tomorrow" pitchFamily="34" charset="-122"/>
                <a:cs typeface="Tomorrow" pitchFamily="34" charset="-120"/>
              </a:rPr>
              <a:t>Room service, basic restaurant services, and guest accommodation</a:t>
            </a:r>
            <a:endParaRPr lang="en-US" sz="1550" dirty="0"/>
          </a:p>
        </p:txBody>
      </p:sp>
      <p:sp>
        <p:nvSpPr>
          <p:cNvPr id="15" name="Shape 12"/>
          <p:cNvSpPr/>
          <p:nvPr/>
        </p:nvSpPr>
        <p:spPr>
          <a:xfrm>
            <a:off x="9637752" y="5923359"/>
            <a:ext cx="4297918" cy="1749742"/>
          </a:xfrm>
          <a:prstGeom prst="roundRect">
            <a:avLst>
              <a:gd name="adj" fmla="val 6271"/>
            </a:avLst>
          </a:prstGeom>
          <a:solidFill>
            <a:srgbClr val="1D1D1B"/>
          </a:solidFill>
          <a:ln w="22860">
            <a:solidFill>
              <a:srgbClr val="555553"/>
            </a:solidFill>
            <a:prstDash val="solid"/>
          </a:ln>
        </p:spPr>
      </p:sp>
      <p:sp>
        <p:nvSpPr>
          <p:cNvPr id="16" name="Shape 13"/>
          <p:cNvSpPr/>
          <p:nvPr/>
        </p:nvSpPr>
        <p:spPr>
          <a:xfrm>
            <a:off x="9614892" y="5923359"/>
            <a:ext cx="91440" cy="1749742"/>
          </a:xfrm>
          <a:prstGeom prst="roundRect">
            <a:avLst>
              <a:gd name="adj" fmla="val 32558"/>
            </a:avLst>
          </a:prstGeom>
          <a:solidFill>
            <a:srgbClr val="E1E1DF"/>
          </a:solidFill>
          <a:ln/>
        </p:spPr>
      </p:sp>
      <p:sp>
        <p:nvSpPr>
          <p:cNvPr id="17" name="Text 14"/>
          <p:cNvSpPr/>
          <p:nvPr/>
        </p:nvSpPr>
        <p:spPr>
          <a:xfrm>
            <a:off x="9927550" y="614457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Current System</a:t>
            </a:r>
            <a:endParaRPr lang="en-US" sz="1950" dirty="0"/>
          </a:p>
        </p:txBody>
      </p:sp>
      <p:sp>
        <p:nvSpPr>
          <p:cNvPr id="18" name="Text 15"/>
          <p:cNvSpPr/>
          <p:nvPr/>
        </p:nvSpPr>
        <p:spPr>
          <a:xfrm>
            <a:off x="9927550" y="6558915"/>
            <a:ext cx="3786902" cy="892969"/>
          </a:xfrm>
          <a:prstGeom prst="rect">
            <a:avLst/>
          </a:prstGeom>
          <a:noFill/>
          <a:ln/>
        </p:spPr>
        <p:txBody>
          <a:bodyPr wrap="square" lIns="0" tIns="0" rIns="0" bIns="0" rtlCol="0" anchor="t"/>
          <a:lstStyle/>
          <a:p>
            <a:pPr algn="l" indent="0" marL="0">
              <a:lnSpc>
                <a:spcPts val="2300"/>
              </a:lnSpc>
              <a:buNone/>
            </a:pPr>
            <a:r>
              <a:rPr lang="en-US" sz="1550" dirty="0">
                <a:solidFill>
                  <a:srgbClr val="C9C9C0"/>
                </a:solidFill>
                <a:latin typeface="Tomorrow" pitchFamily="34" charset="0"/>
                <a:ea typeface="Tomorrow" pitchFamily="34" charset="-122"/>
                <a:cs typeface="Tomorrow" pitchFamily="34" charset="-120"/>
              </a:rPr>
              <a:t>Manual record-keeping and spreadsheets — no integrated digital management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6ecc11ae20ee4e5c"/>
          <a:stretch>
            <a:fillRect/>
          </a:stretch>
        </p:blipFill>
        <p:spPr>
          <a:xfrm>
            <a:off x="9144000" y="0"/>
            <a:ext cx="5486400" cy="8229600"/>
          </a:xfrm>
          <a:prstGeom prst="rect">
            <a:avLst/>
          </a:prstGeom>
        </p:spPr>
      </p:pic>
      <p:sp>
        <p:nvSpPr>
          <p:cNvPr id="3" name="Text 0"/>
          <p:cNvSpPr/>
          <p:nvPr/>
        </p:nvSpPr>
        <p:spPr>
          <a:xfrm>
            <a:off x="545783" y="549116"/>
            <a:ext cx="3898583" cy="487204"/>
          </a:xfrm>
          <a:prstGeom prst="rect">
            <a:avLst/>
          </a:prstGeom>
          <a:noFill/>
          <a:ln/>
        </p:spPr>
        <p:txBody>
          <a:bodyPr wrap="none" lIns="0" tIns="0" rIns="0" bIns="0" rtlCol="0" anchor="t"/>
          <a:lstStyle/>
          <a:p>
            <a:pPr algn="l" indent="0" marL="0">
              <a:lnSpc>
                <a:spcPts val="3800"/>
              </a:lnSpc>
              <a:buNone/>
            </a:pPr>
            <a:r>
              <a:rPr lang="en-US" sz="3050" dirty="0">
                <a:solidFill>
                  <a:srgbClr val="EDEDE8"/>
                </a:solidFill>
                <a:latin typeface="Tomorrow Semi Bold" pitchFamily="34" charset="0"/>
                <a:ea typeface="Tomorrow Semi Bold" pitchFamily="34" charset="-122"/>
                <a:cs typeface="Tomorrow Semi Bold" pitchFamily="34" charset="-120"/>
              </a:rPr>
              <a:t>Problem Statement</a:t>
            </a:r>
            <a:endParaRPr lang="en-US" sz="3050" dirty="0"/>
          </a:p>
        </p:txBody>
      </p:sp>
      <p:sp>
        <p:nvSpPr>
          <p:cNvPr id="4" name="Text 1"/>
          <p:cNvSpPr/>
          <p:nvPr/>
        </p:nvSpPr>
        <p:spPr>
          <a:xfrm>
            <a:off x="545783" y="1197054"/>
            <a:ext cx="8052435" cy="421005"/>
          </a:xfrm>
          <a:prstGeom prst="rect">
            <a:avLst/>
          </a:prstGeom>
          <a:noFill/>
          <a:ln/>
        </p:spPr>
        <p:txBody>
          <a:bodyPr wrap="square" lIns="0" tIns="0" rIns="0" bIns="0" rtlCol="0" anchor="t"/>
          <a:lstStyle/>
          <a:p>
            <a:pPr algn="l" indent="0" marL="0">
              <a:lnSpc>
                <a:spcPts val="1650"/>
              </a:lnSpc>
              <a:buNone/>
            </a:pPr>
            <a:r>
              <a:rPr lang="en-US" sz="1200" dirty="0">
                <a:solidFill>
                  <a:srgbClr val="C9C9C0"/>
                </a:solidFill>
                <a:latin typeface="Tomorrow" pitchFamily="34" charset="0"/>
                <a:ea typeface="Tomorrow" pitchFamily="34" charset="-122"/>
                <a:cs typeface="Tomorrow" pitchFamily="34" charset="-120"/>
              </a:rPr>
              <a:t>Addis Grand Hotel faces significant operational challenges due to its reliance on manual processes and spreadsheets, resulting in inefficiencies that directly impact guest satisfaction and revenue.</a:t>
            </a:r>
            <a:endParaRPr lang="en-US" sz="1200" dirty="0"/>
          </a:p>
        </p:txBody>
      </p:sp>
      <p:sp>
        <p:nvSpPr>
          <p:cNvPr id="5" name="Shape 2"/>
          <p:cNvSpPr/>
          <p:nvPr/>
        </p:nvSpPr>
        <p:spPr>
          <a:xfrm>
            <a:off x="545783" y="1738670"/>
            <a:ext cx="8052435" cy="1405057"/>
          </a:xfrm>
          <a:prstGeom prst="roundRect">
            <a:avLst>
              <a:gd name="adj" fmla="val 1665"/>
            </a:avLst>
          </a:prstGeom>
          <a:solidFill>
            <a:srgbClr val="3C3C3A"/>
          </a:solidFill>
          <a:ln/>
        </p:spPr>
      </p:sp>
      <p:sp>
        <p:nvSpPr>
          <p:cNvPr id="6" name="Shape 3"/>
          <p:cNvSpPr/>
          <p:nvPr/>
        </p:nvSpPr>
        <p:spPr>
          <a:xfrm>
            <a:off x="701635" y="1894523"/>
            <a:ext cx="467797" cy="467797"/>
          </a:xfrm>
          <a:prstGeom prst="roundRect">
            <a:avLst>
              <a:gd name="adj" fmla="val 19544986"/>
            </a:avLst>
          </a:prstGeom>
          <a:solidFill>
            <a:srgbClr val="E1E1DF"/>
          </a:solidFill>
          <a:ln/>
        </p:spPr>
      </p:sp>
      <p:pic>
        <p:nvPicPr>
          <p:cNvPr id="7" name="Image 1" descr="preencoded.png">    </p:cNvPr>
          <p:cNvPicPr>
            <a:picLocks noChangeAspect="1"/>
          </p:cNvPicPr>
          <p:nvPr/>
        </p:nvPicPr>
        <p:blipFill>
          <a:blip r:embed="Rcfb3c29f89f343a1">
            <a:extLst>
              <a:ext uri="{96DAC541-7B7A-43D3-8B79-37D633B846F1}">
                <asvg:svgBlip xmlns:asvg="http://schemas.microsoft.com/office/drawing/2016/SVG/main" r:embed="Rc63bc11641174e1e"/>
              </a:ext>
            </a:extLst>
          </a:blip>
          <a:stretch>
            <a:fillRect/>
          </a:stretch>
        </p:blipFill>
        <p:spPr>
          <a:xfrm>
            <a:off x="830223" y="2023110"/>
            <a:ext cx="210503" cy="210502"/>
          </a:xfrm>
          <a:prstGeom prst="rect">
            <a:avLst/>
          </a:prstGeom>
        </p:spPr>
      </p:pic>
      <p:sp>
        <p:nvSpPr>
          <p:cNvPr id="8" name="Text 4"/>
          <p:cNvSpPr/>
          <p:nvPr/>
        </p:nvSpPr>
        <p:spPr>
          <a:xfrm>
            <a:off x="701635" y="2469475"/>
            <a:ext cx="1949291" cy="243602"/>
          </a:xfrm>
          <a:prstGeom prst="rect">
            <a:avLst/>
          </a:prstGeom>
          <a:noFill/>
          <a:ln/>
        </p:spPr>
        <p:txBody>
          <a:bodyPr wrap="none" lIns="0" tIns="0" rIns="0" bIns="0" rtlCol="0" anchor="t"/>
          <a:lstStyle/>
          <a:p>
            <a:pPr algn="l" indent="0" marL="0">
              <a:lnSpc>
                <a:spcPts val="1900"/>
              </a:lnSpc>
              <a:buNone/>
            </a:pPr>
            <a:r>
              <a:rPr lang="en-US" sz="1500" dirty="0">
                <a:solidFill>
                  <a:srgbClr val="C9C9C0"/>
                </a:solidFill>
                <a:latin typeface="Tomorrow Semi Bold" pitchFamily="34" charset="0"/>
                <a:ea typeface="Tomorrow Semi Bold" pitchFamily="34" charset="-122"/>
                <a:cs typeface="Tomorrow Semi Bold" pitchFamily="34" charset="-120"/>
              </a:rPr>
              <a:t>Double Bookings</a:t>
            </a:r>
            <a:endParaRPr lang="en-US" sz="1500" dirty="0"/>
          </a:p>
        </p:txBody>
      </p:sp>
      <p:sp>
        <p:nvSpPr>
          <p:cNvPr id="9" name="Text 5"/>
          <p:cNvSpPr/>
          <p:nvPr/>
        </p:nvSpPr>
        <p:spPr>
          <a:xfrm>
            <a:off x="701635" y="2777371"/>
            <a:ext cx="7740729" cy="210502"/>
          </a:xfrm>
          <a:prstGeom prst="rect">
            <a:avLst/>
          </a:prstGeom>
          <a:noFill/>
          <a:ln/>
        </p:spPr>
        <p:txBody>
          <a:bodyPr wrap="none" lIns="0" tIns="0" rIns="0" bIns="0" rtlCol="0" anchor="t"/>
          <a:lstStyle/>
          <a:p>
            <a:pPr algn="l" indent="0" marL="0">
              <a:lnSpc>
                <a:spcPts val="1650"/>
              </a:lnSpc>
              <a:buNone/>
            </a:pPr>
            <a:r>
              <a:rPr lang="en-US" sz="1200" dirty="0">
                <a:solidFill>
                  <a:srgbClr val="C9C9C0"/>
                </a:solidFill>
                <a:latin typeface="Tomorrow" pitchFamily="34" charset="0"/>
                <a:ea typeface="Tomorrow" pitchFamily="34" charset="-122"/>
                <a:cs typeface="Tomorrow" pitchFamily="34" charset="-120"/>
              </a:rPr>
              <a:t>Frequent booking conflicts due to lack of real-time availability tracking</a:t>
            </a:r>
            <a:endParaRPr lang="en-US" sz="1200" dirty="0"/>
          </a:p>
        </p:txBody>
      </p:sp>
      <p:sp>
        <p:nvSpPr>
          <p:cNvPr id="10" name="Shape 6"/>
          <p:cNvSpPr/>
          <p:nvPr/>
        </p:nvSpPr>
        <p:spPr>
          <a:xfrm>
            <a:off x="545783" y="3250883"/>
            <a:ext cx="8052435" cy="1405057"/>
          </a:xfrm>
          <a:prstGeom prst="roundRect">
            <a:avLst>
              <a:gd name="adj" fmla="val 1665"/>
            </a:avLst>
          </a:prstGeom>
          <a:solidFill>
            <a:srgbClr val="3C3C3A"/>
          </a:solidFill>
          <a:ln/>
        </p:spPr>
      </p:sp>
      <p:sp>
        <p:nvSpPr>
          <p:cNvPr id="11" name="Shape 7"/>
          <p:cNvSpPr/>
          <p:nvPr/>
        </p:nvSpPr>
        <p:spPr>
          <a:xfrm>
            <a:off x="701635" y="3406735"/>
            <a:ext cx="467797" cy="467797"/>
          </a:xfrm>
          <a:prstGeom prst="roundRect">
            <a:avLst>
              <a:gd name="adj" fmla="val 19544986"/>
            </a:avLst>
          </a:prstGeom>
          <a:solidFill>
            <a:srgbClr val="E1E1DF"/>
          </a:solidFill>
          <a:ln/>
        </p:spPr>
      </p:sp>
      <p:pic>
        <p:nvPicPr>
          <p:cNvPr id="12" name="Image 2" descr="preencoded.png">    </p:cNvPr>
          <p:cNvPicPr>
            <a:picLocks noChangeAspect="1"/>
          </p:cNvPicPr>
          <p:nvPr/>
        </p:nvPicPr>
        <p:blipFill>
          <a:blip r:embed="Rcfb3c29f89f343a1">
            <a:extLst>
              <a:ext uri="{96DAC541-7B7A-43D3-8B79-37D633B846F1}">
                <asvg:svgBlip xmlns:asvg="http://schemas.microsoft.com/office/drawing/2016/SVG/main" r:embed="Ra4a9c33257604959"/>
              </a:ext>
            </a:extLst>
          </a:blip>
          <a:stretch>
            <a:fillRect/>
          </a:stretch>
        </p:blipFill>
        <p:spPr>
          <a:xfrm>
            <a:off x="830223" y="3535323"/>
            <a:ext cx="210503" cy="210502"/>
          </a:xfrm>
          <a:prstGeom prst="rect">
            <a:avLst/>
          </a:prstGeom>
        </p:spPr>
      </p:pic>
      <p:sp>
        <p:nvSpPr>
          <p:cNvPr id="13" name="Text 8"/>
          <p:cNvSpPr/>
          <p:nvPr/>
        </p:nvSpPr>
        <p:spPr>
          <a:xfrm>
            <a:off x="701635" y="3981688"/>
            <a:ext cx="1949291" cy="243602"/>
          </a:xfrm>
          <a:prstGeom prst="rect">
            <a:avLst/>
          </a:prstGeom>
          <a:noFill/>
          <a:ln/>
        </p:spPr>
        <p:txBody>
          <a:bodyPr wrap="none" lIns="0" tIns="0" rIns="0" bIns="0" rtlCol="0" anchor="t"/>
          <a:lstStyle/>
          <a:p>
            <a:pPr algn="l" indent="0" marL="0">
              <a:lnSpc>
                <a:spcPts val="1900"/>
              </a:lnSpc>
              <a:buNone/>
            </a:pPr>
            <a:r>
              <a:rPr lang="en-US" sz="1500" dirty="0">
                <a:solidFill>
                  <a:srgbClr val="C9C9C0"/>
                </a:solidFill>
                <a:latin typeface="Tomorrow Semi Bold" pitchFamily="34" charset="0"/>
                <a:ea typeface="Tomorrow Semi Bold" pitchFamily="34" charset="-122"/>
                <a:cs typeface="Tomorrow Semi Bold" pitchFamily="34" charset="-120"/>
              </a:rPr>
              <a:t>Billing Errors</a:t>
            </a:r>
            <a:endParaRPr lang="en-US" sz="1500" dirty="0"/>
          </a:p>
        </p:txBody>
      </p:sp>
      <p:sp>
        <p:nvSpPr>
          <p:cNvPr id="14" name="Text 9"/>
          <p:cNvSpPr/>
          <p:nvPr/>
        </p:nvSpPr>
        <p:spPr>
          <a:xfrm>
            <a:off x="701635" y="4289584"/>
            <a:ext cx="7740729" cy="210502"/>
          </a:xfrm>
          <a:prstGeom prst="rect">
            <a:avLst/>
          </a:prstGeom>
          <a:noFill/>
          <a:ln/>
        </p:spPr>
        <p:txBody>
          <a:bodyPr wrap="none" lIns="0" tIns="0" rIns="0" bIns="0" rtlCol="0" anchor="t"/>
          <a:lstStyle/>
          <a:p>
            <a:pPr algn="l" indent="0" marL="0">
              <a:lnSpc>
                <a:spcPts val="1650"/>
              </a:lnSpc>
              <a:buNone/>
            </a:pPr>
            <a:r>
              <a:rPr lang="en-US" sz="1200" dirty="0">
                <a:solidFill>
                  <a:srgbClr val="C9C9C0"/>
                </a:solidFill>
                <a:latin typeface="Tomorrow" pitchFamily="34" charset="0"/>
                <a:ea typeface="Tomorrow" pitchFamily="34" charset="-122"/>
                <a:cs typeface="Tomorrow" pitchFamily="34" charset="-120"/>
              </a:rPr>
              <a:t>Manual errors in billing and payments causing financial discrepancies</a:t>
            </a:r>
            <a:endParaRPr lang="en-US" sz="1200" dirty="0"/>
          </a:p>
        </p:txBody>
      </p:sp>
      <p:sp>
        <p:nvSpPr>
          <p:cNvPr id="15" name="Shape 10"/>
          <p:cNvSpPr/>
          <p:nvPr/>
        </p:nvSpPr>
        <p:spPr>
          <a:xfrm>
            <a:off x="545783" y="4763095"/>
            <a:ext cx="8052435" cy="1405057"/>
          </a:xfrm>
          <a:prstGeom prst="roundRect">
            <a:avLst>
              <a:gd name="adj" fmla="val 1665"/>
            </a:avLst>
          </a:prstGeom>
          <a:solidFill>
            <a:srgbClr val="3C3C3A"/>
          </a:solidFill>
          <a:ln/>
        </p:spPr>
      </p:sp>
      <p:sp>
        <p:nvSpPr>
          <p:cNvPr id="16" name="Shape 11"/>
          <p:cNvSpPr/>
          <p:nvPr/>
        </p:nvSpPr>
        <p:spPr>
          <a:xfrm>
            <a:off x="701635" y="4918948"/>
            <a:ext cx="467797" cy="467797"/>
          </a:xfrm>
          <a:prstGeom prst="roundRect">
            <a:avLst>
              <a:gd name="adj" fmla="val 19544986"/>
            </a:avLst>
          </a:prstGeom>
          <a:solidFill>
            <a:srgbClr val="E1E1DF"/>
          </a:solidFill>
          <a:ln/>
        </p:spPr>
      </p:sp>
      <p:pic>
        <p:nvPicPr>
          <p:cNvPr id="17" name="Image 3" descr="preencoded.png">    </p:cNvPr>
          <p:cNvPicPr>
            <a:picLocks noChangeAspect="1"/>
          </p:cNvPicPr>
          <p:nvPr/>
        </p:nvPicPr>
        <p:blipFill>
          <a:blip r:embed="Rcfb3c29f89f343a1">
            <a:extLst>
              <a:ext uri="{96DAC541-7B7A-43D3-8B79-37D633B846F1}">
                <asvg:svgBlip xmlns:asvg="http://schemas.microsoft.com/office/drawing/2016/SVG/main" r:embed="Rf1efde2e9661406f"/>
              </a:ext>
            </a:extLst>
          </a:blip>
          <a:stretch>
            <a:fillRect/>
          </a:stretch>
        </p:blipFill>
        <p:spPr>
          <a:xfrm>
            <a:off x="830223" y="5047536"/>
            <a:ext cx="210503" cy="210502"/>
          </a:xfrm>
          <a:prstGeom prst="rect">
            <a:avLst/>
          </a:prstGeom>
        </p:spPr>
      </p:pic>
      <p:sp>
        <p:nvSpPr>
          <p:cNvPr id="18" name="Text 12"/>
          <p:cNvSpPr/>
          <p:nvPr/>
        </p:nvSpPr>
        <p:spPr>
          <a:xfrm>
            <a:off x="701635" y="5493901"/>
            <a:ext cx="1949291" cy="243602"/>
          </a:xfrm>
          <a:prstGeom prst="rect">
            <a:avLst/>
          </a:prstGeom>
          <a:noFill/>
          <a:ln/>
        </p:spPr>
        <p:txBody>
          <a:bodyPr wrap="none" lIns="0" tIns="0" rIns="0" bIns="0" rtlCol="0" anchor="t"/>
          <a:lstStyle/>
          <a:p>
            <a:pPr algn="l" indent="0" marL="0">
              <a:lnSpc>
                <a:spcPts val="1900"/>
              </a:lnSpc>
              <a:buNone/>
            </a:pPr>
            <a:r>
              <a:rPr lang="en-US" sz="1500" dirty="0">
                <a:solidFill>
                  <a:srgbClr val="C9C9C0"/>
                </a:solidFill>
                <a:latin typeface="Tomorrow Semi Bold" pitchFamily="34" charset="0"/>
                <a:ea typeface="Tomorrow Semi Bold" pitchFamily="34" charset="-122"/>
                <a:cs typeface="Tomorrow Semi Bold" pitchFamily="34" charset="-120"/>
              </a:rPr>
              <a:t>Lost Records</a:t>
            </a:r>
            <a:endParaRPr lang="en-US" sz="1500" dirty="0"/>
          </a:p>
        </p:txBody>
      </p:sp>
      <p:sp>
        <p:nvSpPr>
          <p:cNvPr id="19" name="Text 13"/>
          <p:cNvSpPr/>
          <p:nvPr/>
        </p:nvSpPr>
        <p:spPr>
          <a:xfrm>
            <a:off x="701635" y="5801797"/>
            <a:ext cx="7740729" cy="210502"/>
          </a:xfrm>
          <a:prstGeom prst="rect">
            <a:avLst/>
          </a:prstGeom>
          <a:noFill/>
          <a:ln/>
        </p:spPr>
        <p:txBody>
          <a:bodyPr wrap="none" lIns="0" tIns="0" rIns="0" bIns="0" rtlCol="0" anchor="t"/>
          <a:lstStyle/>
          <a:p>
            <a:pPr algn="l" indent="0" marL="0">
              <a:lnSpc>
                <a:spcPts val="1650"/>
              </a:lnSpc>
              <a:buNone/>
            </a:pPr>
            <a:r>
              <a:rPr lang="en-US" sz="1200" dirty="0">
                <a:solidFill>
                  <a:srgbClr val="C9C9C0"/>
                </a:solidFill>
                <a:latin typeface="Tomorrow" pitchFamily="34" charset="0"/>
                <a:ea typeface="Tomorrow" pitchFamily="34" charset="-122"/>
                <a:cs typeface="Tomorrow" pitchFamily="34" charset="-120"/>
              </a:rPr>
              <a:t>Guest records are frequently lost or misplaced without a centralised system</a:t>
            </a:r>
            <a:endParaRPr lang="en-US" sz="1200" dirty="0"/>
          </a:p>
        </p:txBody>
      </p:sp>
      <p:sp>
        <p:nvSpPr>
          <p:cNvPr id="20" name="Shape 14"/>
          <p:cNvSpPr/>
          <p:nvPr/>
        </p:nvSpPr>
        <p:spPr>
          <a:xfrm>
            <a:off x="545783" y="6275308"/>
            <a:ext cx="8052435" cy="1405057"/>
          </a:xfrm>
          <a:prstGeom prst="roundRect">
            <a:avLst>
              <a:gd name="adj" fmla="val 1665"/>
            </a:avLst>
          </a:prstGeom>
          <a:solidFill>
            <a:srgbClr val="3C3C3A"/>
          </a:solidFill>
          <a:ln/>
        </p:spPr>
      </p:sp>
      <p:sp>
        <p:nvSpPr>
          <p:cNvPr id="21" name="Shape 15"/>
          <p:cNvSpPr/>
          <p:nvPr/>
        </p:nvSpPr>
        <p:spPr>
          <a:xfrm>
            <a:off x="701635" y="6431161"/>
            <a:ext cx="467797" cy="467797"/>
          </a:xfrm>
          <a:prstGeom prst="roundRect">
            <a:avLst>
              <a:gd name="adj" fmla="val 19544986"/>
            </a:avLst>
          </a:prstGeom>
          <a:solidFill>
            <a:srgbClr val="E1E1DF"/>
          </a:solidFill>
          <a:ln/>
        </p:spPr>
      </p:sp>
      <p:pic>
        <p:nvPicPr>
          <p:cNvPr id="22" name="Image 4" descr="preencoded.png">    </p:cNvPr>
          <p:cNvPicPr>
            <a:picLocks noChangeAspect="1"/>
          </p:cNvPicPr>
          <p:nvPr/>
        </p:nvPicPr>
        <p:blipFill>
          <a:blip r:embed="Rcfb3c29f89f343a1">
            <a:extLst>
              <a:ext uri="{96DAC541-7B7A-43D3-8B79-37D633B846F1}">
                <asvg:svgBlip xmlns:asvg="http://schemas.microsoft.com/office/drawing/2016/SVG/main" r:embed="R1f854c5a55aa4f40"/>
              </a:ext>
            </a:extLst>
          </a:blip>
          <a:stretch>
            <a:fillRect/>
          </a:stretch>
        </p:blipFill>
        <p:spPr>
          <a:xfrm>
            <a:off x="830223" y="6559748"/>
            <a:ext cx="210503" cy="210502"/>
          </a:xfrm>
          <a:prstGeom prst="rect">
            <a:avLst/>
          </a:prstGeom>
        </p:spPr>
      </p:pic>
      <p:sp>
        <p:nvSpPr>
          <p:cNvPr id="23" name="Text 16"/>
          <p:cNvSpPr/>
          <p:nvPr/>
        </p:nvSpPr>
        <p:spPr>
          <a:xfrm>
            <a:off x="701635" y="7006114"/>
            <a:ext cx="1949291" cy="243602"/>
          </a:xfrm>
          <a:prstGeom prst="rect">
            <a:avLst/>
          </a:prstGeom>
          <a:noFill/>
          <a:ln/>
        </p:spPr>
        <p:txBody>
          <a:bodyPr wrap="none" lIns="0" tIns="0" rIns="0" bIns="0" rtlCol="0" anchor="t"/>
          <a:lstStyle/>
          <a:p>
            <a:pPr algn="l" indent="0" marL="0">
              <a:lnSpc>
                <a:spcPts val="1900"/>
              </a:lnSpc>
              <a:buNone/>
            </a:pPr>
            <a:r>
              <a:rPr lang="en-US" sz="1500" dirty="0">
                <a:solidFill>
                  <a:srgbClr val="C9C9C0"/>
                </a:solidFill>
                <a:latin typeface="Tomorrow Semi Bold" pitchFamily="34" charset="0"/>
                <a:ea typeface="Tomorrow Semi Bold" pitchFamily="34" charset="-122"/>
                <a:cs typeface="Tomorrow Semi Bold" pitchFamily="34" charset="-120"/>
              </a:rPr>
              <a:t>Poor Satisfaction</a:t>
            </a:r>
            <a:endParaRPr lang="en-US" sz="1500" dirty="0"/>
          </a:p>
        </p:txBody>
      </p:sp>
      <p:sp>
        <p:nvSpPr>
          <p:cNvPr id="24" name="Text 17"/>
          <p:cNvSpPr/>
          <p:nvPr/>
        </p:nvSpPr>
        <p:spPr>
          <a:xfrm>
            <a:off x="701635" y="7314009"/>
            <a:ext cx="7740729" cy="210502"/>
          </a:xfrm>
          <a:prstGeom prst="rect">
            <a:avLst/>
          </a:prstGeom>
          <a:noFill/>
          <a:ln/>
        </p:spPr>
        <p:txBody>
          <a:bodyPr wrap="none" lIns="0" tIns="0" rIns="0" bIns="0" rtlCol="0" anchor="t"/>
          <a:lstStyle/>
          <a:p>
            <a:pPr algn="l" indent="0" marL="0">
              <a:lnSpc>
                <a:spcPts val="1650"/>
              </a:lnSpc>
              <a:buNone/>
            </a:pPr>
            <a:r>
              <a:rPr lang="en-US" sz="1200" dirty="0">
                <a:solidFill>
                  <a:srgbClr val="C9C9C0"/>
                </a:solidFill>
                <a:latin typeface="Tomorrow" pitchFamily="34" charset="0"/>
                <a:ea typeface="Tomorrow" pitchFamily="34" charset="-122"/>
                <a:cs typeface="Tomorrow" pitchFamily="34" charset="-120"/>
              </a:rPr>
              <a:t>Inefficient handling of guest feedback and room service orders leads to dissatisfaction and revenue loss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6642" y="605671"/>
            <a:ext cx="5404842" cy="675680"/>
          </a:xfrm>
          <a:prstGeom prst="rect">
            <a:avLst/>
          </a:prstGeom>
          <a:noFill/>
          <a:ln/>
        </p:spPr>
        <p:txBody>
          <a:bodyPr wrap="none" lIns="0" tIns="0" rIns="0" bIns="0" rtlCol="0" anchor="t"/>
          <a:lstStyle/>
          <a:p>
            <a:pPr algn="l" indent="0" marL="0">
              <a:lnSpc>
                <a:spcPts val="5300"/>
              </a:lnSpc>
              <a:buNone/>
            </a:pPr>
            <a:r>
              <a:rPr lang="en-US" sz="4250" dirty="0">
                <a:solidFill>
                  <a:srgbClr val="EDEDE8"/>
                </a:solidFill>
                <a:latin typeface="Tomorrow Semi Bold" pitchFamily="34" charset="0"/>
                <a:ea typeface="Tomorrow Semi Bold" pitchFamily="34" charset="-122"/>
                <a:cs typeface="Tomorrow Semi Bold" pitchFamily="34" charset="-120"/>
              </a:rPr>
              <a:t>Objectives</a:t>
            </a:r>
            <a:endParaRPr lang="en-US" sz="4250" dirty="0"/>
          </a:p>
        </p:txBody>
      </p:sp>
      <p:sp>
        <p:nvSpPr>
          <p:cNvPr id="3" name="Shape 1"/>
          <p:cNvSpPr/>
          <p:nvPr/>
        </p:nvSpPr>
        <p:spPr>
          <a:xfrm>
            <a:off x="600908" y="1590437"/>
            <a:ext cx="6606302" cy="6033492"/>
          </a:xfrm>
          <a:prstGeom prst="roundRect">
            <a:avLst>
              <a:gd name="adj" fmla="val 537"/>
            </a:avLst>
          </a:prstGeom>
          <a:solidFill>
            <a:srgbClr val="1F1F1E"/>
          </a:solidFill>
          <a:ln/>
        </p:spPr>
      </p:sp>
      <p:sp>
        <p:nvSpPr>
          <p:cNvPr id="4" name="Text 2"/>
          <p:cNvSpPr/>
          <p:nvPr/>
        </p:nvSpPr>
        <p:spPr>
          <a:xfrm>
            <a:off x="817007" y="1796415"/>
            <a:ext cx="2702362" cy="337780"/>
          </a:xfrm>
          <a:prstGeom prst="rect">
            <a:avLst/>
          </a:prstGeom>
          <a:noFill/>
          <a:ln/>
        </p:spPr>
        <p:txBody>
          <a:bodyPr wrap="none" lIns="0" tIns="0" rIns="0" bIns="0" rtlCol="0" anchor="t"/>
          <a:lstStyle/>
          <a:p>
            <a:pPr algn="l" indent="0" marL="0">
              <a:lnSpc>
                <a:spcPts val="2650"/>
              </a:lnSpc>
              <a:buNone/>
            </a:pPr>
            <a:r>
              <a:rPr lang="en-US" sz="2100" dirty="0">
                <a:solidFill>
                  <a:srgbClr val="EDEDE8"/>
                </a:solidFill>
                <a:latin typeface="Tomorrow Semi Bold" pitchFamily="34" charset="0"/>
                <a:ea typeface="Tomorrow Semi Bold" pitchFamily="34" charset="-122"/>
                <a:cs typeface="Tomorrow Semi Bold" pitchFamily="34" charset="-120"/>
              </a:rPr>
              <a:t>General Objective</a:t>
            </a:r>
            <a:endParaRPr lang="en-US" sz="2100" dirty="0"/>
          </a:p>
        </p:txBody>
      </p:sp>
      <p:sp>
        <p:nvSpPr>
          <p:cNvPr id="5" name="Text 3"/>
          <p:cNvSpPr/>
          <p:nvPr/>
        </p:nvSpPr>
        <p:spPr>
          <a:xfrm>
            <a:off x="817007" y="2340173"/>
            <a:ext cx="6174105" cy="1013341"/>
          </a:xfrm>
          <a:prstGeom prst="rect">
            <a:avLst/>
          </a:prstGeom>
          <a:noFill/>
          <a:ln/>
        </p:spPr>
        <p:txBody>
          <a:bodyPr wrap="squar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To design and implement a hybrid database system using MySQL and MongoDB for efficient hotel management at Addis Grand Hotel.</a:t>
            </a:r>
            <a:endParaRPr lang="en-US" sz="1700" dirty="0"/>
          </a:p>
        </p:txBody>
      </p:sp>
      <p:sp>
        <p:nvSpPr>
          <p:cNvPr id="6" name="Text 4"/>
          <p:cNvSpPr/>
          <p:nvPr/>
        </p:nvSpPr>
        <p:spPr>
          <a:xfrm>
            <a:off x="7586543" y="1796415"/>
            <a:ext cx="2702362" cy="337780"/>
          </a:xfrm>
          <a:prstGeom prst="rect">
            <a:avLst/>
          </a:prstGeom>
          <a:noFill/>
          <a:ln/>
        </p:spPr>
        <p:txBody>
          <a:bodyPr wrap="none" lIns="0" tIns="0" rIns="0" bIns="0" rtlCol="0" anchor="t"/>
          <a:lstStyle/>
          <a:p>
            <a:pPr algn="l" indent="0" marL="0">
              <a:lnSpc>
                <a:spcPts val="2650"/>
              </a:lnSpc>
              <a:buNone/>
            </a:pPr>
            <a:r>
              <a:rPr lang="en-US" sz="2100" dirty="0">
                <a:solidFill>
                  <a:srgbClr val="EDEDE8"/>
                </a:solidFill>
                <a:latin typeface="Tomorrow Semi Bold" pitchFamily="34" charset="0"/>
                <a:ea typeface="Tomorrow Semi Bold" pitchFamily="34" charset="-122"/>
                <a:cs typeface="Tomorrow Semi Bold" pitchFamily="34" charset="-120"/>
              </a:rPr>
              <a:t>Specific Objectives</a:t>
            </a:r>
            <a:endParaRPr lang="en-US" sz="2100" dirty="0"/>
          </a:p>
        </p:txBody>
      </p:sp>
      <p:pic>
        <p:nvPicPr>
          <p:cNvPr id="7" name="Image 0" descr="preencoded.png">    </p:cNvPr>
          <p:cNvPicPr>
            <a:picLocks noChangeAspect="1"/>
          </p:cNvPicPr>
          <p:nvPr/>
        </p:nvPicPr>
        <p:blipFill>
          <a:blip r:embed="R0c987912e129483b">
            <a:extLst>
              <a:ext uri="{96DAC541-7B7A-43D3-8B79-37D633B846F1}">
                <asvg:svgBlip xmlns:asvg="http://schemas.microsoft.com/office/drawing/2016/SVG/main" r:embed="R06ed337242dc4fab"/>
              </a:ext>
            </a:extLst>
          </a:blip>
          <a:stretch>
            <a:fillRect/>
          </a:stretch>
        </p:blipFill>
        <p:spPr>
          <a:xfrm>
            <a:off x="7667625" y="2376666"/>
            <a:ext cx="324207" cy="324207"/>
          </a:xfrm>
          <a:prstGeom prst="rect">
            <a:avLst/>
          </a:prstGeom>
        </p:spPr>
      </p:pic>
      <p:sp>
        <p:nvSpPr>
          <p:cNvPr id="8" name="Text 5"/>
          <p:cNvSpPr/>
          <p:nvPr/>
        </p:nvSpPr>
        <p:spPr>
          <a:xfrm>
            <a:off x="8289012" y="2366010"/>
            <a:ext cx="5592366" cy="675561"/>
          </a:xfrm>
          <a:prstGeom prst="rect">
            <a:avLst/>
          </a:prstGeom>
          <a:noFill/>
          <a:ln/>
        </p:spPr>
        <p:txBody>
          <a:bodyPr wrap="squar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Design a normalised relational database in MySQL for structured hotel data</a:t>
            </a:r>
            <a:endParaRPr lang="en-US" sz="1700" dirty="0"/>
          </a:p>
        </p:txBody>
      </p:sp>
      <p:pic>
        <p:nvPicPr>
          <p:cNvPr id="9" name="Image 1" descr="preencoded.png">    </p:cNvPr>
          <p:cNvPicPr>
            <a:picLocks noChangeAspect="1"/>
          </p:cNvPicPr>
          <p:nvPr/>
        </p:nvPicPr>
        <p:blipFill>
          <a:blip r:embed="R0c987912e129483b">
            <a:extLst>
              <a:ext uri="{96DAC541-7B7A-43D3-8B79-37D633B846F1}">
                <asvg:svgBlip xmlns:asvg="http://schemas.microsoft.com/office/drawing/2016/SVG/main" r:embed="R06ed337242dc4fab"/>
              </a:ext>
            </a:extLst>
          </a:blip>
          <a:stretch>
            <a:fillRect/>
          </a:stretch>
        </p:blipFill>
        <p:spPr>
          <a:xfrm>
            <a:off x="7667625" y="3464302"/>
            <a:ext cx="324207" cy="324207"/>
          </a:xfrm>
          <a:prstGeom prst="rect">
            <a:avLst/>
          </a:prstGeom>
        </p:spPr>
      </p:pic>
      <p:sp>
        <p:nvSpPr>
          <p:cNvPr id="10" name="Text 6"/>
          <p:cNvSpPr/>
          <p:nvPr/>
        </p:nvSpPr>
        <p:spPr>
          <a:xfrm>
            <a:off x="8289012" y="3453646"/>
            <a:ext cx="5592366" cy="675561"/>
          </a:xfrm>
          <a:prstGeom prst="rect">
            <a:avLst/>
          </a:prstGeom>
          <a:noFill/>
          <a:ln/>
        </p:spPr>
        <p:txBody>
          <a:bodyPr wrap="squar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Use MongoDB for flexible, semi-structured data such as reviews and room service orders</a:t>
            </a:r>
            <a:endParaRPr lang="en-US" sz="1700" dirty="0"/>
          </a:p>
        </p:txBody>
      </p:sp>
      <p:pic>
        <p:nvPicPr>
          <p:cNvPr id="11" name="Image 2" descr="preencoded.png">    </p:cNvPr>
          <p:cNvPicPr>
            <a:picLocks noChangeAspect="1"/>
          </p:cNvPicPr>
          <p:nvPr/>
        </p:nvPicPr>
        <p:blipFill>
          <a:blip r:embed="R0c987912e129483b">
            <a:extLst>
              <a:ext uri="{96DAC541-7B7A-43D3-8B79-37D633B846F1}">
                <asvg:svgBlip xmlns:asvg="http://schemas.microsoft.com/office/drawing/2016/SVG/main" r:embed="R06ed337242dc4fab"/>
              </a:ext>
            </a:extLst>
          </a:blip>
          <a:stretch>
            <a:fillRect/>
          </a:stretch>
        </p:blipFill>
        <p:spPr>
          <a:xfrm>
            <a:off x="7667625" y="4551938"/>
            <a:ext cx="324207" cy="324207"/>
          </a:xfrm>
          <a:prstGeom prst="rect">
            <a:avLst/>
          </a:prstGeom>
        </p:spPr>
      </p:pic>
      <p:sp>
        <p:nvSpPr>
          <p:cNvPr id="12" name="Text 7"/>
          <p:cNvSpPr/>
          <p:nvPr/>
        </p:nvSpPr>
        <p:spPr>
          <a:xfrm>
            <a:off x="8289012" y="4541282"/>
            <a:ext cx="5592366" cy="675561"/>
          </a:xfrm>
          <a:prstGeom prst="rect">
            <a:avLst/>
          </a:prstGeom>
          <a:noFill/>
          <a:ln/>
        </p:spPr>
        <p:txBody>
          <a:bodyPr wrap="squar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Enable real-time room availability checking to prevent double bookings</a:t>
            </a:r>
            <a:endParaRPr lang="en-US" sz="1700" dirty="0"/>
          </a:p>
        </p:txBody>
      </p:sp>
      <p:pic>
        <p:nvPicPr>
          <p:cNvPr id="13" name="Image 3" descr="preencoded.png">    </p:cNvPr>
          <p:cNvPicPr>
            <a:picLocks noChangeAspect="1"/>
          </p:cNvPicPr>
          <p:nvPr/>
        </p:nvPicPr>
        <p:blipFill>
          <a:blip r:embed="R0c987912e129483b">
            <a:extLst>
              <a:ext uri="{96DAC541-7B7A-43D3-8B79-37D633B846F1}">
                <asvg:svgBlip xmlns:asvg="http://schemas.microsoft.com/office/drawing/2016/SVG/main" r:embed="R06ed337242dc4fab"/>
              </a:ext>
            </a:extLst>
          </a:blip>
          <a:stretch>
            <a:fillRect/>
          </a:stretch>
        </p:blipFill>
        <p:spPr>
          <a:xfrm>
            <a:off x="7667625" y="5639574"/>
            <a:ext cx="324207" cy="324207"/>
          </a:xfrm>
          <a:prstGeom prst="rect">
            <a:avLst/>
          </a:prstGeom>
        </p:spPr>
      </p:pic>
      <p:sp>
        <p:nvSpPr>
          <p:cNvPr id="14" name="Text 8"/>
          <p:cNvSpPr/>
          <p:nvPr/>
        </p:nvSpPr>
        <p:spPr>
          <a:xfrm>
            <a:off x="8289012" y="5628918"/>
            <a:ext cx="5592366" cy="675561"/>
          </a:xfrm>
          <a:prstGeom prst="rect">
            <a:avLst/>
          </a:prstGeom>
          <a:noFill/>
          <a:ln/>
        </p:spPr>
        <p:txBody>
          <a:bodyPr wrap="squar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Generate useful management reports for decision-making</a:t>
            </a:r>
            <a:endParaRPr lang="en-US" sz="1700" dirty="0"/>
          </a:p>
        </p:txBody>
      </p:sp>
      <p:pic>
        <p:nvPicPr>
          <p:cNvPr id="15" name="Image 4" descr="preencoded.png">    </p:cNvPr>
          <p:cNvPicPr>
            <a:picLocks noChangeAspect="1"/>
          </p:cNvPicPr>
          <p:nvPr/>
        </p:nvPicPr>
        <p:blipFill>
          <a:blip r:embed="R0c987912e129483b">
            <a:extLst>
              <a:ext uri="{96DAC541-7B7A-43D3-8B79-37D633B846F1}">
                <asvg:svgBlip xmlns:asvg="http://schemas.microsoft.com/office/drawing/2016/SVG/main" r:embed="R06ed337242dc4fab"/>
              </a:ext>
            </a:extLst>
          </a:blip>
          <a:stretch>
            <a:fillRect/>
          </a:stretch>
        </p:blipFill>
        <p:spPr>
          <a:xfrm>
            <a:off x="7667625" y="6727210"/>
            <a:ext cx="324207" cy="324207"/>
          </a:xfrm>
          <a:prstGeom prst="rect">
            <a:avLst/>
          </a:prstGeom>
        </p:spPr>
      </p:pic>
      <p:sp>
        <p:nvSpPr>
          <p:cNvPr id="16" name="Text 9"/>
          <p:cNvSpPr/>
          <p:nvPr/>
        </p:nvSpPr>
        <p:spPr>
          <a:xfrm>
            <a:off x="8289012" y="6716554"/>
            <a:ext cx="5592366" cy="675561"/>
          </a:xfrm>
          <a:prstGeom prst="rect">
            <a:avLst/>
          </a:prstGeom>
          <a:noFill/>
          <a:ln/>
        </p:spPr>
        <p:txBody>
          <a:bodyPr wrap="squar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Reduce manual errors and improve overall operational efficiency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791063" y="445413"/>
            <a:ext cx="3407926" cy="409694"/>
          </a:xfrm>
          <a:prstGeom prst="rect">
            <a:avLst/>
          </a:prstGeom>
          <a:noFill/>
          <a:ln/>
        </p:spPr>
        <p:txBody>
          <a:bodyPr wrap="none" lIns="0" tIns="0" rIns="0" bIns="0" rtlCol="0" anchor="t"/>
          <a:lstStyle/>
          <a:p>
            <a:pPr algn="l" indent="0" marL="0">
              <a:lnSpc>
                <a:spcPts val="3200"/>
              </a:lnSpc>
              <a:buNone/>
            </a:pPr>
            <a:r>
              <a:rPr lang="en-US" sz="2550" dirty="0">
                <a:solidFill>
                  <a:srgbClr val="EDEDE8"/>
                </a:solidFill>
                <a:latin typeface="Tomorrow Semi Bold" pitchFamily="34" charset="0"/>
                <a:ea typeface="Tomorrow Semi Bold" pitchFamily="34" charset="-122"/>
                <a:cs typeface="Tomorrow Semi Bold" pitchFamily="34" charset="-120"/>
              </a:rPr>
              <a:t>System Architecture</a:t>
            </a:r>
            <a:endParaRPr lang="en-US" sz="2550" dirty="0"/>
          </a:p>
        </p:txBody>
      </p:sp>
      <p:sp>
        <p:nvSpPr>
          <p:cNvPr id="3" name="Text 1"/>
          <p:cNvSpPr/>
          <p:nvPr/>
        </p:nvSpPr>
        <p:spPr>
          <a:xfrm>
            <a:off x="2791063" y="1006673"/>
            <a:ext cx="9048274" cy="330994"/>
          </a:xfrm>
          <a:prstGeom prst="rect">
            <a:avLst/>
          </a:prstGeom>
          <a:noFill/>
          <a:ln/>
        </p:spPr>
        <p:txBody>
          <a:bodyPr wrap="square" lIns="0" tIns="0" rIns="0" bIns="0" rtlCol="0" anchor="t"/>
          <a:lstStyle/>
          <a:p>
            <a:pPr algn="l" indent="0" marL="0">
              <a:lnSpc>
                <a:spcPts val="1300"/>
              </a:lnSpc>
              <a:buNone/>
            </a:pPr>
            <a:r>
              <a:rPr lang="en-US" sz="1000" dirty="0">
                <a:solidFill>
                  <a:srgbClr val="C9C9C0"/>
                </a:solidFill>
                <a:latin typeface="Tomorrow" pitchFamily="34" charset="0"/>
                <a:ea typeface="Tomorrow" pitchFamily="34" charset="-122"/>
                <a:cs typeface="Tomorrow" pitchFamily="34" charset="-120"/>
              </a:rPr>
              <a:t>The system adopts a hybrid database architecture, leveraging the strengths of both relational and NoSQL databases to handle different types of hotel data efficiently.</a:t>
            </a:r>
            <a:endParaRPr lang="en-US" sz="1000" dirty="0"/>
          </a:p>
        </p:txBody>
      </p:sp>
      <p:pic>
        <p:nvPicPr>
          <p:cNvPr id="4" name="Image 0" descr="preencoded.png">    </p:cNvPr>
          <p:cNvPicPr>
            <a:picLocks noChangeAspect="1"/>
          </p:cNvPicPr>
          <p:nvPr/>
        </p:nvPicPr>
        <p:blipFill>
          <a:blip r:embed="Rda81128e7b544c0f"/>
          <a:stretch>
            <a:fillRect/>
          </a:stretch>
        </p:blipFill>
        <p:spPr>
          <a:xfrm>
            <a:off x="4263985" y="1422916"/>
            <a:ext cx="6102429" cy="4586764"/>
          </a:xfrm>
          <a:prstGeom prst="rect">
            <a:avLst/>
          </a:prstGeom>
        </p:spPr>
      </p:pic>
      <p:sp>
        <p:nvSpPr>
          <p:cNvPr id="5" name="Text 2"/>
          <p:cNvSpPr/>
          <p:nvPr/>
        </p:nvSpPr>
        <p:spPr>
          <a:xfrm>
            <a:off x="6756276" y="3493492"/>
            <a:ext cx="1112897" cy="763420"/>
          </a:xfrm>
          <a:prstGeom prst="rect">
            <a:avLst/>
          </a:prstGeom>
          <a:noFill/>
          <a:ln/>
        </p:spPr>
        <p:txBody>
          <a:bodyPr wrap="square" lIns="0" tIns="0" rIns="0" bIns="0" rtlCol="0" anchor="t"/>
          <a:lstStyle/>
          <a:p>
            <a:pPr algn="ctr" indent="0" marL="0">
              <a:lnSpc>
                <a:spcPts val="2000"/>
              </a:lnSpc>
              <a:buNone/>
            </a:pPr>
            <a:r>
              <a:rPr lang="en-US" sz="1600" dirty="0">
                <a:solidFill>
                  <a:srgbClr val="000000"/>
                </a:solidFill>
                <a:latin typeface="Tomorrow Semi Bold" pitchFamily="34" charset="0"/>
                <a:ea typeface="Tomorrow Semi Bold" pitchFamily="34" charset="-122"/>
                <a:cs typeface="Tomorrow Semi Bold" pitchFamily="34" charset="-120"/>
              </a:rPr>
              <a:t>Hybrid Architecture</a:t>
            </a:r>
            <a:endParaRPr lang="en-US" sz="1600" dirty="0"/>
          </a:p>
        </p:txBody>
      </p:sp>
      <p:sp>
        <p:nvSpPr>
          <p:cNvPr id="6" name="Text 3"/>
          <p:cNvSpPr/>
          <p:nvPr/>
        </p:nvSpPr>
        <p:spPr>
          <a:xfrm>
            <a:off x="8421097" y="4760063"/>
            <a:ext cx="1655632" cy="254473"/>
          </a:xfrm>
          <a:prstGeom prst="rect">
            <a:avLst/>
          </a:prstGeom>
          <a:noFill/>
          <a:ln/>
        </p:spPr>
        <p:txBody>
          <a:bodyPr wrap="none" lIns="0" tIns="0" rIns="0" bIns="0" rtlCol="0" anchor="t"/>
          <a:lstStyle/>
          <a:p>
            <a:pPr algn="ctr"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MongoDB</a:t>
            </a:r>
            <a:endParaRPr lang="en-US" sz="1600" dirty="0"/>
          </a:p>
        </p:txBody>
      </p:sp>
      <p:sp>
        <p:nvSpPr>
          <p:cNvPr id="7" name="Text 4"/>
          <p:cNvSpPr/>
          <p:nvPr/>
        </p:nvSpPr>
        <p:spPr>
          <a:xfrm>
            <a:off x="8421097" y="5086920"/>
            <a:ext cx="1655632" cy="481803"/>
          </a:xfrm>
          <a:prstGeom prst="rect">
            <a:avLst/>
          </a:prstGeom>
          <a:noFill/>
          <a:ln/>
        </p:spPr>
        <p:txBody>
          <a:bodyPr wrap="square" lIns="0" tIns="0" rIns="0" bIns="0" rtlCol="0" anchor="t"/>
          <a:lstStyle/>
          <a:p>
            <a:pPr algn="ctr" indent="0" marL="0">
              <a:lnSpc>
                <a:spcPts val="1250"/>
              </a:lnSpc>
              <a:buNone/>
            </a:pPr>
            <a:r>
              <a:rPr lang="en-US" sz="1250" dirty="0">
                <a:solidFill>
                  <a:srgbClr val="C9C9C0"/>
                </a:solidFill>
                <a:latin typeface="Tomorrow" pitchFamily="34" charset="0"/>
                <a:ea typeface="Tomorrow" pitchFamily="34" charset="-122"/>
                <a:cs typeface="Tomorrow" pitchFamily="34" charset="-120"/>
              </a:rPr>
              <a:t>Semi-structured data: Reviews, Room Service Orders</a:t>
            </a:r>
            <a:endParaRPr lang="en-US" sz="1250" dirty="0"/>
          </a:p>
        </p:txBody>
      </p:sp>
      <p:sp>
        <p:nvSpPr>
          <p:cNvPr id="8" name="Text 5"/>
          <p:cNvSpPr/>
          <p:nvPr/>
        </p:nvSpPr>
        <p:spPr>
          <a:xfrm>
            <a:off x="4539530" y="4632826"/>
            <a:ext cx="1655632" cy="508947"/>
          </a:xfrm>
          <a:prstGeom prst="rect">
            <a:avLst/>
          </a:prstGeom>
          <a:noFill/>
          <a:ln/>
        </p:spPr>
        <p:txBody>
          <a:bodyPr wrap="square" lIns="0" tIns="0" rIns="0" bIns="0" rtlCol="0" anchor="t"/>
          <a:lstStyle/>
          <a:p>
            <a:pPr algn="ctr"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Application Layer</a:t>
            </a:r>
            <a:endParaRPr lang="en-US" sz="1600" dirty="0"/>
          </a:p>
        </p:txBody>
      </p:sp>
      <p:sp>
        <p:nvSpPr>
          <p:cNvPr id="9" name="Text 6"/>
          <p:cNvSpPr/>
          <p:nvPr/>
        </p:nvSpPr>
        <p:spPr>
          <a:xfrm>
            <a:off x="4539530" y="5214156"/>
            <a:ext cx="1655632" cy="481803"/>
          </a:xfrm>
          <a:prstGeom prst="rect">
            <a:avLst/>
          </a:prstGeom>
          <a:noFill/>
          <a:ln/>
        </p:spPr>
        <p:txBody>
          <a:bodyPr wrap="square" lIns="0" tIns="0" rIns="0" bIns="0" rtlCol="0" anchor="t"/>
          <a:lstStyle/>
          <a:p>
            <a:pPr algn="ctr" indent="0" marL="0">
              <a:lnSpc>
                <a:spcPts val="1250"/>
              </a:lnSpc>
              <a:buNone/>
            </a:pPr>
            <a:r>
              <a:rPr lang="en-US" sz="1250" dirty="0">
                <a:solidFill>
                  <a:srgbClr val="C9C9C0"/>
                </a:solidFill>
                <a:latin typeface="Tomorrow" pitchFamily="34" charset="0"/>
                <a:ea typeface="Tomorrow" pitchFamily="34" charset="-122"/>
                <a:cs typeface="Tomorrow" pitchFamily="34" charset="-120"/>
              </a:rPr>
              <a:t>Unifies access, enforces business logic</a:t>
            </a:r>
            <a:endParaRPr lang="en-US" sz="1250" dirty="0"/>
          </a:p>
        </p:txBody>
      </p:sp>
      <p:sp>
        <p:nvSpPr>
          <p:cNvPr id="10" name="Text 7"/>
          <p:cNvSpPr/>
          <p:nvPr/>
        </p:nvSpPr>
        <p:spPr>
          <a:xfrm>
            <a:off x="6457694" y="1671321"/>
            <a:ext cx="1700872" cy="254473"/>
          </a:xfrm>
          <a:prstGeom prst="rect">
            <a:avLst/>
          </a:prstGeom>
          <a:noFill/>
          <a:ln/>
        </p:spPr>
        <p:txBody>
          <a:bodyPr wrap="none" lIns="0" tIns="0" rIns="0" bIns="0" rtlCol="0" anchor="t"/>
          <a:lstStyle/>
          <a:p>
            <a:pPr algn="ctr"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MySQL</a:t>
            </a:r>
            <a:endParaRPr lang="en-US" sz="1600" dirty="0"/>
          </a:p>
        </p:txBody>
      </p:sp>
      <p:sp>
        <p:nvSpPr>
          <p:cNvPr id="11" name="Text 8"/>
          <p:cNvSpPr/>
          <p:nvPr/>
        </p:nvSpPr>
        <p:spPr>
          <a:xfrm>
            <a:off x="6457694" y="1998178"/>
            <a:ext cx="1700872" cy="642404"/>
          </a:xfrm>
          <a:prstGeom prst="rect">
            <a:avLst/>
          </a:prstGeom>
          <a:noFill/>
          <a:ln/>
        </p:spPr>
        <p:txBody>
          <a:bodyPr wrap="square" lIns="0" tIns="0" rIns="0" bIns="0" rtlCol="0" anchor="t"/>
          <a:lstStyle/>
          <a:p>
            <a:pPr algn="ctr" indent="0" marL="0">
              <a:lnSpc>
                <a:spcPts val="1250"/>
              </a:lnSpc>
              <a:buNone/>
            </a:pPr>
            <a:r>
              <a:rPr lang="en-US" sz="1250" dirty="0">
                <a:solidFill>
                  <a:srgbClr val="C9C9C0"/>
                </a:solidFill>
                <a:latin typeface="Tomorrow" pitchFamily="34" charset="0"/>
                <a:ea typeface="Tomorrow" pitchFamily="34" charset="-122"/>
                <a:cs typeface="Tomorrow" pitchFamily="34" charset="-120"/>
              </a:rPr>
              <a:t>Structured transactions: Bookings, Rooms, Payments</a:t>
            </a:r>
            <a:endParaRPr lang="en-US" sz="1250" dirty="0"/>
          </a:p>
        </p:txBody>
      </p:sp>
      <p:sp>
        <p:nvSpPr>
          <p:cNvPr id="12" name="Text 9"/>
          <p:cNvSpPr/>
          <p:nvPr/>
        </p:nvSpPr>
        <p:spPr>
          <a:xfrm>
            <a:off x="2791063" y="6094928"/>
            <a:ext cx="9048274" cy="330994"/>
          </a:xfrm>
          <a:prstGeom prst="rect">
            <a:avLst/>
          </a:prstGeom>
          <a:noFill/>
          <a:ln/>
        </p:spPr>
        <p:txBody>
          <a:bodyPr wrap="square" lIns="0" tIns="0" rIns="0" bIns="0" rtlCol="0" anchor="t"/>
          <a:lstStyle/>
          <a:p>
            <a:pPr algn="l" indent="0" marL="0">
              <a:lnSpc>
                <a:spcPts val="1300"/>
              </a:lnSpc>
              <a:buNone/>
            </a:pPr>
            <a:r>
              <a:rPr lang="en-US" sz="1000" dirty="0">
                <a:solidFill>
                  <a:srgbClr val="C9C9C0"/>
                </a:solidFill>
                <a:latin typeface="Tomorrow" pitchFamily="34" charset="0"/>
                <a:ea typeface="Tomorrow" pitchFamily="34" charset="-122"/>
                <a:cs typeface="Tomorrow" pitchFamily="34" charset="-120"/>
              </a:rPr>
              <a:t>This hybrid approach combines the reliability and ACID compliance of MySQL for critical transactions with the schema flexibility of MongoDB for dynamic content, giving Addis Grand Hotel the best of both relational and NoSQL worlds.</a:t>
            </a:r>
            <a:endParaRPr lang="en-US" sz="1000" dirty="0"/>
          </a:p>
        </p:txBody>
      </p:sp>
      <p:sp>
        <p:nvSpPr>
          <p:cNvPr id="13" name="Shape 10"/>
          <p:cNvSpPr/>
          <p:nvPr/>
        </p:nvSpPr>
        <p:spPr>
          <a:xfrm>
            <a:off x="2791063" y="6511171"/>
            <a:ext cx="2965609" cy="1272897"/>
          </a:xfrm>
          <a:prstGeom prst="roundRect">
            <a:avLst>
              <a:gd name="adj" fmla="val 1545"/>
            </a:avLst>
          </a:prstGeom>
          <a:solidFill>
            <a:srgbClr val="3C3C3A"/>
          </a:solidFill>
          <a:ln/>
        </p:spPr>
      </p:sp>
      <p:sp>
        <p:nvSpPr>
          <p:cNvPr id="14" name="Text 11"/>
          <p:cNvSpPr/>
          <p:nvPr/>
        </p:nvSpPr>
        <p:spPr>
          <a:xfrm>
            <a:off x="2922151" y="6642259"/>
            <a:ext cx="1639133" cy="204907"/>
          </a:xfrm>
          <a:prstGeom prst="rect">
            <a:avLst/>
          </a:prstGeom>
          <a:noFill/>
          <a:ln/>
        </p:spPr>
        <p:txBody>
          <a:bodyPr wrap="none" lIns="0" tIns="0" rIns="0" bIns="0" rtlCol="0" anchor="t"/>
          <a:lstStyle/>
          <a:p>
            <a:pPr algn="l" indent="0" marL="0">
              <a:lnSpc>
                <a:spcPts val="1600"/>
              </a:lnSpc>
              <a:buNone/>
            </a:pPr>
            <a:r>
              <a:rPr lang="en-US" sz="1250" dirty="0">
                <a:solidFill>
                  <a:srgbClr val="C9C9C0"/>
                </a:solidFill>
                <a:latin typeface="Tomorrow Semi Bold" pitchFamily="34" charset="0"/>
                <a:ea typeface="Tomorrow Semi Bold" pitchFamily="34" charset="-122"/>
                <a:cs typeface="Tomorrow Semi Bold" pitchFamily="34" charset="-120"/>
              </a:rPr>
              <a:t>MySQL</a:t>
            </a:r>
            <a:endParaRPr lang="en-US" sz="1250" dirty="0"/>
          </a:p>
        </p:txBody>
      </p:sp>
      <p:sp>
        <p:nvSpPr>
          <p:cNvPr id="15" name="Text 12"/>
          <p:cNvSpPr/>
          <p:nvPr/>
        </p:nvSpPr>
        <p:spPr>
          <a:xfrm>
            <a:off x="2922151" y="6892647"/>
            <a:ext cx="2703433" cy="165497"/>
          </a:xfrm>
          <a:prstGeom prst="rect">
            <a:avLst/>
          </a:prstGeom>
          <a:noFill/>
          <a:ln/>
        </p:spPr>
        <p:txBody>
          <a:bodyPr wrap="none" lIns="0" tIns="0" rIns="0" bIns="0" rtlCol="0" anchor="t"/>
          <a:lstStyle/>
          <a:p>
            <a:pPr algn="l" indent="0" marL="0">
              <a:lnSpc>
                <a:spcPts val="1300"/>
              </a:lnSpc>
              <a:buNone/>
            </a:pPr>
            <a:r>
              <a:rPr lang="en-US" sz="1000" dirty="0">
                <a:solidFill>
                  <a:srgbClr val="C9C9C0"/>
                </a:solidFill>
                <a:latin typeface="Tomorrow" pitchFamily="34" charset="0"/>
                <a:ea typeface="Tomorrow" pitchFamily="34" charset="-122"/>
                <a:cs typeface="Tomorrow" pitchFamily="34" charset="-120"/>
              </a:rPr>
              <a:t>Structured &amp; Transactional Data</a:t>
            </a:r>
            <a:endParaRPr lang="en-US" sz="1000" dirty="0"/>
          </a:p>
        </p:txBody>
      </p:sp>
      <p:sp>
        <p:nvSpPr>
          <p:cNvPr id="16" name="Text 13"/>
          <p:cNvSpPr/>
          <p:nvPr/>
        </p:nvSpPr>
        <p:spPr>
          <a:xfrm>
            <a:off x="2922151" y="7103626"/>
            <a:ext cx="2703433" cy="549354"/>
          </a:xfrm>
          <a:prstGeom prst="rect">
            <a:avLst/>
          </a:prstGeom>
          <a:noFill/>
          <a:ln/>
        </p:spPr>
        <p:txBody>
          <a:bodyPr wrap="square" lIns="0" tIns="0" rIns="0" bIns="0" rtlCol="0" anchor="t"/>
          <a:lstStyle/>
          <a:p>
            <a:pPr algn="l" marL="342900" indent="-342900">
              <a:lnSpc>
                <a:spcPts val="1300"/>
              </a:lnSpc>
              <a:buSzPct val="100000"/>
              <a:buChar char="•"/>
            </a:pPr>
            <a:r>
              <a:rPr lang="en-US" sz="1000" dirty="0">
                <a:solidFill>
                  <a:srgbClr val="C9C9C0"/>
                </a:solidFill>
                <a:latin typeface="Tomorrow" pitchFamily="34" charset="0"/>
                <a:ea typeface="Tomorrow" pitchFamily="34" charset="-122"/>
                <a:cs typeface="Tomorrow" pitchFamily="34" charset="-120"/>
              </a:rPr>
              <a:t>Bookings</a:t>
            </a:r>
            <a:endParaRPr lang="en-US" sz="1000" dirty="0"/>
          </a:p>
          <a:p>
            <a:pPr algn="l" marL="342900" indent="-342900">
              <a:lnSpc>
                <a:spcPts val="1300"/>
              </a:lnSpc>
              <a:buSzPct val="100000"/>
              <a:buChar char="•"/>
            </a:pPr>
            <a:r>
              <a:rPr lang="en-US" sz="1000" dirty="0">
                <a:solidFill>
                  <a:srgbClr val="C9C9C0"/>
                </a:solidFill>
                <a:latin typeface="Tomorrow" pitchFamily="34" charset="0"/>
                <a:ea typeface="Tomorrow" pitchFamily="34" charset="-122"/>
                <a:cs typeface="Tomorrow" pitchFamily="34" charset="-120"/>
              </a:rPr>
              <a:t>Rooms</a:t>
            </a:r>
            <a:endParaRPr lang="en-US" sz="1000" dirty="0"/>
          </a:p>
          <a:p>
            <a:pPr algn="l" marL="342900" indent="-342900">
              <a:lnSpc>
                <a:spcPts val="1300"/>
              </a:lnSpc>
              <a:buSzPct val="100000"/>
              <a:buChar char="•"/>
            </a:pPr>
            <a:r>
              <a:rPr lang="en-US" sz="1000" dirty="0">
                <a:solidFill>
                  <a:srgbClr val="C9C9C0"/>
                </a:solidFill>
                <a:latin typeface="Tomorrow" pitchFamily="34" charset="0"/>
                <a:ea typeface="Tomorrow" pitchFamily="34" charset="-122"/>
                <a:cs typeface="Tomorrow" pitchFamily="34" charset="-120"/>
              </a:rPr>
              <a:t>Payments</a:t>
            </a:r>
            <a:endParaRPr lang="en-US" sz="1000" dirty="0"/>
          </a:p>
        </p:txBody>
      </p:sp>
      <p:sp>
        <p:nvSpPr>
          <p:cNvPr id="17" name="Shape 14"/>
          <p:cNvSpPr/>
          <p:nvPr/>
        </p:nvSpPr>
        <p:spPr>
          <a:xfrm>
            <a:off x="5832396" y="6511171"/>
            <a:ext cx="2965609" cy="1272897"/>
          </a:xfrm>
          <a:prstGeom prst="roundRect">
            <a:avLst>
              <a:gd name="adj" fmla="val 1545"/>
            </a:avLst>
          </a:prstGeom>
          <a:solidFill>
            <a:srgbClr val="3C3C3A"/>
          </a:solidFill>
          <a:ln/>
        </p:spPr>
      </p:sp>
      <p:sp>
        <p:nvSpPr>
          <p:cNvPr id="18" name="Text 15"/>
          <p:cNvSpPr/>
          <p:nvPr/>
        </p:nvSpPr>
        <p:spPr>
          <a:xfrm>
            <a:off x="5963483" y="6642259"/>
            <a:ext cx="1639133" cy="204907"/>
          </a:xfrm>
          <a:prstGeom prst="rect">
            <a:avLst/>
          </a:prstGeom>
          <a:noFill/>
          <a:ln/>
        </p:spPr>
        <p:txBody>
          <a:bodyPr wrap="none" lIns="0" tIns="0" rIns="0" bIns="0" rtlCol="0" anchor="t"/>
          <a:lstStyle/>
          <a:p>
            <a:pPr algn="l" indent="0" marL="0">
              <a:lnSpc>
                <a:spcPts val="1600"/>
              </a:lnSpc>
              <a:buNone/>
            </a:pPr>
            <a:r>
              <a:rPr lang="en-US" sz="1250" dirty="0">
                <a:solidFill>
                  <a:srgbClr val="C9C9C0"/>
                </a:solidFill>
                <a:latin typeface="Tomorrow Semi Bold" pitchFamily="34" charset="0"/>
                <a:ea typeface="Tomorrow Semi Bold" pitchFamily="34" charset="-122"/>
                <a:cs typeface="Tomorrow Semi Bold" pitchFamily="34" charset="-120"/>
              </a:rPr>
              <a:t>MongoDB</a:t>
            </a:r>
            <a:endParaRPr lang="en-US" sz="1250" dirty="0"/>
          </a:p>
        </p:txBody>
      </p:sp>
      <p:sp>
        <p:nvSpPr>
          <p:cNvPr id="19" name="Text 16"/>
          <p:cNvSpPr/>
          <p:nvPr/>
        </p:nvSpPr>
        <p:spPr>
          <a:xfrm>
            <a:off x="5963483" y="6892647"/>
            <a:ext cx="2703433" cy="165497"/>
          </a:xfrm>
          <a:prstGeom prst="rect">
            <a:avLst/>
          </a:prstGeom>
          <a:noFill/>
          <a:ln/>
        </p:spPr>
        <p:txBody>
          <a:bodyPr wrap="none" lIns="0" tIns="0" rIns="0" bIns="0" rtlCol="0" anchor="t"/>
          <a:lstStyle/>
          <a:p>
            <a:pPr algn="l" indent="0" marL="0">
              <a:lnSpc>
                <a:spcPts val="1300"/>
              </a:lnSpc>
              <a:buNone/>
            </a:pPr>
            <a:r>
              <a:rPr lang="en-US" sz="1000" dirty="0">
                <a:solidFill>
                  <a:srgbClr val="C9C9C0"/>
                </a:solidFill>
                <a:latin typeface="Tomorrow" pitchFamily="34" charset="0"/>
                <a:ea typeface="Tomorrow" pitchFamily="34" charset="-122"/>
                <a:cs typeface="Tomorrow" pitchFamily="34" charset="-120"/>
              </a:rPr>
              <a:t>Flexible &amp; Semi-structured Data</a:t>
            </a:r>
            <a:endParaRPr lang="en-US" sz="1000" dirty="0"/>
          </a:p>
        </p:txBody>
      </p:sp>
      <p:sp>
        <p:nvSpPr>
          <p:cNvPr id="20" name="Text 17"/>
          <p:cNvSpPr/>
          <p:nvPr/>
        </p:nvSpPr>
        <p:spPr>
          <a:xfrm>
            <a:off x="5963483" y="7103626"/>
            <a:ext cx="2703433" cy="357426"/>
          </a:xfrm>
          <a:prstGeom prst="rect">
            <a:avLst/>
          </a:prstGeom>
          <a:noFill/>
          <a:ln/>
        </p:spPr>
        <p:txBody>
          <a:bodyPr wrap="square" lIns="0" tIns="0" rIns="0" bIns="0" rtlCol="0" anchor="t"/>
          <a:lstStyle/>
          <a:p>
            <a:pPr algn="l" marL="342900" indent="-342900">
              <a:lnSpc>
                <a:spcPts val="1300"/>
              </a:lnSpc>
              <a:buSzPct val="100000"/>
              <a:buChar char="•"/>
            </a:pPr>
            <a:r>
              <a:rPr lang="en-US" sz="1000" dirty="0">
                <a:solidFill>
                  <a:srgbClr val="C9C9C0"/>
                </a:solidFill>
                <a:latin typeface="Tomorrow" pitchFamily="34" charset="0"/>
                <a:ea typeface="Tomorrow" pitchFamily="34" charset="-122"/>
                <a:cs typeface="Tomorrow" pitchFamily="34" charset="-120"/>
              </a:rPr>
              <a:t>Guest Reviews</a:t>
            </a:r>
            <a:endParaRPr lang="en-US" sz="1000" dirty="0"/>
          </a:p>
          <a:p>
            <a:pPr algn="l" marL="342900" indent="-342900">
              <a:lnSpc>
                <a:spcPts val="1300"/>
              </a:lnSpc>
              <a:buSzPct val="100000"/>
              <a:buChar char="•"/>
            </a:pPr>
            <a:r>
              <a:rPr lang="en-US" sz="1000" dirty="0">
                <a:solidFill>
                  <a:srgbClr val="C9C9C0"/>
                </a:solidFill>
                <a:latin typeface="Tomorrow" pitchFamily="34" charset="0"/>
                <a:ea typeface="Tomorrow" pitchFamily="34" charset="-122"/>
                <a:cs typeface="Tomorrow" pitchFamily="34" charset="-120"/>
              </a:rPr>
              <a:t>Room Service Orders</a:t>
            </a:r>
            <a:endParaRPr lang="en-US" sz="1000" dirty="0"/>
          </a:p>
        </p:txBody>
      </p:sp>
      <p:sp>
        <p:nvSpPr>
          <p:cNvPr id="21" name="Shape 18"/>
          <p:cNvSpPr/>
          <p:nvPr/>
        </p:nvSpPr>
        <p:spPr>
          <a:xfrm>
            <a:off x="8873728" y="6511171"/>
            <a:ext cx="2965609" cy="1272897"/>
          </a:xfrm>
          <a:prstGeom prst="roundRect">
            <a:avLst>
              <a:gd name="adj" fmla="val 1545"/>
            </a:avLst>
          </a:prstGeom>
          <a:solidFill>
            <a:srgbClr val="3C3C3A"/>
          </a:solidFill>
          <a:ln/>
        </p:spPr>
      </p:sp>
      <p:sp>
        <p:nvSpPr>
          <p:cNvPr id="22" name="Text 19"/>
          <p:cNvSpPr/>
          <p:nvPr/>
        </p:nvSpPr>
        <p:spPr>
          <a:xfrm>
            <a:off x="9004816" y="6642259"/>
            <a:ext cx="1639133" cy="204907"/>
          </a:xfrm>
          <a:prstGeom prst="rect">
            <a:avLst/>
          </a:prstGeom>
          <a:noFill/>
          <a:ln/>
        </p:spPr>
        <p:txBody>
          <a:bodyPr wrap="none" lIns="0" tIns="0" rIns="0" bIns="0" rtlCol="0" anchor="t"/>
          <a:lstStyle/>
          <a:p>
            <a:pPr algn="l" indent="0" marL="0">
              <a:lnSpc>
                <a:spcPts val="1600"/>
              </a:lnSpc>
              <a:buNone/>
            </a:pPr>
            <a:r>
              <a:rPr lang="en-US" sz="1250" dirty="0">
                <a:solidFill>
                  <a:srgbClr val="C9C9C0"/>
                </a:solidFill>
                <a:latin typeface="Tomorrow Semi Bold" pitchFamily="34" charset="0"/>
                <a:ea typeface="Tomorrow Semi Bold" pitchFamily="34" charset="-122"/>
                <a:cs typeface="Tomorrow Semi Bold" pitchFamily="34" charset="-120"/>
              </a:rPr>
              <a:t>Hybrid Approach</a:t>
            </a:r>
            <a:endParaRPr lang="en-US" sz="1250" dirty="0"/>
          </a:p>
        </p:txBody>
      </p:sp>
      <p:sp>
        <p:nvSpPr>
          <p:cNvPr id="23" name="Text 20"/>
          <p:cNvSpPr/>
          <p:nvPr/>
        </p:nvSpPr>
        <p:spPr>
          <a:xfrm>
            <a:off x="9004816" y="6892647"/>
            <a:ext cx="2703433" cy="165497"/>
          </a:xfrm>
          <a:prstGeom prst="rect">
            <a:avLst/>
          </a:prstGeom>
          <a:noFill/>
          <a:ln/>
        </p:spPr>
        <p:txBody>
          <a:bodyPr wrap="none" lIns="0" tIns="0" rIns="0" bIns="0" rtlCol="0" anchor="t"/>
          <a:lstStyle/>
          <a:p>
            <a:pPr algn="l" indent="0" marL="0">
              <a:lnSpc>
                <a:spcPts val="1300"/>
              </a:lnSpc>
              <a:buNone/>
            </a:pPr>
            <a:r>
              <a:rPr lang="en-US" sz="1000" dirty="0">
                <a:solidFill>
                  <a:srgbClr val="C9C9C0"/>
                </a:solidFill>
                <a:latin typeface="Tomorrow" pitchFamily="34" charset="0"/>
                <a:ea typeface="Tomorrow" pitchFamily="34" charset="-122"/>
                <a:cs typeface="Tomorrow" pitchFamily="34" charset="-120"/>
              </a:rPr>
              <a:t>Best of Both Worlds</a:t>
            </a:r>
            <a:endParaRPr lang="en-US" sz="1000" dirty="0"/>
          </a:p>
        </p:txBody>
      </p:sp>
      <p:sp>
        <p:nvSpPr>
          <p:cNvPr id="24" name="Text 21"/>
          <p:cNvSpPr/>
          <p:nvPr/>
        </p:nvSpPr>
        <p:spPr>
          <a:xfrm>
            <a:off x="9004816" y="7103626"/>
            <a:ext cx="2703433" cy="549354"/>
          </a:xfrm>
          <a:prstGeom prst="rect">
            <a:avLst/>
          </a:prstGeom>
          <a:noFill/>
          <a:ln/>
        </p:spPr>
        <p:txBody>
          <a:bodyPr wrap="square" lIns="0" tIns="0" rIns="0" bIns="0" rtlCol="0" anchor="t"/>
          <a:lstStyle/>
          <a:p>
            <a:pPr algn="l" marL="342900" indent="-342900">
              <a:lnSpc>
                <a:spcPts val="1300"/>
              </a:lnSpc>
              <a:buSzPct val="100000"/>
              <a:buChar char="•"/>
            </a:pPr>
            <a:r>
              <a:rPr lang="en-US" sz="1000" dirty="0">
                <a:solidFill>
                  <a:srgbClr val="C9C9C0"/>
                </a:solidFill>
                <a:latin typeface="Tomorrow" pitchFamily="34" charset="0"/>
                <a:ea typeface="Tomorrow" pitchFamily="34" charset="-122"/>
                <a:cs typeface="Tomorrow" pitchFamily="34" charset="-120"/>
              </a:rPr>
              <a:t>Relational integrity</a:t>
            </a:r>
            <a:endParaRPr lang="en-US" sz="1000" dirty="0"/>
          </a:p>
          <a:p>
            <a:pPr algn="l" marL="342900" indent="-342900">
              <a:lnSpc>
                <a:spcPts val="1300"/>
              </a:lnSpc>
              <a:buSzPct val="100000"/>
              <a:buChar char="•"/>
            </a:pPr>
            <a:r>
              <a:rPr lang="en-US" sz="1000" dirty="0">
                <a:solidFill>
                  <a:srgbClr val="C9C9C0"/>
                </a:solidFill>
                <a:latin typeface="Tomorrow" pitchFamily="34" charset="0"/>
                <a:ea typeface="Tomorrow" pitchFamily="34" charset="-122"/>
                <a:cs typeface="Tomorrow" pitchFamily="34" charset="-120"/>
              </a:rPr>
              <a:t>NoSQL flexibility</a:t>
            </a:r>
            <a:endParaRPr lang="en-US" sz="1000" dirty="0"/>
          </a:p>
          <a:p>
            <a:pPr algn="l" marL="342900" indent="-342900">
              <a:lnSpc>
                <a:spcPts val="1300"/>
              </a:lnSpc>
              <a:buSzPct val="100000"/>
              <a:buChar char="•"/>
            </a:pPr>
            <a:r>
              <a:rPr lang="en-US" sz="1000" dirty="0">
                <a:solidFill>
                  <a:srgbClr val="C9C9C0"/>
                </a:solidFill>
                <a:latin typeface="Tomorrow" pitchFamily="34" charset="0"/>
                <a:ea typeface="Tomorrow" pitchFamily="34" charset="-122"/>
                <a:cs typeface="Tomorrow" pitchFamily="34" charset="-120"/>
              </a:rPr>
              <a:t>Scalable design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79183" y="572333"/>
            <a:ext cx="6402705" cy="564713"/>
          </a:xfrm>
          <a:prstGeom prst="rect">
            <a:avLst/>
          </a:prstGeom>
          <a:noFill/>
          <a:ln/>
        </p:spPr>
        <p:txBody>
          <a:bodyPr wrap="none" lIns="0" tIns="0" rIns="0" bIns="0" rtlCol="0" anchor="t"/>
          <a:lstStyle/>
          <a:p>
            <a:pPr algn="l" indent="0" marL="0">
              <a:lnSpc>
                <a:spcPts val="4400"/>
              </a:lnSpc>
              <a:buNone/>
            </a:pPr>
            <a:r>
              <a:rPr lang="en-US" sz="3550" dirty="0">
                <a:solidFill>
                  <a:srgbClr val="EDEDE8"/>
                </a:solidFill>
                <a:latin typeface="Tomorrow Semi Bold" pitchFamily="34" charset="0"/>
                <a:ea typeface="Tomorrow Semi Bold" pitchFamily="34" charset="-122"/>
                <a:cs typeface="Tomorrow Semi Bold" pitchFamily="34" charset="-120"/>
              </a:rPr>
              <a:t>Entity Relationship Diagram</a:t>
            </a:r>
            <a:endParaRPr lang="en-US" sz="3550" dirty="0"/>
          </a:p>
        </p:txBody>
      </p:sp>
      <p:sp>
        <p:nvSpPr>
          <p:cNvPr id="3" name="Shape 1"/>
          <p:cNvSpPr/>
          <p:nvPr/>
        </p:nvSpPr>
        <p:spPr>
          <a:xfrm>
            <a:off x="1079183" y="1425059"/>
            <a:ext cx="1939409" cy="316230"/>
          </a:xfrm>
          <a:prstGeom prst="roundRect">
            <a:avLst>
              <a:gd name="adj" fmla="val 6859"/>
            </a:avLst>
          </a:prstGeom>
          <a:solidFill>
            <a:srgbClr val="272725"/>
          </a:solidFill>
          <a:ln/>
        </p:spPr>
      </p:sp>
      <p:sp>
        <p:nvSpPr>
          <p:cNvPr id="4" name="Text 2"/>
          <p:cNvSpPr/>
          <p:nvPr/>
        </p:nvSpPr>
        <p:spPr>
          <a:xfrm>
            <a:off x="1187529" y="1479233"/>
            <a:ext cx="1722715" cy="207883"/>
          </a:xfrm>
          <a:prstGeom prst="rect">
            <a:avLst/>
          </a:prstGeom>
          <a:noFill/>
          <a:ln/>
        </p:spPr>
        <p:txBody>
          <a:bodyPr wrap="none" lIns="0" tIns="0" rIns="0" bIns="0" rtlCol="0" anchor="t"/>
          <a:lstStyle/>
          <a:p>
            <a:pPr algn="l" indent="0" marL="0">
              <a:lnSpc>
                <a:spcPts val="1600"/>
              </a:lnSpc>
              <a:buNone/>
            </a:pPr>
            <a:r>
              <a:rPr lang="en-US" sz="1100" dirty="0">
                <a:solidFill>
                  <a:srgbClr val="C9C9C0"/>
                </a:solidFill>
                <a:latin typeface="Tomorrow" pitchFamily="34" charset="0"/>
                <a:ea typeface="Tomorrow" pitchFamily="34" charset="-122"/>
                <a:cs typeface="Tomorrow" pitchFamily="34" charset="-120"/>
              </a:rPr>
              <a:t>CORE DATABASE DESIGN</a:t>
            </a:r>
            <a:endParaRPr lang="en-US" sz="1100" dirty="0"/>
          </a:p>
        </p:txBody>
      </p:sp>
      <p:pic>
        <p:nvPicPr>
          <p:cNvPr id="5" name="Image 0" descr="preencoded.png">    </p:cNvPr>
          <p:cNvPicPr>
            <a:picLocks noChangeAspect="1"/>
          </p:cNvPicPr>
          <p:nvPr/>
        </p:nvPicPr>
        <p:blipFill>
          <a:blip r:embed="R78fe53c157d04b9a"/>
          <a:stretch>
            <a:fillRect/>
          </a:stretch>
        </p:blipFill>
        <p:spPr>
          <a:xfrm>
            <a:off x="2117765" y="2065139"/>
            <a:ext cx="4583906" cy="3965138"/>
          </a:xfrm>
          <a:prstGeom prst="rect">
            <a:avLst/>
          </a:prstGeom>
        </p:spPr>
      </p:pic>
      <p:sp>
        <p:nvSpPr>
          <p:cNvPr id="6" name="Text 3"/>
          <p:cNvSpPr/>
          <p:nvPr/>
        </p:nvSpPr>
        <p:spPr>
          <a:xfrm>
            <a:off x="8188881" y="3451979"/>
            <a:ext cx="3209330" cy="282416"/>
          </a:xfrm>
          <a:prstGeom prst="rect">
            <a:avLst/>
          </a:prstGeom>
          <a:noFill/>
          <a:ln/>
        </p:spPr>
        <p:txBody>
          <a:bodyPr wrap="none" lIns="0" tIns="0" rIns="0" bIns="0" rtlCol="0" anchor="t"/>
          <a:lstStyle/>
          <a:p>
            <a:pPr algn="l" indent="0" marL="0">
              <a:lnSpc>
                <a:spcPts val="2200"/>
              </a:lnSpc>
              <a:buNone/>
            </a:pPr>
            <a:r>
              <a:rPr lang="en-US" sz="1750" dirty="0">
                <a:solidFill>
                  <a:srgbClr val="EDEDE8"/>
                </a:solidFill>
                <a:latin typeface="Tomorrow Semi Bold" pitchFamily="34" charset="0"/>
                <a:ea typeface="Tomorrow Semi Bold" pitchFamily="34" charset="-122"/>
                <a:cs typeface="Tomorrow Semi Bold" pitchFamily="34" charset="-120"/>
              </a:rPr>
              <a:t>Key Entities &amp; Relationships</a:t>
            </a:r>
            <a:endParaRPr lang="en-US" sz="1750" dirty="0"/>
          </a:p>
        </p:txBody>
      </p:sp>
      <p:sp>
        <p:nvSpPr>
          <p:cNvPr id="7" name="Text 4"/>
          <p:cNvSpPr/>
          <p:nvPr/>
        </p:nvSpPr>
        <p:spPr>
          <a:xfrm>
            <a:off x="8188881" y="3878342"/>
            <a:ext cx="5369719" cy="779383"/>
          </a:xfrm>
          <a:prstGeom prst="rect">
            <a:avLst/>
          </a:prstGeom>
          <a:noFill/>
          <a:ln/>
        </p:spPr>
        <p:txBody>
          <a:bodyPr wrap="square" lIns="0" tIns="0" rIns="0" bIns="0" rtlCol="0" anchor="t"/>
          <a:lstStyle/>
          <a:p>
            <a:pPr algn="l" indent="0" marL="0">
              <a:lnSpc>
                <a:spcPts val="2000"/>
              </a:lnSpc>
              <a:buNone/>
            </a:pPr>
            <a:r>
              <a:rPr lang="en-US" sz="1400" dirty="0">
                <a:solidFill>
                  <a:srgbClr val="C9C9C0"/>
                </a:solidFill>
                <a:latin typeface="Tomorrow" pitchFamily="34" charset="0"/>
                <a:ea typeface="Tomorrow" pitchFamily="34" charset="-122"/>
                <a:cs typeface="Tomorrow" pitchFamily="34" charset="-120"/>
              </a:rPr>
              <a:t>The ER diagram models the core entities of the hotel management system and their relationships, forming the foundation of the MySQL relational database.</a:t>
            </a:r>
            <a:endParaRPr lang="en-US" sz="1400" dirty="0"/>
          </a:p>
        </p:txBody>
      </p:sp>
      <p:sp>
        <p:nvSpPr>
          <p:cNvPr id="8" name="Shape 5"/>
          <p:cNvSpPr/>
          <p:nvPr/>
        </p:nvSpPr>
        <p:spPr>
          <a:xfrm>
            <a:off x="1079183" y="6354128"/>
            <a:ext cx="3010019" cy="1303139"/>
          </a:xfrm>
          <a:prstGeom prst="roundRect">
            <a:avLst>
              <a:gd name="adj" fmla="val 2081"/>
            </a:avLst>
          </a:prstGeom>
          <a:solidFill>
            <a:srgbClr val="1D1D1B"/>
          </a:solidFill>
          <a:ln w="22860">
            <a:solidFill>
              <a:srgbClr val="555553"/>
            </a:solidFill>
            <a:prstDash val="solid"/>
          </a:ln>
        </p:spPr>
      </p:sp>
      <p:sp>
        <p:nvSpPr>
          <p:cNvPr id="9" name="Text 6"/>
          <p:cNvSpPr/>
          <p:nvPr/>
        </p:nvSpPr>
        <p:spPr>
          <a:xfrm>
            <a:off x="1282779" y="6557724"/>
            <a:ext cx="2259330" cy="290036"/>
          </a:xfrm>
          <a:prstGeom prst="rect">
            <a:avLst/>
          </a:prstGeom>
          <a:noFill/>
          <a:ln/>
        </p:spPr>
        <p:txBody>
          <a:bodyPr wrap="none" lIns="0" tIns="0" rIns="0" bIns="0" rtlCol="0" anchor="t"/>
          <a:lstStyle/>
          <a:p>
            <a:pPr algn="l" indent="0" marL="0">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Guest </a:t>
            </a:r>
            <a:pPr algn="l" indent="0" marL="0">
              <a:lnSpc>
                <a:spcPts val="2200"/>
              </a:lnSpc>
              <a:buNone/>
            </a:pPr>
            <a:r>
              <a:rPr lang="en-US" sz="1750" dirty="0">
                <a:solidFill>
                  <a:srgbClr val="000000"/>
                </a:solidFill>
                <a:latin typeface="Tomorrow Semi Bold" pitchFamily="34" charset="0"/>
                <a:ea typeface="Tomorrow Semi Bold" pitchFamily="34" charset="-122"/>
                <a:cs typeface="Tomorrow Semi Bold" pitchFamily="34" charset="-120"/>
              </a:rPr>
              <a:t>↔</a:t>
            </a:r>
            <a:pPr algn="l" indent="0" marL="0">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 Booking</a:t>
            </a:r>
            <a:endParaRPr lang="en-US" sz="1750" dirty="0"/>
          </a:p>
        </p:txBody>
      </p:sp>
      <p:sp>
        <p:nvSpPr>
          <p:cNvPr id="10" name="Text 7"/>
          <p:cNvSpPr/>
          <p:nvPr/>
        </p:nvSpPr>
        <p:spPr>
          <a:xfrm>
            <a:off x="1282779" y="6934081"/>
            <a:ext cx="2602825" cy="519589"/>
          </a:xfrm>
          <a:prstGeom prst="rect">
            <a:avLst/>
          </a:prstGeom>
          <a:noFill/>
          <a:ln/>
        </p:spPr>
        <p:txBody>
          <a:bodyPr wrap="square" lIns="0" tIns="0" rIns="0" bIns="0" rtlCol="0" anchor="t"/>
          <a:lstStyle/>
          <a:p>
            <a:pPr algn="l" indent="0" marL="0">
              <a:lnSpc>
                <a:spcPts val="2000"/>
              </a:lnSpc>
              <a:buNone/>
            </a:pPr>
            <a:r>
              <a:rPr lang="en-US" sz="1400" dirty="0">
                <a:solidFill>
                  <a:srgbClr val="C9C9C0"/>
                </a:solidFill>
                <a:latin typeface="Tomorrow" pitchFamily="34" charset="0"/>
                <a:ea typeface="Tomorrow" pitchFamily="34" charset="-122"/>
                <a:cs typeface="Tomorrow" pitchFamily="34" charset="-120"/>
              </a:rPr>
              <a:t>One guest can have many bookings</a:t>
            </a:r>
            <a:endParaRPr lang="en-US" sz="1400" dirty="0"/>
          </a:p>
        </p:txBody>
      </p:sp>
      <p:sp>
        <p:nvSpPr>
          <p:cNvPr id="11" name="Shape 8"/>
          <p:cNvSpPr/>
          <p:nvPr/>
        </p:nvSpPr>
        <p:spPr>
          <a:xfrm>
            <a:off x="4233148" y="6354128"/>
            <a:ext cx="3010019" cy="1303139"/>
          </a:xfrm>
          <a:prstGeom prst="roundRect">
            <a:avLst>
              <a:gd name="adj" fmla="val 2081"/>
            </a:avLst>
          </a:prstGeom>
          <a:solidFill>
            <a:srgbClr val="1D1D1B"/>
          </a:solidFill>
          <a:ln w="22860">
            <a:solidFill>
              <a:srgbClr val="555553"/>
            </a:solidFill>
            <a:prstDash val="solid"/>
          </a:ln>
        </p:spPr>
      </p:sp>
      <p:sp>
        <p:nvSpPr>
          <p:cNvPr id="12" name="Text 9"/>
          <p:cNvSpPr/>
          <p:nvPr/>
        </p:nvSpPr>
        <p:spPr>
          <a:xfrm>
            <a:off x="4436745" y="6557724"/>
            <a:ext cx="2259330" cy="290036"/>
          </a:xfrm>
          <a:prstGeom prst="rect">
            <a:avLst/>
          </a:prstGeom>
          <a:noFill/>
          <a:ln/>
        </p:spPr>
        <p:txBody>
          <a:bodyPr wrap="none" lIns="0" tIns="0" rIns="0" bIns="0" rtlCol="0" anchor="t"/>
          <a:lstStyle/>
          <a:p>
            <a:pPr algn="l" indent="0" marL="0">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Booking </a:t>
            </a:r>
            <a:pPr algn="l" indent="0" marL="0">
              <a:lnSpc>
                <a:spcPts val="2200"/>
              </a:lnSpc>
              <a:buNone/>
            </a:pPr>
            <a:r>
              <a:rPr lang="en-US" sz="1750" dirty="0">
                <a:solidFill>
                  <a:srgbClr val="000000"/>
                </a:solidFill>
                <a:latin typeface="Tomorrow Semi Bold" pitchFamily="34" charset="0"/>
                <a:ea typeface="Tomorrow Semi Bold" pitchFamily="34" charset="-122"/>
                <a:cs typeface="Tomorrow Semi Bold" pitchFamily="34" charset="-120"/>
              </a:rPr>
              <a:t>↔</a:t>
            </a:r>
            <a:pPr algn="l" indent="0" marL="0">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 Room</a:t>
            </a:r>
            <a:endParaRPr lang="en-US" sz="1750" dirty="0"/>
          </a:p>
        </p:txBody>
      </p:sp>
      <p:sp>
        <p:nvSpPr>
          <p:cNvPr id="13" name="Text 10"/>
          <p:cNvSpPr/>
          <p:nvPr/>
        </p:nvSpPr>
        <p:spPr>
          <a:xfrm>
            <a:off x="4436745" y="6934081"/>
            <a:ext cx="2602825" cy="519589"/>
          </a:xfrm>
          <a:prstGeom prst="rect">
            <a:avLst/>
          </a:prstGeom>
          <a:noFill/>
          <a:ln/>
        </p:spPr>
        <p:txBody>
          <a:bodyPr wrap="square" lIns="0" tIns="0" rIns="0" bIns="0" rtlCol="0" anchor="t"/>
          <a:lstStyle/>
          <a:p>
            <a:pPr algn="l" indent="0" marL="0">
              <a:lnSpc>
                <a:spcPts val="2000"/>
              </a:lnSpc>
              <a:buNone/>
            </a:pPr>
            <a:r>
              <a:rPr lang="en-US" sz="1400" dirty="0">
                <a:solidFill>
                  <a:srgbClr val="C9C9C0"/>
                </a:solidFill>
                <a:latin typeface="Tomorrow" pitchFamily="34" charset="0"/>
                <a:ea typeface="Tomorrow" pitchFamily="34" charset="-122"/>
                <a:cs typeface="Tomorrow" pitchFamily="34" charset="-120"/>
              </a:rPr>
              <a:t>Many-to-many via BookingRoom junction table</a:t>
            </a:r>
            <a:endParaRPr lang="en-US" sz="1400" dirty="0"/>
          </a:p>
        </p:txBody>
      </p:sp>
      <p:sp>
        <p:nvSpPr>
          <p:cNvPr id="14" name="Shape 11"/>
          <p:cNvSpPr/>
          <p:nvPr/>
        </p:nvSpPr>
        <p:spPr>
          <a:xfrm>
            <a:off x="7387114" y="6354128"/>
            <a:ext cx="3010019" cy="1303139"/>
          </a:xfrm>
          <a:prstGeom prst="roundRect">
            <a:avLst>
              <a:gd name="adj" fmla="val 2081"/>
            </a:avLst>
          </a:prstGeom>
          <a:solidFill>
            <a:srgbClr val="1D1D1B"/>
          </a:solidFill>
          <a:ln w="22860">
            <a:solidFill>
              <a:srgbClr val="555553"/>
            </a:solidFill>
            <a:prstDash val="solid"/>
          </a:ln>
        </p:spPr>
      </p:sp>
      <p:sp>
        <p:nvSpPr>
          <p:cNvPr id="15" name="Text 12"/>
          <p:cNvSpPr/>
          <p:nvPr/>
        </p:nvSpPr>
        <p:spPr>
          <a:xfrm>
            <a:off x="7590711" y="6557724"/>
            <a:ext cx="2271832" cy="290036"/>
          </a:xfrm>
          <a:prstGeom prst="rect">
            <a:avLst/>
          </a:prstGeom>
          <a:noFill/>
          <a:ln/>
        </p:spPr>
        <p:txBody>
          <a:bodyPr wrap="none" lIns="0" tIns="0" rIns="0" bIns="0" rtlCol="0" anchor="t"/>
          <a:lstStyle/>
          <a:p>
            <a:pPr algn="l" indent="0" marL="0">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Room </a:t>
            </a:r>
            <a:pPr algn="l" indent="0" marL="0">
              <a:lnSpc>
                <a:spcPts val="2200"/>
              </a:lnSpc>
              <a:buNone/>
            </a:pPr>
            <a:r>
              <a:rPr lang="en-US" sz="1750" dirty="0">
                <a:solidFill>
                  <a:srgbClr val="000000"/>
                </a:solidFill>
                <a:latin typeface="Tomorrow Semi Bold" pitchFamily="34" charset="0"/>
                <a:ea typeface="Tomorrow Semi Bold" pitchFamily="34" charset="-122"/>
                <a:cs typeface="Tomorrow Semi Bold" pitchFamily="34" charset="-120"/>
              </a:rPr>
              <a:t>↔</a:t>
            </a:r>
            <a:pPr algn="l" indent="0" marL="0">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 RoomType</a:t>
            </a:r>
            <a:endParaRPr lang="en-US" sz="1750" dirty="0"/>
          </a:p>
        </p:txBody>
      </p:sp>
      <p:sp>
        <p:nvSpPr>
          <p:cNvPr id="16" name="Text 13"/>
          <p:cNvSpPr/>
          <p:nvPr/>
        </p:nvSpPr>
        <p:spPr>
          <a:xfrm>
            <a:off x="7590711" y="6934081"/>
            <a:ext cx="2602825" cy="519589"/>
          </a:xfrm>
          <a:prstGeom prst="rect">
            <a:avLst/>
          </a:prstGeom>
          <a:noFill/>
          <a:ln/>
        </p:spPr>
        <p:txBody>
          <a:bodyPr wrap="square" lIns="0" tIns="0" rIns="0" bIns="0" rtlCol="0" anchor="t"/>
          <a:lstStyle/>
          <a:p>
            <a:pPr algn="l" indent="0" marL="0">
              <a:lnSpc>
                <a:spcPts val="2000"/>
              </a:lnSpc>
              <a:buNone/>
            </a:pPr>
            <a:r>
              <a:rPr lang="en-US" sz="1400" dirty="0">
                <a:solidFill>
                  <a:srgbClr val="C9C9C0"/>
                </a:solidFill>
                <a:latin typeface="Tomorrow" pitchFamily="34" charset="0"/>
                <a:ea typeface="Tomorrow" pitchFamily="34" charset="-122"/>
                <a:cs typeface="Tomorrow" pitchFamily="34" charset="-120"/>
              </a:rPr>
              <a:t>Many rooms belong to one room type</a:t>
            </a:r>
            <a:endParaRPr lang="en-US" sz="1400" dirty="0"/>
          </a:p>
        </p:txBody>
      </p:sp>
      <p:sp>
        <p:nvSpPr>
          <p:cNvPr id="17" name="Shape 14"/>
          <p:cNvSpPr/>
          <p:nvPr/>
        </p:nvSpPr>
        <p:spPr>
          <a:xfrm>
            <a:off x="10541079" y="6354128"/>
            <a:ext cx="3010019" cy="1303139"/>
          </a:xfrm>
          <a:prstGeom prst="roundRect">
            <a:avLst>
              <a:gd name="adj" fmla="val 2081"/>
            </a:avLst>
          </a:prstGeom>
          <a:solidFill>
            <a:srgbClr val="1D1D1B"/>
          </a:solidFill>
          <a:ln w="22860">
            <a:solidFill>
              <a:srgbClr val="555553"/>
            </a:solidFill>
            <a:prstDash val="solid"/>
          </a:ln>
        </p:spPr>
      </p:sp>
      <p:sp>
        <p:nvSpPr>
          <p:cNvPr id="18" name="Text 15"/>
          <p:cNvSpPr/>
          <p:nvPr/>
        </p:nvSpPr>
        <p:spPr>
          <a:xfrm>
            <a:off x="10744676" y="6557724"/>
            <a:ext cx="2359700" cy="290036"/>
          </a:xfrm>
          <a:prstGeom prst="rect">
            <a:avLst/>
          </a:prstGeom>
          <a:noFill/>
          <a:ln/>
        </p:spPr>
        <p:txBody>
          <a:bodyPr wrap="none" lIns="0" tIns="0" rIns="0" bIns="0" rtlCol="0" anchor="t"/>
          <a:lstStyle/>
          <a:p>
            <a:pPr algn="l" indent="0" marL="0">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Booking </a:t>
            </a:r>
            <a:pPr algn="l" indent="0" marL="0">
              <a:lnSpc>
                <a:spcPts val="2200"/>
              </a:lnSpc>
              <a:buNone/>
            </a:pPr>
            <a:r>
              <a:rPr lang="en-US" sz="1750" dirty="0">
                <a:solidFill>
                  <a:srgbClr val="000000"/>
                </a:solidFill>
                <a:latin typeface="Tomorrow Semi Bold" pitchFamily="34" charset="0"/>
                <a:ea typeface="Tomorrow Semi Bold" pitchFamily="34" charset="-122"/>
                <a:cs typeface="Tomorrow Semi Bold" pitchFamily="34" charset="-120"/>
              </a:rPr>
              <a:t>↔</a:t>
            </a:r>
            <a:pPr algn="l" indent="0" marL="0">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 Payment</a:t>
            </a:r>
            <a:endParaRPr lang="en-US" sz="1750" dirty="0"/>
          </a:p>
        </p:txBody>
      </p:sp>
      <p:sp>
        <p:nvSpPr>
          <p:cNvPr id="19" name="Text 16"/>
          <p:cNvSpPr/>
          <p:nvPr/>
        </p:nvSpPr>
        <p:spPr>
          <a:xfrm>
            <a:off x="10744676" y="6934081"/>
            <a:ext cx="2602825" cy="519589"/>
          </a:xfrm>
          <a:prstGeom prst="rect">
            <a:avLst/>
          </a:prstGeom>
          <a:noFill/>
          <a:ln/>
        </p:spPr>
        <p:txBody>
          <a:bodyPr wrap="square" lIns="0" tIns="0" rIns="0" bIns="0" rtlCol="0" anchor="t"/>
          <a:lstStyle/>
          <a:p>
            <a:pPr algn="l" indent="0" marL="0">
              <a:lnSpc>
                <a:spcPts val="2000"/>
              </a:lnSpc>
              <a:buNone/>
            </a:pPr>
            <a:r>
              <a:rPr lang="en-US" sz="1400" dirty="0">
                <a:solidFill>
                  <a:srgbClr val="C9C9C0"/>
                </a:solidFill>
                <a:latin typeface="Tomorrow" pitchFamily="34" charset="0"/>
                <a:ea typeface="Tomorrow" pitchFamily="34" charset="-122"/>
                <a:cs typeface="Tomorrow" pitchFamily="34" charset="-120"/>
              </a:rPr>
              <a:t>Each booking is linked to payment records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812846" y="450771"/>
            <a:ext cx="5359479" cy="498396"/>
          </a:xfrm>
          <a:prstGeom prst="rect">
            <a:avLst/>
          </a:prstGeom>
          <a:noFill/>
          <a:ln/>
        </p:spPr>
        <p:txBody>
          <a:bodyPr wrap="none" lIns="0" tIns="0" rIns="0" bIns="0" rtlCol="0" anchor="t"/>
          <a:lstStyle/>
          <a:p>
            <a:pPr algn="l" indent="0" marL="0">
              <a:lnSpc>
                <a:spcPts val="3900"/>
              </a:lnSpc>
              <a:buNone/>
            </a:pPr>
            <a:r>
              <a:rPr lang="en-US" sz="3100" dirty="0">
                <a:solidFill>
                  <a:srgbClr val="EDEDE8"/>
                </a:solidFill>
                <a:latin typeface="Tomorrow Semi Bold" pitchFamily="34" charset="0"/>
                <a:ea typeface="Tomorrow Semi Bold" pitchFamily="34" charset="-122"/>
                <a:cs typeface="Tomorrow Semi Bold" pitchFamily="34" charset="-120"/>
              </a:rPr>
              <a:t>Database Design — MySQL</a:t>
            </a:r>
            <a:endParaRPr lang="en-US" sz="3100" dirty="0"/>
          </a:p>
        </p:txBody>
      </p:sp>
      <p:sp>
        <p:nvSpPr>
          <p:cNvPr id="3" name="Text 1"/>
          <p:cNvSpPr/>
          <p:nvPr/>
        </p:nvSpPr>
        <p:spPr>
          <a:xfrm>
            <a:off x="1812846" y="1229320"/>
            <a:ext cx="2617827" cy="249079"/>
          </a:xfrm>
          <a:prstGeom prst="rect">
            <a:avLst/>
          </a:prstGeom>
          <a:noFill/>
          <a:ln/>
        </p:spPr>
        <p:txBody>
          <a:bodyPr wrap="none" lIns="0" tIns="0" rIns="0" bIns="0" rtlCol="0" anchor="t"/>
          <a:lstStyle/>
          <a:p>
            <a:pPr algn="l" indent="0" marL="0">
              <a:lnSpc>
                <a:spcPts val="1950"/>
              </a:lnSpc>
              <a:buNone/>
            </a:pPr>
            <a:r>
              <a:rPr lang="en-US" sz="1550" dirty="0">
                <a:solidFill>
                  <a:srgbClr val="EDEDE8"/>
                </a:solidFill>
                <a:latin typeface="Tomorrow Semi Bold" pitchFamily="34" charset="0"/>
                <a:ea typeface="Tomorrow Semi Bold" pitchFamily="34" charset="-122"/>
                <a:cs typeface="Tomorrow Semi Bold" pitchFamily="34" charset="-120"/>
              </a:rPr>
              <a:t>Main Tables Implemented</a:t>
            </a:r>
            <a:endParaRPr lang="en-US" sz="1550" dirty="0"/>
          </a:p>
        </p:txBody>
      </p:sp>
      <p:sp>
        <p:nvSpPr>
          <p:cNvPr id="4" name="Text 2"/>
          <p:cNvSpPr/>
          <p:nvPr/>
        </p:nvSpPr>
        <p:spPr>
          <a:xfrm>
            <a:off x="1812846" y="1590437"/>
            <a:ext cx="5307687" cy="434578"/>
          </a:xfrm>
          <a:prstGeom prst="rect">
            <a:avLst/>
          </a:prstGeom>
          <a:noFill/>
          <a:ln/>
        </p:spPr>
        <p:txBody>
          <a:bodyPr wrap="square" lIns="0" tIns="0" rIns="0" bIns="0" rtlCol="0" anchor="t"/>
          <a:lstStyle/>
          <a:p>
            <a:pPr algn="l" indent="0" marL="0">
              <a:lnSpc>
                <a:spcPts val="1700"/>
              </a:lnSpc>
              <a:buNone/>
            </a:pPr>
            <a:r>
              <a:rPr lang="en-US" sz="1250" dirty="0">
                <a:solidFill>
                  <a:srgbClr val="C9C9C0"/>
                </a:solidFill>
                <a:latin typeface="Tomorrow" pitchFamily="34" charset="0"/>
                <a:ea typeface="Tomorrow" pitchFamily="34" charset="-122"/>
                <a:cs typeface="Tomorrow" pitchFamily="34" charset="-120"/>
              </a:rPr>
              <a:t>The MySQL database is structured around six core tables that capture all structured hotel data, from room inventory to guest payments.</a:t>
            </a:r>
            <a:endParaRPr lang="en-US" sz="1250" dirty="0"/>
          </a:p>
        </p:txBody>
      </p:sp>
      <p:sp>
        <p:nvSpPr>
          <p:cNvPr id="5" name="Shape 3"/>
          <p:cNvSpPr/>
          <p:nvPr/>
        </p:nvSpPr>
        <p:spPr>
          <a:xfrm>
            <a:off x="7402354" y="1117283"/>
            <a:ext cx="5537478" cy="3231594"/>
          </a:xfrm>
          <a:prstGeom prst="roundRect">
            <a:avLst>
              <a:gd name="adj" fmla="val 740"/>
            </a:avLst>
          </a:prstGeom>
          <a:solidFill>
            <a:srgbClr val="1F1F1E"/>
          </a:solidFill>
          <a:ln/>
        </p:spPr>
      </p:sp>
      <p:sp>
        <p:nvSpPr>
          <p:cNvPr id="6" name="Text 4"/>
          <p:cNvSpPr/>
          <p:nvPr/>
        </p:nvSpPr>
        <p:spPr>
          <a:xfrm>
            <a:off x="7561778" y="1229320"/>
            <a:ext cx="1993583" cy="249079"/>
          </a:xfrm>
          <a:prstGeom prst="rect">
            <a:avLst/>
          </a:prstGeom>
          <a:noFill/>
          <a:ln/>
        </p:spPr>
        <p:txBody>
          <a:bodyPr wrap="none" lIns="0" tIns="0" rIns="0" bIns="0" rtlCol="0" anchor="t"/>
          <a:lstStyle/>
          <a:p>
            <a:pPr algn="l" indent="0" marL="0">
              <a:lnSpc>
                <a:spcPts val="1950"/>
              </a:lnSpc>
              <a:buNone/>
            </a:pPr>
            <a:r>
              <a:rPr lang="en-US" sz="1550" dirty="0">
                <a:solidFill>
                  <a:srgbClr val="EDEDE8"/>
                </a:solidFill>
                <a:latin typeface="Tomorrow Semi Bold" pitchFamily="34" charset="0"/>
                <a:ea typeface="Tomorrow Semi Bold" pitchFamily="34" charset="-122"/>
                <a:cs typeface="Tomorrow Semi Bold" pitchFamily="34" charset="-120"/>
              </a:rPr>
              <a:t>Normalisation</a:t>
            </a:r>
            <a:endParaRPr lang="en-US" sz="1550" dirty="0"/>
          </a:p>
        </p:txBody>
      </p:sp>
      <p:sp>
        <p:nvSpPr>
          <p:cNvPr id="7" name="Text 5"/>
          <p:cNvSpPr/>
          <p:nvPr/>
        </p:nvSpPr>
        <p:spPr>
          <a:xfrm>
            <a:off x="7561778" y="1590437"/>
            <a:ext cx="5218628" cy="434578"/>
          </a:xfrm>
          <a:prstGeom prst="rect">
            <a:avLst/>
          </a:prstGeom>
          <a:noFill/>
          <a:ln/>
        </p:spPr>
        <p:txBody>
          <a:bodyPr wrap="square" lIns="0" tIns="0" rIns="0" bIns="0" rtlCol="0" anchor="t"/>
          <a:lstStyle/>
          <a:p>
            <a:pPr algn="l" indent="0" marL="0">
              <a:lnSpc>
                <a:spcPts val="1700"/>
              </a:lnSpc>
              <a:buNone/>
            </a:pPr>
            <a:r>
              <a:rPr lang="en-US" sz="1250" dirty="0">
                <a:solidFill>
                  <a:srgbClr val="C9C9C0"/>
                </a:solidFill>
                <a:latin typeface="Tomorrow" pitchFamily="34" charset="0"/>
                <a:ea typeface="Tomorrow" pitchFamily="34" charset="-122"/>
                <a:cs typeface="Tomorrow" pitchFamily="34" charset="-120"/>
              </a:rPr>
              <a:t>The database schema is normalised up to </a:t>
            </a:r>
            <a:pPr algn="l" indent="0" marL="0">
              <a:lnSpc>
                <a:spcPts val="1700"/>
              </a:lnSpc>
              <a:buNone/>
            </a:pPr>
            <a:r>
              <a:rPr lang="en-US" sz="1250" b="1" dirty="0">
                <a:solidFill>
                  <a:srgbClr val="C9C9C0"/>
                </a:solidFill>
                <a:latin typeface="Tomorrow" pitchFamily="34" charset="0"/>
                <a:ea typeface="Tomorrow" pitchFamily="34" charset="-122"/>
                <a:cs typeface="Tomorrow" pitchFamily="34" charset="-120"/>
              </a:rPr>
              <a:t>Boyce-Codd Normal Form (BCNF)</a:t>
            </a:r>
            <a:pPr algn="l" indent="0" marL="0">
              <a:lnSpc>
                <a:spcPts val="1700"/>
              </a:lnSpc>
              <a:buNone/>
            </a:pPr>
            <a:r>
              <a:rPr lang="en-US" sz="1250" dirty="0">
                <a:solidFill>
                  <a:srgbClr val="C9C9C0"/>
                </a:solidFill>
                <a:latin typeface="Tomorrow" pitchFamily="34" charset="0"/>
                <a:ea typeface="Tomorrow" pitchFamily="34" charset="-122"/>
                <a:cs typeface="Tomorrow" pitchFamily="34" charset="-120"/>
              </a:rPr>
              <a:t>, ensuring:</a:t>
            </a:r>
            <a:endParaRPr lang="en-US" sz="1250" dirty="0"/>
          </a:p>
        </p:txBody>
      </p:sp>
      <p:sp>
        <p:nvSpPr>
          <p:cNvPr id="8" name="Text 6"/>
          <p:cNvSpPr/>
          <p:nvPr/>
        </p:nvSpPr>
        <p:spPr>
          <a:xfrm>
            <a:off x="7561778" y="2125861"/>
            <a:ext cx="5218628" cy="986671"/>
          </a:xfrm>
          <a:prstGeom prst="rect">
            <a:avLst/>
          </a:prstGeom>
          <a:noFill/>
          <a:ln/>
        </p:spPr>
        <p:txBody>
          <a:bodyPr wrap="square" lIns="0" tIns="0" rIns="0" bIns="0" rtlCol="0" anchor="t"/>
          <a:lstStyle/>
          <a:p>
            <a:pPr algn="l" marL="342900" indent="-342900">
              <a:lnSpc>
                <a:spcPts val="1700"/>
              </a:lnSpc>
              <a:buSzPct val="100000"/>
              <a:buChar char="•"/>
            </a:pPr>
            <a:r>
              <a:rPr lang="en-US" sz="1250" dirty="0">
                <a:solidFill>
                  <a:srgbClr val="C9C9C0"/>
                </a:solidFill>
                <a:latin typeface="Tomorrow" pitchFamily="34" charset="0"/>
                <a:ea typeface="Tomorrow" pitchFamily="34" charset="-122"/>
                <a:cs typeface="Tomorrow" pitchFamily="34" charset="-120"/>
              </a:rPr>
              <a:t>Elimination of data redundancy</a:t>
            </a:r>
            <a:endParaRPr lang="en-US" sz="1250" dirty="0"/>
          </a:p>
          <a:p>
            <a:pPr algn="l" marL="342900" indent="-342900">
              <a:lnSpc>
                <a:spcPts val="1700"/>
              </a:lnSpc>
              <a:buSzPct val="100000"/>
              <a:buChar char="•"/>
            </a:pPr>
            <a:r>
              <a:rPr lang="en-US" sz="1250" dirty="0">
                <a:solidFill>
                  <a:srgbClr val="C9C9C0"/>
                </a:solidFill>
                <a:latin typeface="Tomorrow" pitchFamily="34" charset="0"/>
                <a:ea typeface="Tomorrow" pitchFamily="34" charset="-122"/>
                <a:cs typeface="Tomorrow" pitchFamily="34" charset="-120"/>
              </a:rPr>
              <a:t>Prevention of update, insert, and delete anomalies</a:t>
            </a:r>
            <a:endParaRPr lang="en-US" sz="1250" dirty="0"/>
          </a:p>
          <a:p>
            <a:pPr algn="l" marL="342900" indent="-342900">
              <a:lnSpc>
                <a:spcPts val="1700"/>
              </a:lnSpc>
              <a:buSzPct val="100000"/>
              <a:buChar char="•"/>
            </a:pPr>
            <a:r>
              <a:rPr lang="en-US" sz="1250" dirty="0">
                <a:solidFill>
                  <a:srgbClr val="C9C9C0"/>
                </a:solidFill>
                <a:latin typeface="Tomorrow" pitchFamily="34" charset="0"/>
                <a:ea typeface="Tomorrow" pitchFamily="34" charset="-122"/>
                <a:cs typeface="Tomorrow" pitchFamily="34" charset="-120"/>
              </a:rPr>
              <a:t>Strong referential integrity across all tables</a:t>
            </a:r>
            <a:endParaRPr lang="en-US" sz="1250" dirty="0"/>
          </a:p>
          <a:p>
            <a:pPr algn="l" marL="342900" indent="-342900">
              <a:lnSpc>
                <a:spcPts val="1700"/>
              </a:lnSpc>
              <a:buSzPct val="100000"/>
              <a:buChar char="•"/>
            </a:pPr>
            <a:r>
              <a:rPr lang="en-US" sz="1250" dirty="0">
                <a:solidFill>
                  <a:srgbClr val="C9C9C0"/>
                </a:solidFill>
                <a:latin typeface="Tomorrow" pitchFamily="34" charset="0"/>
                <a:ea typeface="Tomorrow" pitchFamily="34" charset="-122"/>
                <a:cs typeface="Tomorrow" pitchFamily="34" charset="-120"/>
              </a:rPr>
              <a:t>Efficient query performance for management reports</a:t>
            </a:r>
            <a:endParaRPr lang="en-US" sz="1250" dirty="0"/>
          </a:p>
        </p:txBody>
      </p:sp>
      <p:sp>
        <p:nvSpPr>
          <p:cNvPr id="9" name="Shape 7"/>
          <p:cNvSpPr/>
          <p:nvPr/>
        </p:nvSpPr>
        <p:spPr>
          <a:xfrm>
            <a:off x="7561778" y="3238619"/>
            <a:ext cx="5218628" cy="984171"/>
          </a:xfrm>
          <a:prstGeom prst="roundRect">
            <a:avLst>
              <a:gd name="adj" fmla="val 2431"/>
            </a:avLst>
          </a:prstGeom>
          <a:solidFill>
            <a:srgbClr val="022349"/>
          </a:solidFill>
          <a:ln/>
        </p:spPr>
      </p:sp>
      <p:pic>
        <p:nvPicPr>
          <p:cNvPr id="10" name="Image 0" descr="preencoded.png">    </p:cNvPr>
          <p:cNvPicPr>
            <a:picLocks noChangeAspect="1"/>
          </p:cNvPicPr>
          <p:nvPr/>
        </p:nvPicPr>
        <p:blipFill>
          <a:blip r:embed="R0ca592b95b86424c"/>
          <a:stretch>
            <a:fillRect/>
          </a:stretch>
        </p:blipFill>
        <p:spPr>
          <a:xfrm>
            <a:off x="7721203" y="3465909"/>
            <a:ext cx="199311" cy="159425"/>
          </a:xfrm>
          <a:prstGeom prst="rect">
            <a:avLst/>
          </a:prstGeom>
        </p:spPr>
      </p:pic>
      <p:sp>
        <p:nvSpPr>
          <p:cNvPr id="11" name="Text 8"/>
          <p:cNvSpPr/>
          <p:nvPr/>
        </p:nvSpPr>
        <p:spPr>
          <a:xfrm>
            <a:off x="8079938" y="3390424"/>
            <a:ext cx="4541044" cy="651867"/>
          </a:xfrm>
          <a:prstGeom prst="rect">
            <a:avLst/>
          </a:prstGeom>
          <a:noFill/>
          <a:ln/>
        </p:spPr>
        <p:txBody>
          <a:bodyPr wrap="square" lIns="0" tIns="0" rIns="0" bIns="0" rtlCol="0" anchor="t"/>
          <a:lstStyle/>
          <a:p>
            <a:pPr algn="l" indent="0" marL="0">
              <a:lnSpc>
                <a:spcPts val="1700"/>
              </a:lnSpc>
              <a:buNone/>
            </a:pPr>
            <a:r>
              <a:rPr lang="en-US" sz="1250" dirty="0">
                <a:solidFill>
                  <a:srgbClr val="FFFFFF"/>
                </a:solidFill>
                <a:latin typeface="Tomorrow" pitchFamily="34" charset="0"/>
                <a:ea typeface="Tomorrow" pitchFamily="34" charset="-122"/>
                <a:cs typeface="Tomorrow" pitchFamily="34" charset="-120"/>
              </a:rPr>
              <a:t>BCNF is a stricter version of 3NF, ensuring every determinant is a candidate key — ideal for transactional hotel data.</a:t>
            </a:r>
            <a:endParaRPr lang="en-US" sz="1250" dirty="0"/>
          </a:p>
        </p:txBody>
      </p:sp>
      <p:sp>
        <p:nvSpPr>
          <p:cNvPr id="12" name="Text 9"/>
          <p:cNvSpPr/>
          <p:nvPr/>
        </p:nvSpPr>
        <p:spPr>
          <a:xfrm>
            <a:off x="1812846" y="4474964"/>
            <a:ext cx="318968" cy="199311"/>
          </a:xfrm>
          <a:prstGeom prst="rect">
            <a:avLst/>
          </a:prstGeom>
          <a:noFill/>
          <a:ln/>
        </p:spPr>
        <p:txBody>
          <a:bodyPr wrap="none" lIns="0" tIns="0" rIns="0" bIns="0" rtlCol="0" anchor="ctr"/>
          <a:lstStyle/>
          <a:p>
            <a:pPr algn="l" indent="0" marL="0">
              <a:lnSpc>
                <a:spcPts val="1700"/>
              </a:lnSpc>
              <a:buNone/>
            </a:pPr>
            <a:r>
              <a:rPr lang="en-US" sz="1250" dirty="0">
                <a:solidFill>
                  <a:srgbClr val="C9C9C0"/>
                </a:solidFill>
                <a:latin typeface="Tomorrow Light" pitchFamily="34" charset="0"/>
                <a:ea typeface="Tomorrow Light" pitchFamily="34" charset="-122"/>
                <a:cs typeface="Tomorrow Light" pitchFamily="34" charset="-120"/>
              </a:rPr>
              <a:t>01</a:t>
            </a:r>
            <a:endParaRPr lang="en-US" sz="1250" dirty="0"/>
          </a:p>
        </p:txBody>
      </p:sp>
      <p:sp>
        <p:nvSpPr>
          <p:cNvPr id="13" name="Shape 10"/>
          <p:cNvSpPr/>
          <p:nvPr/>
        </p:nvSpPr>
        <p:spPr>
          <a:xfrm>
            <a:off x="1812846" y="4722971"/>
            <a:ext cx="5446276" cy="22860"/>
          </a:xfrm>
          <a:prstGeom prst="rect">
            <a:avLst/>
          </a:prstGeom>
          <a:solidFill>
            <a:srgbClr val="E1E1DF"/>
          </a:solidFill>
          <a:ln/>
        </p:spPr>
      </p:sp>
      <p:sp>
        <p:nvSpPr>
          <p:cNvPr id="14" name="Text 11"/>
          <p:cNvSpPr/>
          <p:nvPr/>
        </p:nvSpPr>
        <p:spPr>
          <a:xfrm>
            <a:off x="1812846" y="4848344"/>
            <a:ext cx="1993583" cy="249079"/>
          </a:xfrm>
          <a:prstGeom prst="rect">
            <a:avLst/>
          </a:prstGeom>
          <a:noFill/>
          <a:ln/>
        </p:spPr>
        <p:txBody>
          <a:bodyPr wrap="none" lIns="0" tIns="0" rIns="0" bIns="0" rtlCol="0" anchor="t"/>
          <a:lstStyle/>
          <a:p>
            <a:pPr algn="l" indent="0" marL="0">
              <a:lnSpc>
                <a:spcPts val="1950"/>
              </a:lnSpc>
              <a:buNone/>
            </a:pPr>
            <a:r>
              <a:rPr lang="en-US" sz="1550" dirty="0">
                <a:solidFill>
                  <a:srgbClr val="C9C9C0"/>
                </a:solidFill>
                <a:latin typeface="Tomorrow Semi Bold" pitchFamily="34" charset="0"/>
                <a:ea typeface="Tomorrow Semi Bold" pitchFamily="34" charset="-122"/>
                <a:cs typeface="Tomorrow Semi Bold" pitchFamily="34" charset="-120"/>
              </a:rPr>
              <a:t>RoomType</a:t>
            </a:r>
            <a:endParaRPr lang="en-US" sz="1550" dirty="0"/>
          </a:p>
        </p:txBody>
      </p:sp>
      <p:sp>
        <p:nvSpPr>
          <p:cNvPr id="15" name="Text 12"/>
          <p:cNvSpPr/>
          <p:nvPr/>
        </p:nvSpPr>
        <p:spPr>
          <a:xfrm>
            <a:off x="1812846" y="5164693"/>
            <a:ext cx="5446276" cy="217289"/>
          </a:xfrm>
          <a:prstGeom prst="rect">
            <a:avLst/>
          </a:prstGeom>
          <a:noFill/>
          <a:ln/>
        </p:spPr>
        <p:txBody>
          <a:bodyPr wrap="none" lIns="0" tIns="0" rIns="0" bIns="0" rtlCol="0" anchor="t"/>
          <a:lstStyle/>
          <a:p>
            <a:pPr algn="l" indent="0" marL="0">
              <a:lnSpc>
                <a:spcPts val="1700"/>
              </a:lnSpc>
              <a:buNone/>
            </a:pPr>
            <a:r>
              <a:rPr lang="en-US" sz="1250" dirty="0">
                <a:solidFill>
                  <a:srgbClr val="C9C9C0"/>
                </a:solidFill>
                <a:latin typeface="Tomorrow" pitchFamily="34" charset="0"/>
                <a:ea typeface="Tomorrow" pitchFamily="34" charset="-122"/>
                <a:cs typeface="Tomorrow" pitchFamily="34" charset="-120"/>
              </a:rPr>
              <a:t>Defines categories: Single, Double, Deluxe, Suite</a:t>
            </a:r>
            <a:endParaRPr lang="en-US" sz="1250" dirty="0"/>
          </a:p>
        </p:txBody>
      </p:sp>
      <p:sp>
        <p:nvSpPr>
          <p:cNvPr id="16" name="Text 13"/>
          <p:cNvSpPr/>
          <p:nvPr/>
        </p:nvSpPr>
        <p:spPr>
          <a:xfrm>
            <a:off x="7371159" y="4474964"/>
            <a:ext cx="318968" cy="199311"/>
          </a:xfrm>
          <a:prstGeom prst="rect">
            <a:avLst/>
          </a:prstGeom>
          <a:noFill/>
          <a:ln/>
        </p:spPr>
        <p:txBody>
          <a:bodyPr wrap="none" lIns="0" tIns="0" rIns="0" bIns="0" rtlCol="0" anchor="ctr"/>
          <a:lstStyle/>
          <a:p>
            <a:pPr algn="l" indent="0" marL="0">
              <a:lnSpc>
                <a:spcPts val="1700"/>
              </a:lnSpc>
              <a:buNone/>
            </a:pPr>
            <a:r>
              <a:rPr lang="en-US" sz="1250" dirty="0">
                <a:solidFill>
                  <a:srgbClr val="C9C9C0"/>
                </a:solidFill>
                <a:latin typeface="Tomorrow Light" pitchFamily="34" charset="0"/>
                <a:ea typeface="Tomorrow Light" pitchFamily="34" charset="-122"/>
                <a:cs typeface="Tomorrow Light" pitchFamily="34" charset="-120"/>
              </a:rPr>
              <a:t>02</a:t>
            </a:r>
            <a:endParaRPr lang="en-US" sz="1250" dirty="0"/>
          </a:p>
        </p:txBody>
      </p:sp>
      <p:sp>
        <p:nvSpPr>
          <p:cNvPr id="17" name="Shape 14"/>
          <p:cNvSpPr/>
          <p:nvPr/>
        </p:nvSpPr>
        <p:spPr>
          <a:xfrm>
            <a:off x="7371159" y="4722971"/>
            <a:ext cx="5446276" cy="22860"/>
          </a:xfrm>
          <a:prstGeom prst="rect">
            <a:avLst/>
          </a:prstGeom>
          <a:solidFill>
            <a:srgbClr val="E1E1DF"/>
          </a:solidFill>
          <a:ln/>
        </p:spPr>
      </p:sp>
      <p:sp>
        <p:nvSpPr>
          <p:cNvPr id="18" name="Text 15"/>
          <p:cNvSpPr/>
          <p:nvPr/>
        </p:nvSpPr>
        <p:spPr>
          <a:xfrm>
            <a:off x="7371159" y="4848344"/>
            <a:ext cx="1993583" cy="249079"/>
          </a:xfrm>
          <a:prstGeom prst="rect">
            <a:avLst/>
          </a:prstGeom>
          <a:noFill/>
          <a:ln/>
        </p:spPr>
        <p:txBody>
          <a:bodyPr wrap="none" lIns="0" tIns="0" rIns="0" bIns="0" rtlCol="0" anchor="t"/>
          <a:lstStyle/>
          <a:p>
            <a:pPr algn="l" indent="0" marL="0">
              <a:lnSpc>
                <a:spcPts val="1950"/>
              </a:lnSpc>
              <a:buNone/>
            </a:pPr>
            <a:r>
              <a:rPr lang="en-US" sz="1550" dirty="0">
                <a:solidFill>
                  <a:srgbClr val="C9C9C0"/>
                </a:solidFill>
                <a:latin typeface="Tomorrow Semi Bold" pitchFamily="34" charset="0"/>
                <a:ea typeface="Tomorrow Semi Bold" pitchFamily="34" charset="-122"/>
                <a:cs typeface="Tomorrow Semi Bold" pitchFamily="34" charset="-120"/>
              </a:rPr>
              <a:t>Room</a:t>
            </a:r>
            <a:endParaRPr lang="en-US" sz="1550" dirty="0"/>
          </a:p>
        </p:txBody>
      </p:sp>
      <p:sp>
        <p:nvSpPr>
          <p:cNvPr id="19" name="Text 16"/>
          <p:cNvSpPr/>
          <p:nvPr/>
        </p:nvSpPr>
        <p:spPr>
          <a:xfrm>
            <a:off x="7371159" y="5164693"/>
            <a:ext cx="5446276" cy="217289"/>
          </a:xfrm>
          <a:prstGeom prst="rect">
            <a:avLst/>
          </a:prstGeom>
          <a:noFill/>
          <a:ln/>
        </p:spPr>
        <p:txBody>
          <a:bodyPr wrap="none" lIns="0" tIns="0" rIns="0" bIns="0" rtlCol="0" anchor="t"/>
          <a:lstStyle/>
          <a:p>
            <a:pPr algn="l" indent="0" marL="0">
              <a:lnSpc>
                <a:spcPts val="1700"/>
              </a:lnSpc>
              <a:buNone/>
            </a:pPr>
            <a:r>
              <a:rPr lang="en-US" sz="1250" dirty="0">
                <a:solidFill>
                  <a:srgbClr val="C9C9C0"/>
                </a:solidFill>
                <a:latin typeface="Tomorrow" pitchFamily="34" charset="0"/>
                <a:ea typeface="Tomorrow" pitchFamily="34" charset="-122"/>
                <a:cs typeface="Tomorrow" pitchFamily="34" charset="-120"/>
              </a:rPr>
              <a:t>Individual room records linked to RoomType</a:t>
            </a:r>
            <a:endParaRPr lang="en-US" sz="1250" dirty="0"/>
          </a:p>
        </p:txBody>
      </p:sp>
      <p:sp>
        <p:nvSpPr>
          <p:cNvPr id="20" name="Text 17"/>
          <p:cNvSpPr/>
          <p:nvPr/>
        </p:nvSpPr>
        <p:spPr>
          <a:xfrm>
            <a:off x="1812846" y="5613559"/>
            <a:ext cx="318968" cy="199311"/>
          </a:xfrm>
          <a:prstGeom prst="rect">
            <a:avLst/>
          </a:prstGeom>
          <a:noFill/>
          <a:ln/>
        </p:spPr>
        <p:txBody>
          <a:bodyPr wrap="none" lIns="0" tIns="0" rIns="0" bIns="0" rtlCol="0" anchor="ctr"/>
          <a:lstStyle/>
          <a:p>
            <a:pPr algn="l" indent="0" marL="0">
              <a:lnSpc>
                <a:spcPts val="1700"/>
              </a:lnSpc>
              <a:buNone/>
            </a:pPr>
            <a:r>
              <a:rPr lang="en-US" sz="1250" dirty="0">
                <a:solidFill>
                  <a:srgbClr val="C9C9C0"/>
                </a:solidFill>
                <a:latin typeface="Tomorrow Light" pitchFamily="34" charset="0"/>
                <a:ea typeface="Tomorrow Light" pitchFamily="34" charset="-122"/>
                <a:cs typeface="Tomorrow Light" pitchFamily="34" charset="-120"/>
              </a:rPr>
              <a:t>03</a:t>
            </a:r>
            <a:endParaRPr lang="en-US" sz="1250" dirty="0"/>
          </a:p>
        </p:txBody>
      </p:sp>
      <p:sp>
        <p:nvSpPr>
          <p:cNvPr id="21" name="Shape 18"/>
          <p:cNvSpPr/>
          <p:nvPr/>
        </p:nvSpPr>
        <p:spPr>
          <a:xfrm>
            <a:off x="1812846" y="5861566"/>
            <a:ext cx="5446276" cy="22860"/>
          </a:xfrm>
          <a:prstGeom prst="rect">
            <a:avLst/>
          </a:prstGeom>
          <a:solidFill>
            <a:srgbClr val="E1E1DF"/>
          </a:solidFill>
          <a:ln/>
        </p:spPr>
      </p:sp>
      <p:sp>
        <p:nvSpPr>
          <p:cNvPr id="22" name="Text 19"/>
          <p:cNvSpPr/>
          <p:nvPr/>
        </p:nvSpPr>
        <p:spPr>
          <a:xfrm>
            <a:off x="1812846" y="5986939"/>
            <a:ext cx="1993583" cy="249079"/>
          </a:xfrm>
          <a:prstGeom prst="rect">
            <a:avLst/>
          </a:prstGeom>
          <a:noFill/>
          <a:ln/>
        </p:spPr>
        <p:txBody>
          <a:bodyPr wrap="none" lIns="0" tIns="0" rIns="0" bIns="0" rtlCol="0" anchor="t"/>
          <a:lstStyle/>
          <a:p>
            <a:pPr algn="l" indent="0" marL="0">
              <a:lnSpc>
                <a:spcPts val="1950"/>
              </a:lnSpc>
              <a:buNone/>
            </a:pPr>
            <a:r>
              <a:rPr lang="en-US" sz="1550" dirty="0">
                <a:solidFill>
                  <a:srgbClr val="C9C9C0"/>
                </a:solidFill>
                <a:latin typeface="Tomorrow Semi Bold" pitchFamily="34" charset="0"/>
                <a:ea typeface="Tomorrow Semi Bold" pitchFamily="34" charset="-122"/>
                <a:cs typeface="Tomorrow Semi Bold" pitchFamily="34" charset="-120"/>
              </a:rPr>
              <a:t>Guest</a:t>
            </a:r>
            <a:endParaRPr lang="en-US" sz="1550" dirty="0"/>
          </a:p>
        </p:txBody>
      </p:sp>
      <p:sp>
        <p:nvSpPr>
          <p:cNvPr id="23" name="Text 20"/>
          <p:cNvSpPr/>
          <p:nvPr/>
        </p:nvSpPr>
        <p:spPr>
          <a:xfrm>
            <a:off x="1812846" y="6303288"/>
            <a:ext cx="5446276" cy="217289"/>
          </a:xfrm>
          <a:prstGeom prst="rect">
            <a:avLst/>
          </a:prstGeom>
          <a:noFill/>
          <a:ln/>
        </p:spPr>
        <p:txBody>
          <a:bodyPr wrap="none" lIns="0" tIns="0" rIns="0" bIns="0" rtlCol="0" anchor="t"/>
          <a:lstStyle/>
          <a:p>
            <a:pPr algn="l" indent="0" marL="0">
              <a:lnSpc>
                <a:spcPts val="1700"/>
              </a:lnSpc>
              <a:buNone/>
            </a:pPr>
            <a:r>
              <a:rPr lang="en-US" sz="1250" dirty="0">
                <a:solidFill>
                  <a:srgbClr val="C9C9C0"/>
                </a:solidFill>
                <a:latin typeface="Tomorrow" pitchFamily="34" charset="0"/>
                <a:ea typeface="Tomorrow" pitchFamily="34" charset="-122"/>
                <a:cs typeface="Tomorrow" pitchFamily="34" charset="-120"/>
              </a:rPr>
              <a:t>Guest personal information and contact details</a:t>
            </a:r>
            <a:endParaRPr lang="en-US" sz="1250" dirty="0"/>
          </a:p>
        </p:txBody>
      </p:sp>
      <p:sp>
        <p:nvSpPr>
          <p:cNvPr id="24" name="Text 21"/>
          <p:cNvSpPr/>
          <p:nvPr/>
        </p:nvSpPr>
        <p:spPr>
          <a:xfrm>
            <a:off x="7371159" y="5613559"/>
            <a:ext cx="318968" cy="199311"/>
          </a:xfrm>
          <a:prstGeom prst="rect">
            <a:avLst/>
          </a:prstGeom>
          <a:noFill/>
          <a:ln/>
        </p:spPr>
        <p:txBody>
          <a:bodyPr wrap="none" lIns="0" tIns="0" rIns="0" bIns="0" rtlCol="0" anchor="ctr"/>
          <a:lstStyle/>
          <a:p>
            <a:pPr algn="l" indent="0" marL="0">
              <a:lnSpc>
                <a:spcPts val="1700"/>
              </a:lnSpc>
              <a:buNone/>
            </a:pPr>
            <a:r>
              <a:rPr lang="en-US" sz="1250" dirty="0">
                <a:solidFill>
                  <a:srgbClr val="C9C9C0"/>
                </a:solidFill>
                <a:latin typeface="Tomorrow Light" pitchFamily="34" charset="0"/>
                <a:ea typeface="Tomorrow Light" pitchFamily="34" charset="-122"/>
                <a:cs typeface="Tomorrow Light" pitchFamily="34" charset="-120"/>
              </a:rPr>
              <a:t>04</a:t>
            </a:r>
            <a:endParaRPr lang="en-US" sz="1250" dirty="0"/>
          </a:p>
        </p:txBody>
      </p:sp>
      <p:sp>
        <p:nvSpPr>
          <p:cNvPr id="25" name="Shape 22"/>
          <p:cNvSpPr/>
          <p:nvPr/>
        </p:nvSpPr>
        <p:spPr>
          <a:xfrm>
            <a:off x="7371159" y="5861566"/>
            <a:ext cx="5446276" cy="22860"/>
          </a:xfrm>
          <a:prstGeom prst="rect">
            <a:avLst/>
          </a:prstGeom>
          <a:solidFill>
            <a:srgbClr val="E1E1DF"/>
          </a:solidFill>
          <a:ln/>
        </p:spPr>
      </p:sp>
      <p:sp>
        <p:nvSpPr>
          <p:cNvPr id="26" name="Text 23"/>
          <p:cNvSpPr/>
          <p:nvPr/>
        </p:nvSpPr>
        <p:spPr>
          <a:xfrm>
            <a:off x="7371159" y="5986939"/>
            <a:ext cx="1993583" cy="249079"/>
          </a:xfrm>
          <a:prstGeom prst="rect">
            <a:avLst/>
          </a:prstGeom>
          <a:noFill/>
          <a:ln/>
        </p:spPr>
        <p:txBody>
          <a:bodyPr wrap="none" lIns="0" tIns="0" rIns="0" bIns="0" rtlCol="0" anchor="t"/>
          <a:lstStyle/>
          <a:p>
            <a:pPr algn="l" indent="0" marL="0">
              <a:lnSpc>
                <a:spcPts val="1950"/>
              </a:lnSpc>
              <a:buNone/>
            </a:pPr>
            <a:r>
              <a:rPr lang="en-US" sz="1550" dirty="0">
                <a:solidFill>
                  <a:srgbClr val="C9C9C0"/>
                </a:solidFill>
                <a:latin typeface="Tomorrow Semi Bold" pitchFamily="34" charset="0"/>
                <a:ea typeface="Tomorrow Semi Bold" pitchFamily="34" charset="-122"/>
                <a:cs typeface="Tomorrow Semi Bold" pitchFamily="34" charset="-120"/>
              </a:rPr>
              <a:t>Booking</a:t>
            </a:r>
            <a:endParaRPr lang="en-US" sz="1550" dirty="0"/>
          </a:p>
        </p:txBody>
      </p:sp>
      <p:sp>
        <p:nvSpPr>
          <p:cNvPr id="27" name="Text 24"/>
          <p:cNvSpPr/>
          <p:nvPr/>
        </p:nvSpPr>
        <p:spPr>
          <a:xfrm>
            <a:off x="7371159" y="6303288"/>
            <a:ext cx="5446276" cy="217289"/>
          </a:xfrm>
          <a:prstGeom prst="rect">
            <a:avLst/>
          </a:prstGeom>
          <a:noFill/>
          <a:ln/>
        </p:spPr>
        <p:txBody>
          <a:bodyPr wrap="none" lIns="0" tIns="0" rIns="0" bIns="0" rtlCol="0" anchor="t"/>
          <a:lstStyle/>
          <a:p>
            <a:pPr algn="l" indent="0" marL="0">
              <a:lnSpc>
                <a:spcPts val="1700"/>
              </a:lnSpc>
              <a:buNone/>
            </a:pPr>
            <a:r>
              <a:rPr lang="en-US" sz="1250" dirty="0">
                <a:solidFill>
                  <a:srgbClr val="C9C9C0"/>
                </a:solidFill>
                <a:latin typeface="Tomorrow" pitchFamily="34" charset="0"/>
                <a:ea typeface="Tomorrow" pitchFamily="34" charset="-122"/>
                <a:cs typeface="Tomorrow" pitchFamily="34" charset="-120"/>
              </a:rPr>
              <a:t>Reservation records with check-in/check-out dates</a:t>
            </a:r>
            <a:endParaRPr lang="en-US" sz="1250" dirty="0"/>
          </a:p>
        </p:txBody>
      </p:sp>
      <p:sp>
        <p:nvSpPr>
          <p:cNvPr id="28" name="Text 25"/>
          <p:cNvSpPr/>
          <p:nvPr/>
        </p:nvSpPr>
        <p:spPr>
          <a:xfrm>
            <a:off x="1812846" y="6752153"/>
            <a:ext cx="318968" cy="199311"/>
          </a:xfrm>
          <a:prstGeom prst="rect">
            <a:avLst/>
          </a:prstGeom>
          <a:noFill/>
          <a:ln/>
        </p:spPr>
        <p:txBody>
          <a:bodyPr wrap="none" lIns="0" tIns="0" rIns="0" bIns="0" rtlCol="0" anchor="ctr"/>
          <a:lstStyle/>
          <a:p>
            <a:pPr algn="l" indent="0" marL="0">
              <a:lnSpc>
                <a:spcPts val="1700"/>
              </a:lnSpc>
              <a:buNone/>
            </a:pPr>
            <a:r>
              <a:rPr lang="en-US" sz="1250" dirty="0">
                <a:solidFill>
                  <a:srgbClr val="C9C9C0"/>
                </a:solidFill>
                <a:latin typeface="Tomorrow Light" pitchFamily="34" charset="0"/>
                <a:ea typeface="Tomorrow Light" pitchFamily="34" charset="-122"/>
                <a:cs typeface="Tomorrow Light" pitchFamily="34" charset="-120"/>
              </a:rPr>
              <a:t>05</a:t>
            </a:r>
            <a:endParaRPr lang="en-US" sz="1250" dirty="0"/>
          </a:p>
        </p:txBody>
      </p:sp>
      <p:sp>
        <p:nvSpPr>
          <p:cNvPr id="29" name="Shape 26"/>
          <p:cNvSpPr/>
          <p:nvPr/>
        </p:nvSpPr>
        <p:spPr>
          <a:xfrm>
            <a:off x="1812846" y="7000161"/>
            <a:ext cx="5446276" cy="22860"/>
          </a:xfrm>
          <a:prstGeom prst="rect">
            <a:avLst/>
          </a:prstGeom>
          <a:solidFill>
            <a:srgbClr val="E1E1DF"/>
          </a:solidFill>
          <a:ln/>
        </p:spPr>
      </p:sp>
      <p:sp>
        <p:nvSpPr>
          <p:cNvPr id="30" name="Text 27"/>
          <p:cNvSpPr/>
          <p:nvPr/>
        </p:nvSpPr>
        <p:spPr>
          <a:xfrm>
            <a:off x="1812846" y="7125533"/>
            <a:ext cx="1993583" cy="249079"/>
          </a:xfrm>
          <a:prstGeom prst="rect">
            <a:avLst/>
          </a:prstGeom>
          <a:noFill/>
          <a:ln/>
        </p:spPr>
        <p:txBody>
          <a:bodyPr wrap="none" lIns="0" tIns="0" rIns="0" bIns="0" rtlCol="0" anchor="t"/>
          <a:lstStyle/>
          <a:p>
            <a:pPr algn="l" indent="0" marL="0">
              <a:lnSpc>
                <a:spcPts val="1950"/>
              </a:lnSpc>
              <a:buNone/>
            </a:pPr>
            <a:r>
              <a:rPr lang="en-US" sz="1550" dirty="0">
                <a:solidFill>
                  <a:srgbClr val="C9C9C0"/>
                </a:solidFill>
                <a:latin typeface="Tomorrow Semi Bold" pitchFamily="34" charset="0"/>
                <a:ea typeface="Tomorrow Semi Bold" pitchFamily="34" charset="-122"/>
                <a:cs typeface="Tomorrow Semi Bold" pitchFamily="34" charset="-120"/>
              </a:rPr>
              <a:t>BookingRoom</a:t>
            </a:r>
            <a:endParaRPr lang="en-US" sz="1550" dirty="0"/>
          </a:p>
        </p:txBody>
      </p:sp>
      <p:sp>
        <p:nvSpPr>
          <p:cNvPr id="31" name="Text 28"/>
          <p:cNvSpPr/>
          <p:nvPr/>
        </p:nvSpPr>
        <p:spPr>
          <a:xfrm>
            <a:off x="1812846" y="7441883"/>
            <a:ext cx="5446276" cy="217289"/>
          </a:xfrm>
          <a:prstGeom prst="rect">
            <a:avLst/>
          </a:prstGeom>
          <a:noFill/>
          <a:ln/>
        </p:spPr>
        <p:txBody>
          <a:bodyPr wrap="none" lIns="0" tIns="0" rIns="0" bIns="0" rtlCol="0" anchor="t"/>
          <a:lstStyle/>
          <a:p>
            <a:pPr algn="l" indent="0" marL="0">
              <a:lnSpc>
                <a:spcPts val="1700"/>
              </a:lnSpc>
              <a:buNone/>
            </a:pPr>
            <a:r>
              <a:rPr lang="en-US" sz="1250" dirty="0">
                <a:solidFill>
                  <a:srgbClr val="C9C9C0"/>
                </a:solidFill>
                <a:latin typeface="Tomorrow" pitchFamily="34" charset="0"/>
                <a:ea typeface="Tomorrow" pitchFamily="34" charset="-122"/>
                <a:cs typeface="Tomorrow" pitchFamily="34" charset="-120"/>
              </a:rPr>
              <a:t>Junction table resolving many-to-many relationship</a:t>
            </a:r>
            <a:endParaRPr lang="en-US" sz="1250" dirty="0"/>
          </a:p>
        </p:txBody>
      </p:sp>
      <p:sp>
        <p:nvSpPr>
          <p:cNvPr id="32" name="Text 29"/>
          <p:cNvSpPr/>
          <p:nvPr/>
        </p:nvSpPr>
        <p:spPr>
          <a:xfrm>
            <a:off x="7371159" y="6752153"/>
            <a:ext cx="318968" cy="199311"/>
          </a:xfrm>
          <a:prstGeom prst="rect">
            <a:avLst/>
          </a:prstGeom>
          <a:noFill/>
          <a:ln/>
        </p:spPr>
        <p:txBody>
          <a:bodyPr wrap="none" lIns="0" tIns="0" rIns="0" bIns="0" rtlCol="0" anchor="ctr"/>
          <a:lstStyle/>
          <a:p>
            <a:pPr algn="l" indent="0" marL="0">
              <a:lnSpc>
                <a:spcPts val="1700"/>
              </a:lnSpc>
              <a:buNone/>
            </a:pPr>
            <a:r>
              <a:rPr lang="en-US" sz="1250" dirty="0">
                <a:solidFill>
                  <a:srgbClr val="C9C9C0"/>
                </a:solidFill>
                <a:latin typeface="Tomorrow Light" pitchFamily="34" charset="0"/>
                <a:ea typeface="Tomorrow Light" pitchFamily="34" charset="-122"/>
                <a:cs typeface="Tomorrow Light" pitchFamily="34" charset="-120"/>
              </a:rPr>
              <a:t>06</a:t>
            </a:r>
            <a:endParaRPr lang="en-US" sz="1250" dirty="0"/>
          </a:p>
        </p:txBody>
      </p:sp>
      <p:sp>
        <p:nvSpPr>
          <p:cNvPr id="33" name="Shape 30"/>
          <p:cNvSpPr/>
          <p:nvPr/>
        </p:nvSpPr>
        <p:spPr>
          <a:xfrm>
            <a:off x="7371159" y="7000161"/>
            <a:ext cx="5446276" cy="22860"/>
          </a:xfrm>
          <a:prstGeom prst="rect">
            <a:avLst/>
          </a:prstGeom>
          <a:solidFill>
            <a:srgbClr val="E1E1DF"/>
          </a:solidFill>
          <a:ln/>
        </p:spPr>
      </p:sp>
      <p:sp>
        <p:nvSpPr>
          <p:cNvPr id="34" name="Text 31"/>
          <p:cNvSpPr/>
          <p:nvPr/>
        </p:nvSpPr>
        <p:spPr>
          <a:xfrm>
            <a:off x="7371159" y="7125533"/>
            <a:ext cx="1993583" cy="249079"/>
          </a:xfrm>
          <a:prstGeom prst="rect">
            <a:avLst/>
          </a:prstGeom>
          <a:noFill/>
          <a:ln/>
        </p:spPr>
        <p:txBody>
          <a:bodyPr wrap="none" lIns="0" tIns="0" rIns="0" bIns="0" rtlCol="0" anchor="t"/>
          <a:lstStyle/>
          <a:p>
            <a:pPr algn="l" indent="0" marL="0">
              <a:lnSpc>
                <a:spcPts val="1950"/>
              </a:lnSpc>
              <a:buNone/>
            </a:pPr>
            <a:r>
              <a:rPr lang="en-US" sz="1550" dirty="0">
                <a:solidFill>
                  <a:srgbClr val="C9C9C0"/>
                </a:solidFill>
                <a:latin typeface="Tomorrow Semi Bold" pitchFamily="34" charset="0"/>
                <a:ea typeface="Tomorrow Semi Bold" pitchFamily="34" charset="-122"/>
                <a:cs typeface="Tomorrow Semi Bold" pitchFamily="34" charset="-120"/>
              </a:rPr>
              <a:t>Payment</a:t>
            </a:r>
            <a:endParaRPr lang="en-US" sz="1550" dirty="0"/>
          </a:p>
        </p:txBody>
      </p:sp>
      <p:sp>
        <p:nvSpPr>
          <p:cNvPr id="35" name="Text 32"/>
          <p:cNvSpPr/>
          <p:nvPr/>
        </p:nvSpPr>
        <p:spPr>
          <a:xfrm>
            <a:off x="7371159" y="7441883"/>
            <a:ext cx="5446276" cy="217289"/>
          </a:xfrm>
          <a:prstGeom prst="rect">
            <a:avLst/>
          </a:prstGeom>
          <a:noFill/>
          <a:ln/>
        </p:spPr>
        <p:txBody>
          <a:bodyPr wrap="none" lIns="0" tIns="0" rIns="0" bIns="0" rtlCol="0" anchor="t"/>
          <a:lstStyle/>
          <a:p>
            <a:pPr algn="l" indent="0" marL="0">
              <a:lnSpc>
                <a:spcPts val="1700"/>
              </a:lnSpc>
              <a:buNone/>
            </a:pPr>
            <a:r>
              <a:rPr lang="en-US" sz="1250" dirty="0">
                <a:solidFill>
                  <a:srgbClr val="C9C9C0"/>
                </a:solidFill>
                <a:latin typeface="Tomorrow" pitchFamily="34" charset="0"/>
                <a:ea typeface="Tomorrow" pitchFamily="34" charset="-122"/>
                <a:cs typeface="Tomorrow" pitchFamily="34" charset="-120"/>
              </a:rPr>
              <a:t>Transaction records linked to bookings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185029"/>
            <a:ext cx="6804898" cy="708779"/>
          </a:xfrm>
          <a:prstGeom prst="rect">
            <a:avLst/>
          </a:prstGeom>
          <a:noFill/>
          <a:ln/>
        </p:spPr>
        <p:txBody>
          <a:bodyPr wrap="none" lIns="0" tIns="0" rIns="0" bIns="0" rtlCol="0" anchor="t"/>
          <a:lstStyle/>
          <a:p>
            <a:pPr algn="l" indent="0" marL="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MySQL Implementation</a:t>
            </a:r>
            <a:endParaRPr lang="en-US" sz="4450" dirty="0"/>
          </a:p>
        </p:txBody>
      </p:sp>
      <p:sp>
        <p:nvSpPr>
          <p:cNvPr id="3" name="Text 1"/>
          <p:cNvSpPr/>
          <p:nvPr/>
        </p:nvSpPr>
        <p:spPr>
          <a:xfrm>
            <a:off x="793790" y="2347436"/>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The following screenshots demonstrate the practical implementation of the MySQL database, including table structures, sample queries, and their results.</a:t>
            </a:r>
            <a:endParaRPr lang="en-US" sz="1750" dirty="0"/>
          </a:p>
        </p:txBody>
      </p:sp>
      <p:pic>
        <p:nvPicPr>
          <p:cNvPr id="4" name="Image 0" descr="preencoded.png">    </p:cNvPr>
          <p:cNvPicPr>
            <a:picLocks noChangeAspect="1"/>
          </p:cNvPicPr>
          <p:nvPr/>
        </p:nvPicPr>
        <p:blipFill>
          <a:blip r:embed="R0934d5de0a494b3a"/>
          <a:stretch>
            <a:fillRect/>
          </a:stretch>
        </p:blipFill>
        <p:spPr>
          <a:xfrm>
            <a:off x="793790" y="3328392"/>
            <a:ext cx="2411968" cy="1490663"/>
          </a:xfrm>
          <a:prstGeom prst="rect">
            <a:avLst/>
          </a:prstGeom>
        </p:spPr>
      </p:pic>
      <p:sp>
        <p:nvSpPr>
          <p:cNvPr id="5" name="Text 2"/>
          <p:cNvSpPr/>
          <p:nvPr/>
        </p:nvSpPr>
        <p:spPr>
          <a:xfrm>
            <a:off x="793790" y="5102543"/>
            <a:ext cx="4138374"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Table Structure (schema.sql)</a:t>
            </a:r>
            <a:endParaRPr lang="en-US" sz="2200" dirty="0"/>
          </a:p>
        </p:txBody>
      </p:sp>
      <p:sp>
        <p:nvSpPr>
          <p:cNvPr id="6" name="Text 3"/>
          <p:cNvSpPr/>
          <p:nvPr/>
        </p:nvSpPr>
        <p:spPr>
          <a:xfrm>
            <a:off x="793790" y="5592961"/>
            <a:ext cx="4158615" cy="1451610"/>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Screenshots of the SQL schema showing table definitions, data types, primary keys, foreign keys, and constraints for all six main tables.</a:t>
            </a:r>
            <a:endParaRPr lang="en-US" sz="1750" dirty="0"/>
          </a:p>
        </p:txBody>
      </p:sp>
      <p:pic>
        <p:nvPicPr>
          <p:cNvPr id="7" name="Image 1" descr="preencoded.png">    </p:cNvPr>
          <p:cNvPicPr>
            <a:picLocks noChangeAspect="1"/>
          </p:cNvPicPr>
          <p:nvPr/>
        </p:nvPicPr>
        <p:blipFill>
          <a:blip r:embed="Rfb5f29e74c044a50"/>
          <a:stretch>
            <a:fillRect/>
          </a:stretch>
        </p:blipFill>
        <p:spPr>
          <a:xfrm>
            <a:off x="5235893" y="3328392"/>
            <a:ext cx="2411968" cy="1490663"/>
          </a:xfrm>
          <a:prstGeom prst="rect">
            <a:avLst/>
          </a:prstGeom>
        </p:spPr>
      </p:pic>
      <p:sp>
        <p:nvSpPr>
          <p:cNvPr id="8" name="Text 4"/>
          <p:cNvSpPr/>
          <p:nvPr/>
        </p:nvSpPr>
        <p:spPr>
          <a:xfrm>
            <a:off x="5235893" y="5102543"/>
            <a:ext cx="3726061"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Sample Queries &amp; Results</a:t>
            </a:r>
            <a:endParaRPr lang="en-US" sz="2200" dirty="0"/>
          </a:p>
        </p:txBody>
      </p:sp>
      <p:sp>
        <p:nvSpPr>
          <p:cNvPr id="9" name="Text 5"/>
          <p:cNvSpPr/>
          <p:nvPr/>
        </p:nvSpPr>
        <p:spPr>
          <a:xfrm>
            <a:off x="5235893" y="5592961"/>
            <a:ext cx="4158615" cy="1451610"/>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Demonstration of key SQL queries including booking lookups, availability checks, and revenue calculations with their output results.</a:t>
            </a:r>
            <a:endParaRPr lang="en-US" sz="1750" dirty="0"/>
          </a:p>
        </p:txBody>
      </p:sp>
      <p:pic>
        <p:nvPicPr>
          <p:cNvPr id="10" name="Image 2" descr="preencoded.png">    </p:cNvPr>
          <p:cNvPicPr>
            <a:picLocks noChangeAspect="1"/>
          </p:cNvPicPr>
          <p:nvPr/>
        </p:nvPicPr>
        <p:blipFill>
          <a:blip r:embed="R6575e11db096425c"/>
          <a:stretch>
            <a:fillRect/>
          </a:stretch>
        </p:blipFill>
        <p:spPr>
          <a:xfrm>
            <a:off x="9677995" y="3328392"/>
            <a:ext cx="2411968" cy="1490663"/>
          </a:xfrm>
          <a:prstGeom prst="rect">
            <a:avLst/>
          </a:prstGeom>
        </p:spPr>
      </p:pic>
      <p:sp>
        <p:nvSpPr>
          <p:cNvPr id="11" name="Text 6"/>
          <p:cNvSpPr/>
          <p:nvPr/>
        </p:nvSpPr>
        <p:spPr>
          <a:xfrm>
            <a:off x="9677995" y="510254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Key Features</a:t>
            </a:r>
            <a:endParaRPr lang="en-US" sz="2200" dirty="0"/>
          </a:p>
        </p:txBody>
      </p:sp>
      <p:sp>
        <p:nvSpPr>
          <p:cNvPr id="12" name="Text 7"/>
          <p:cNvSpPr/>
          <p:nvPr/>
        </p:nvSpPr>
        <p:spPr>
          <a:xfrm>
            <a:off x="9677995" y="5592961"/>
            <a:ext cx="4158615" cy="1451610"/>
          </a:xfrm>
          <a:prstGeom prst="rect">
            <a:avLst/>
          </a:prstGeom>
          <a:noFill/>
          <a:ln/>
        </p:spPr>
        <p:txBody>
          <a:bodyPr wrap="square" lIns="0" tIns="0" rIns="0" bIns="0" rtlCol="0" anchor="t"/>
          <a:lstStyle/>
          <a:p>
            <a:pPr algn="l" indent="0" marL="0">
              <a:lnSpc>
                <a:spcPts val="2850"/>
              </a:lnSpc>
              <a:buNone/>
            </a:pPr>
            <a:r>
              <a:rPr lang="en-US" sz="1750" dirty="0">
                <a:solidFill>
                  <a:srgbClr val="C9C9C0"/>
                </a:solidFill>
                <a:latin typeface="Tomorrow" pitchFamily="34" charset="0"/>
                <a:ea typeface="Tomorrow" pitchFamily="34" charset="-122"/>
                <a:cs typeface="Tomorrow" pitchFamily="34" charset="-120"/>
              </a:rPr>
              <a:t>Booking management, revenue reports, and room availability — all powered by structured MySQL queries against the normalised schema.</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19376" y="621744"/>
            <a:ext cx="945952" cy="373856"/>
          </a:xfrm>
          <a:prstGeom prst="roundRect">
            <a:avLst>
              <a:gd name="adj" fmla="val 6598"/>
            </a:avLst>
          </a:prstGeom>
          <a:solidFill>
            <a:srgbClr val="272725"/>
          </a:solidFill>
          <a:ln/>
        </p:spPr>
      </p:sp>
      <p:sp>
        <p:nvSpPr>
          <p:cNvPr id="3" name="Text 1"/>
          <p:cNvSpPr/>
          <p:nvPr/>
        </p:nvSpPr>
        <p:spPr>
          <a:xfrm>
            <a:off x="842605" y="683300"/>
            <a:ext cx="699492" cy="250746"/>
          </a:xfrm>
          <a:prstGeom prst="rect">
            <a:avLst/>
          </a:prstGeom>
          <a:noFill/>
          <a:ln/>
        </p:spPr>
        <p:txBody>
          <a:bodyPr wrap="none" lIns="0" tIns="0" rIns="0" bIns="0" rtlCol="0" anchor="t"/>
          <a:lstStyle/>
          <a:p>
            <a:pPr algn="l" indent="0" marL="0">
              <a:lnSpc>
                <a:spcPts val="1950"/>
              </a:lnSpc>
              <a:buNone/>
            </a:pPr>
            <a:r>
              <a:rPr lang="en-US" sz="1250" dirty="0">
                <a:solidFill>
                  <a:srgbClr val="C9C9C0"/>
                </a:solidFill>
                <a:latin typeface="Tomorrow" pitchFamily="34" charset="0"/>
                <a:ea typeface="Tomorrow" pitchFamily="34" charset="-122"/>
                <a:cs typeface="Tomorrow" pitchFamily="34" charset="-120"/>
              </a:rPr>
              <a:t>SLIDE 10</a:t>
            </a:r>
            <a:endParaRPr lang="en-US" sz="1250" dirty="0"/>
          </a:p>
        </p:txBody>
      </p:sp>
      <p:sp>
        <p:nvSpPr>
          <p:cNvPr id="4" name="Text 2"/>
          <p:cNvSpPr/>
          <p:nvPr/>
        </p:nvSpPr>
        <p:spPr>
          <a:xfrm>
            <a:off x="719376" y="1070015"/>
            <a:ext cx="6907054" cy="642342"/>
          </a:xfrm>
          <a:prstGeom prst="rect">
            <a:avLst/>
          </a:prstGeom>
          <a:noFill/>
          <a:ln/>
        </p:spPr>
        <p:txBody>
          <a:bodyPr wrap="none" lIns="0" tIns="0" rIns="0" bIns="0" rtlCol="0" anchor="t"/>
          <a:lstStyle/>
          <a:p>
            <a:pPr algn="l" indent="0" marL="0">
              <a:lnSpc>
                <a:spcPts val="5050"/>
              </a:lnSpc>
              <a:buNone/>
            </a:pPr>
            <a:r>
              <a:rPr lang="en-US" sz="4000" dirty="0">
                <a:solidFill>
                  <a:srgbClr val="EDEDE8"/>
                </a:solidFill>
                <a:latin typeface="Tomorrow Semi Bold" pitchFamily="34" charset="0"/>
                <a:ea typeface="Tomorrow Semi Bold" pitchFamily="34" charset="-122"/>
                <a:cs typeface="Tomorrow Semi Bold" pitchFamily="34" charset="-120"/>
              </a:rPr>
              <a:t>MongoDB Implementation</a:t>
            </a:r>
            <a:endParaRPr lang="en-US" sz="4000" dirty="0"/>
          </a:p>
        </p:txBody>
      </p:sp>
      <p:sp>
        <p:nvSpPr>
          <p:cNvPr id="5" name="Text 3"/>
          <p:cNvSpPr/>
          <p:nvPr/>
        </p:nvSpPr>
        <p:spPr>
          <a:xfrm>
            <a:off x="719376" y="1991678"/>
            <a:ext cx="13191649" cy="626983"/>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A NoSQL document database was integrated to handle the hotel's semi-structured and dynamic data needs, complementing the relational MySQL backbone.</a:t>
            </a:r>
            <a:endParaRPr lang="en-US" sz="1600" dirty="0"/>
          </a:p>
        </p:txBody>
      </p:sp>
      <p:sp>
        <p:nvSpPr>
          <p:cNvPr id="6" name="Text 4"/>
          <p:cNvSpPr/>
          <p:nvPr/>
        </p:nvSpPr>
        <p:spPr>
          <a:xfrm>
            <a:off x="719376" y="2897981"/>
            <a:ext cx="4111228" cy="513874"/>
          </a:xfrm>
          <a:prstGeom prst="rect">
            <a:avLst/>
          </a:prstGeom>
          <a:noFill/>
          <a:ln/>
        </p:spPr>
        <p:txBody>
          <a:bodyPr wrap="none" lIns="0" tIns="0" rIns="0" bIns="0" rtlCol="0" anchor="t"/>
          <a:lstStyle/>
          <a:p>
            <a:pPr algn="l" indent="0" marL="0">
              <a:lnSpc>
                <a:spcPts val="4000"/>
              </a:lnSpc>
              <a:buNone/>
            </a:pPr>
            <a:r>
              <a:rPr lang="en-US" sz="3200" dirty="0">
                <a:solidFill>
                  <a:srgbClr val="EDEDE8"/>
                </a:solidFill>
                <a:latin typeface="Tomorrow Semi Bold" pitchFamily="34" charset="0"/>
                <a:ea typeface="Tomorrow Semi Bold" pitchFamily="34" charset="-122"/>
                <a:cs typeface="Tomorrow Semi Bold" pitchFamily="34" charset="-120"/>
              </a:rPr>
              <a:t>Collections</a:t>
            </a:r>
            <a:endParaRPr lang="en-US" sz="3200" dirty="0"/>
          </a:p>
        </p:txBody>
      </p:sp>
      <p:sp>
        <p:nvSpPr>
          <p:cNvPr id="7" name="Shape 5"/>
          <p:cNvSpPr/>
          <p:nvPr/>
        </p:nvSpPr>
        <p:spPr>
          <a:xfrm>
            <a:off x="719376" y="3691176"/>
            <a:ext cx="4273034" cy="1470779"/>
          </a:xfrm>
          <a:prstGeom prst="roundRect">
            <a:avLst>
              <a:gd name="adj" fmla="val 2096"/>
            </a:avLst>
          </a:prstGeom>
          <a:solidFill>
            <a:srgbClr val="3C3C3A"/>
          </a:solidFill>
          <a:ln/>
        </p:spPr>
      </p:sp>
      <p:sp>
        <p:nvSpPr>
          <p:cNvPr id="8" name="Text 6"/>
          <p:cNvSpPr/>
          <p:nvPr/>
        </p:nvSpPr>
        <p:spPr>
          <a:xfrm>
            <a:off x="924878" y="3896678"/>
            <a:ext cx="2569488"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reviews</a:t>
            </a:r>
            <a:endParaRPr lang="en-US" sz="2000" dirty="0"/>
          </a:p>
        </p:txBody>
      </p:sp>
      <p:sp>
        <p:nvSpPr>
          <p:cNvPr id="9" name="Text 7"/>
          <p:cNvSpPr/>
          <p:nvPr/>
        </p:nvSpPr>
        <p:spPr>
          <a:xfrm>
            <a:off x="924878" y="4329470"/>
            <a:ext cx="3862030" cy="626983"/>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Stores guest reviews with ratings, comments, and tags</a:t>
            </a:r>
            <a:endParaRPr lang="en-US" sz="1600" dirty="0"/>
          </a:p>
        </p:txBody>
      </p:sp>
      <p:sp>
        <p:nvSpPr>
          <p:cNvPr id="10" name="Shape 8"/>
          <p:cNvSpPr/>
          <p:nvPr/>
        </p:nvSpPr>
        <p:spPr>
          <a:xfrm>
            <a:off x="5178623" y="3691176"/>
            <a:ext cx="4273034" cy="1470779"/>
          </a:xfrm>
          <a:prstGeom prst="roundRect">
            <a:avLst>
              <a:gd name="adj" fmla="val 2096"/>
            </a:avLst>
          </a:prstGeom>
          <a:solidFill>
            <a:srgbClr val="3C3C3A"/>
          </a:solidFill>
          <a:ln/>
        </p:spPr>
      </p:sp>
      <p:sp>
        <p:nvSpPr>
          <p:cNvPr id="11" name="Text 9"/>
          <p:cNvSpPr/>
          <p:nvPr/>
        </p:nvSpPr>
        <p:spPr>
          <a:xfrm>
            <a:off x="5384125" y="3896678"/>
            <a:ext cx="2577941"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roomServiceOrders</a:t>
            </a:r>
            <a:endParaRPr lang="en-US" sz="2000" dirty="0"/>
          </a:p>
        </p:txBody>
      </p:sp>
      <p:sp>
        <p:nvSpPr>
          <p:cNvPr id="12" name="Text 10"/>
          <p:cNvSpPr/>
          <p:nvPr/>
        </p:nvSpPr>
        <p:spPr>
          <a:xfrm>
            <a:off x="5384125" y="4329470"/>
            <a:ext cx="3862030" cy="626983"/>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Tracks ordered items and order status for in-room dining</a:t>
            </a:r>
            <a:endParaRPr lang="en-US" sz="1600" dirty="0"/>
          </a:p>
        </p:txBody>
      </p:sp>
      <p:sp>
        <p:nvSpPr>
          <p:cNvPr id="13" name="Shape 11"/>
          <p:cNvSpPr/>
          <p:nvPr/>
        </p:nvSpPr>
        <p:spPr>
          <a:xfrm>
            <a:off x="9637871" y="3691176"/>
            <a:ext cx="4273034" cy="1470779"/>
          </a:xfrm>
          <a:prstGeom prst="roundRect">
            <a:avLst>
              <a:gd name="adj" fmla="val 2096"/>
            </a:avLst>
          </a:prstGeom>
          <a:solidFill>
            <a:srgbClr val="3C3C3A"/>
          </a:solidFill>
          <a:ln/>
        </p:spPr>
      </p:sp>
      <p:sp>
        <p:nvSpPr>
          <p:cNvPr id="14" name="Text 12"/>
          <p:cNvSpPr/>
          <p:nvPr/>
        </p:nvSpPr>
        <p:spPr>
          <a:xfrm>
            <a:off x="9843373" y="3896678"/>
            <a:ext cx="2569488"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guestFeedback</a:t>
            </a:r>
            <a:endParaRPr lang="en-US" sz="2000" dirty="0"/>
          </a:p>
        </p:txBody>
      </p:sp>
      <p:sp>
        <p:nvSpPr>
          <p:cNvPr id="15" name="Text 13"/>
          <p:cNvSpPr/>
          <p:nvPr/>
        </p:nvSpPr>
        <p:spPr>
          <a:xfrm>
            <a:off x="9843373" y="4329470"/>
            <a:ext cx="3862030" cy="626983"/>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Captures structured and unstructured guest feedback</a:t>
            </a:r>
            <a:endParaRPr lang="en-US" sz="1600" dirty="0"/>
          </a:p>
        </p:txBody>
      </p:sp>
      <p:sp>
        <p:nvSpPr>
          <p:cNvPr id="16" name="Text 14"/>
          <p:cNvSpPr/>
          <p:nvPr/>
        </p:nvSpPr>
        <p:spPr>
          <a:xfrm>
            <a:off x="719376" y="5441275"/>
            <a:ext cx="5849898" cy="513874"/>
          </a:xfrm>
          <a:prstGeom prst="rect">
            <a:avLst/>
          </a:prstGeom>
          <a:noFill/>
          <a:ln/>
        </p:spPr>
        <p:txBody>
          <a:bodyPr wrap="none" lIns="0" tIns="0" rIns="0" bIns="0" rtlCol="0" anchor="t"/>
          <a:lstStyle/>
          <a:p>
            <a:pPr algn="l" indent="0" marL="0">
              <a:lnSpc>
                <a:spcPts val="4000"/>
              </a:lnSpc>
              <a:buNone/>
            </a:pPr>
            <a:r>
              <a:rPr lang="en-US" sz="3200" dirty="0">
                <a:solidFill>
                  <a:srgbClr val="EDEDE8"/>
                </a:solidFill>
                <a:latin typeface="Tomorrow Semi Bold" pitchFamily="34" charset="0"/>
                <a:ea typeface="Tomorrow Semi Bold" pitchFamily="34" charset="-122"/>
                <a:cs typeface="Tomorrow Semi Bold" pitchFamily="34" charset="-120"/>
              </a:rPr>
              <a:t>Strengths of MongoDB Used</a:t>
            </a:r>
            <a:endParaRPr lang="en-US" sz="3200" dirty="0"/>
          </a:p>
        </p:txBody>
      </p:sp>
      <p:pic>
        <p:nvPicPr>
          <p:cNvPr id="17" name="Image 0" descr="preencoded.png">    </p:cNvPr>
          <p:cNvPicPr>
            <a:picLocks noChangeAspect="1"/>
          </p:cNvPicPr>
          <p:nvPr/>
        </p:nvPicPr>
        <p:blipFill>
          <a:blip r:embed="Rf29491656f824e78">
            <a:extLst>
              <a:ext uri="{96DAC541-7B7A-43D3-8B79-37D633B846F1}">
                <asvg:svgBlip xmlns:asvg="http://schemas.microsoft.com/office/drawing/2016/SVG/main" r:embed="R1df89766bced46bb"/>
              </a:ext>
            </a:extLst>
          </a:blip>
          <a:stretch>
            <a:fillRect/>
          </a:stretch>
        </p:blipFill>
        <p:spPr>
          <a:xfrm>
            <a:off x="796409" y="6240780"/>
            <a:ext cx="308253" cy="308253"/>
          </a:xfrm>
          <a:prstGeom prst="rect">
            <a:avLst/>
          </a:prstGeom>
        </p:spPr>
      </p:pic>
      <p:sp>
        <p:nvSpPr>
          <p:cNvPr id="18" name="Text 15"/>
          <p:cNvSpPr/>
          <p:nvPr/>
        </p:nvSpPr>
        <p:spPr>
          <a:xfrm>
            <a:off x="1387316" y="6234470"/>
            <a:ext cx="2569488"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Flexible Schema</a:t>
            </a:r>
            <a:endParaRPr lang="en-US" sz="2000" dirty="0"/>
          </a:p>
        </p:txBody>
      </p:sp>
      <p:sp>
        <p:nvSpPr>
          <p:cNvPr id="19" name="Text 16"/>
          <p:cNvSpPr/>
          <p:nvPr/>
        </p:nvSpPr>
        <p:spPr>
          <a:xfrm>
            <a:off x="1387316" y="6667262"/>
            <a:ext cx="3574018" cy="940475"/>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Reviews can store ratings, comments, and tags without rigid structure</a:t>
            </a:r>
            <a:endParaRPr lang="en-US" sz="1600" dirty="0"/>
          </a:p>
        </p:txBody>
      </p:sp>
      <p:pic>
        <p:nvPicPr>
          <p:cNvPr id="20" name="Image 1" descr="preencoded.png">    </p:cNvPr>
          <p:cNvPicPr>
            <a:picLocks noChangeAspect="1"/>
          </p:cNvPicPr>
          <p:nvPr/>
        </p:nvPicPr>
        <p:blipFill>
          <a:blip r:embed="Rf29491656f824e78">
            <a:extLst>
              <a:ext uri="{96DAC541-7B7A-43D3-8B79-37D633B846F1}">
                <asvg:svgBlip xmlns:asvg="http://schemas.microsoft.com/office/drawing/2016/SVG/main" r:embed="R1df89766bced46bb"/>
              </a:ext>
            </a:extLst>
          </a:blip>
          <a:stretch>
            <a:fillRect/>
          </a:stretch>
        </p:blipFill>
        <p:spPr>
          <a:xfrm>
            <a:off x="5271135" y="6240780"/>
            <a:ext cx="308253" cy="308253"/>
          </a:xfrm>
          <a:prstGeom prst="rect">
            <a:avLst/>
          </a:prstGeom>
        </p:spPr>
      </p:pic>
      <p:sp>
        <p:nvSpPr>
          <p:cNvPr id="21" name="Text 17"/>
          <p:cNvSpPr/>
          <p:nvPr/>
        </p:nvSpPr>
        <p:spPr>
          <a:xfrm>
            <a:off x="5862042" y="6234470"/>
            <a:ext cx="2569488"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Array Support</a:t>
            </a:r>
            <a:endParaRPr lang="en-US" sz="2000" dirty="0"/>
          </a:p>
        </p:txBody>
      </p:sp>
      <p:sp>
        <p:nvSpPr>
          <p:cNvPr id="22" name="Text 18"/>
          <p:cNvSpPr/>
          <p:nvPr/>
        </p:nvSpPr>
        <p:spPr>
          <a:xfrm>
            <a:off x="5862042" y="6667262"/>
            <a:ext cx="3574137" cy="940475"/>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Ordered items in room service are naturally stored as embedded arrays</a:t>
            </a:r>
            <a:endParaRPr lang="en-US" sz="1600" dirty="0"/>
          </a:p>
        </p:txBody>
      </p:sp>
      <p:pic>
        <p:nvPicPr>
          <p:cNvPr id="23" name="Image 2" descr="preencoded.png">    </p:cNvPr>
          <p:cNvPicPr>
            <a:picLocks noChangeAspect="1"/>
          </p:cNvPicPr>
          <p:nvPr/>
        </p:nvPicPr>
        <p:blipFill>
          <a:blip r:embed="Rf29491656f824e78">
            <a:extLst>
              <a:ext uri="{96DAC541-7B7A-43D3-8B79-37D633B846F1}">
                <asvg:svgBlip xmlns:asvg="http://schemas.microsoft.com/office/drawing/2016/SVG/main" r:embed="R1df89766bced46bb"/>
              </a:ext>
            </a:extLst>
          </a:blip>
          <a:stretch>
            <a:fillRect/>
          </a:stretch>
        </p:blipFill>
        <p:spPr>
          <a:xfrm>
            <a:off x="9745980" y="6240780"/>
            <a:ext cx="308253" cy="308253"/>
          </a:xfrm>
          <a:prstGeom prst="rect">
            <a:avLst/>
          </a:prstGeom>
        </p:spPr>
      </p:pic>
      <p:sp>
        <p:nvSpPr>
          <p:cNvPr id="24" name="Text 19"/>
          <p:cNvSpPr/>
          <p:nvPr/>
        </p:nvSpPr>
        <p:spPr>
          <a:xfrm>
            <a:off x="10336887" y="6234470"/>
            <a:ext cx="3274695"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Fast Aggregation Queries</a:t>
            </a:r>
            <a:endParaRPr lang="en-US" sz="2000" dirty="0"/>
          </a:p>
        </p:txBody>
      </p:sp>
      <p:sp>
        <p:nvSpPr>
          <p:cNvPr id="25" name="Text 20"/>
          <p:cNvSpPr/>
          <p:nvPr/>
        </p:nvSpPr>
        <p:spPr>
          <a:xfrm>
            <a:off x="10336887" y="6667262"/>
            <a:ext cx="3574018" cy="940475"/>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Efficiently computes metrics like Average Rating across large datasets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56642" y="668417"/>
            <a:ext cx="952976" cy="399812"/>
          </a:xfrm>
          <a:prstGeom prst="roundRect">
            <a:avLst>
              <a:gd name="adj" fmla="val 6489"/>
            </a:avLst>
          </a:prstGeom>
          <a:solidFill>
            <a:srgbClr val="272725"/>
          </a:solidFill>
          <a:ln/>
        </p:spPr>
      </p:sp>
      <p:sp>
        <p:nvSpPr>
          <p:cNvPr id="3" name="Text 1"/>
          <p:cNvSpPr/>
          <p:nvPr/>
        </p:nvSpPr>
        <p:spPr>
          <a:xfrm>
            <a:off x="886301" y="733187"/>
            <a:ext cx="693658" cy="270272"/>
          </a:xfrm>
          <a:prstGeom prst="rect">
            <a:avLst/>
          </a:prstGeom>
          <a:noFill/>
          <a:ln/>
        </p:spPr>
        <p:txBody>
          <a:bodyPr wrap="none" lIns="0" tIns="0" rIns="0" bIns="0" rtlCol="0" anchor="t"/>
          <a:lstStyle/>
          <a:p>
            <a:pPr algn="l" indent="0" marL="0">
              <a:lnSpc>
                <a:spcPts val="2100"/>
              </a:lnSpc>
              <a:buNone/>
            </a:pPr>
            <a:r>
              <a:rPr lang="en-US" sz="1350" dirty="0">
                <a:solidFill>
                  <a:srgbClr val="C9C9C0"/>
                </a:solidFill>
                <a:latin typeface="Tomorrow" pitchFamily="34" charset="0"/>
                <a:ea typeface="Tomorrow" pitchFamily="34" charset="-122"/>
                <a:cs typeface="Tomorrow" pitchFamily="34" charset="-120"/>
              </a:rPr>
              <a:t>SLIDE 11</a:t>
            </a:r>
            <a:endParaRPr lang="en-US" sz="1350" dirty="0"/>
          </a:p>
        </p:txBody>
      </p:sp>
      <p:sp>
        <p:nvSpPr>
          <p:cNvPr id="4" name="Text 2"/>
          <p:cNvSpPr/>
          <p:nvPr/>
        </p:nvSpPr>
        <p:spPr>
          <a:xfrm>
            <a:off x="756642" y="1150620"/>
            <a:ext cx="5404842" cy="675680"/>
          </a:xfrm>
          <a:prstGeom prst="rect">
            <a:avLst/>
          </a:prstGeom>
          <a:noFill/>
          <a:ln/>
        </p:spPr>
        <p:txBody>
          <a:bodyPr wrap="none" lIns="0" tIns="0" rIns="0" bIns="0" rtlCol="0" anchor="t"/>
          <a:lstStyle/>
          <a:p>
            <a:pPr algn="l" indent="0" marL="0">
              <a:lnSpc>
                <a:spcPts val="5300"/>
              </a:lnSpc>
              <a:buNone/>
            </a:pPr>
            <a:r>
              <a:rPr lang="en-US" sz="4250" dirty="0">
                <a:solidFill>
                  <a:srgbClr val="EDEDE8"/>
                </a:solidFill>
                <a:latin typeface="Tomorrow Semi Bold" pitchFamily="34" charset="0"/>
                <a:ea typeface="Tomorrow Semi Bold" pitchFamily="34" charset="-122"/>
                <a:cs typeface="Tomorrow Semi Bold" pitchFamily="34" charset="-120"/>
              </a:rPr>
              <a:t>Sample Results</a:t>
            </a:r>
            <a:endParaRPr lang="en-US" sz="4250" dirty="0"/>
          </a:p>
        </p:txBody>
      </p:sp>
      <p:sp>
        <p:nvSpPr>
          <p:cNvPr id="5" name="Text 3"/>
          <p:cNvSpPr/>
          <p:nvPr/>
        </p:nvSpPr>
        <p:spPr>
          <a:xfrm>
            <a:off x="756642" y="2135386"/>
            <a:ext cx="13117116" cy="337780"/>
          </a:xfrm>
          <a:prstGeom prst="rect">
            <a:avLst/>
          </a:prstGeom>
          <a:noFill/>
          <a:ln/>
        </p:spPr>
        <p:txBody>
          <a:bodyPr wrap="non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The hybrid database system delivers meaningful operational insights across both relational and document-based data stores.</a:t>
            </a:r>
            <a:endParaRPr lang="en-US" sz="1700" dirty="0"/>
          </a:p>
        </p:txBody>
      </p:sp>
      <p:sp>
        <p:nvSpPr>
          <p:cNvPr id="6" name="Shape 4"/>
          <p:cNvSpPr/>
          <p:nvPr/>
        </p:nvSpPr>
        <p:spPr>
          <a:xfrm>
            <a:off x="600908" y="2704981"/>
            <a:ext cx="6606302" cy="3733205"/>
          </a:xfrm>
          <a:prstGeom prst="roundRect">
            <a:avLst>
              <a:gd name="adj" fmla="val 869"/>
            </a:avLst>
          </a:prstGeom>
          <a:solidFill>
            <a:srgbClr val="1F1F1E"/>
          </a:solidFill>
          <a:ln/>
        </p:spPr>
      </p:sp>
      <p:sp>
        <p:nvSpPr>
          <p:cNvPr id="7" name="Text 5"/>
          <p:cNvSpPr/>
          <p:nvPr/>
        </p:nvSpPr>
        <p:spPr>
          <a:xfrm>
            <a:off x="817007" y="2910959"/>
            <a:ext cx="2702362" cy="337780"/>
          </a:xfrm>
          <a:prstGeom prst="rect">
            <a:avLst/>
          </a:prstGeom>
          <a:noFill/>
          <a:ln/>
        </p:spPr>
        <p:txBody>
          <a:bodyPr wrap="none" lIns="0" tIns="0" rIns="0" bIns="0" rtlCol="0" anchor="t"/>
          <a:lstStyle/>
          <a:p>
            <a:pPr algn="l" indent="0" marL="0">
              <a:lnSpc>
                <a:spcPts val="2650"/>
              </a:lnSpc>
              <a:buNone/>
            </a:pPr>
            <a:r>
              <a:rPr lang="en-US" sz="2100" dirty="0">
                <a:solidFill>
                  <a:srgbClr val="EDEDE8"/>
                </a:solidFill>
                <a:latin typeface="Tomorrow Semi Bold" pitchFamily="34" charset="0"/>
                <a:ea typeface="Tomorrow Semi Bold" pitchFamily="34" charset="-122"/>
                <a:cs typeface="Tomorrow Semi Bold" pitchFamily="34" charset="-120"/>
              </a:rPr>
              <a:t>MySQL Reports</a:t>
            </a:r>
            <a:endParaRPr lang="en-US" sz="2100" dirty="0"/>
          </a:p>
        </p:txBody>
      </p:sp>
      <p:sp>
        <p:nvSpPr>
          <p:cNvPr id="8" name="Shape 6"/>
          <p:cNvSpPr/>
          <p:nvPr/>
        </p:nvSpPr>
        <p:spPr>
          <a:xfrm>
            <a:off x="817007" y="3480554"/>
            <a:ext cx="2984063" cy="2388037"/>
          </a:xfrm>
          <a:prstGeom prst="roundRect">
            <a:avLst>
              <a:gd name="adj" fmla="val 6127"/>
            </a:avLst>
          </a:prstGeom>
          <a:solidFill>
            <a:srgbClr val="1F1F1E"/>
          </a:solidFill>
          <a:ln w="30480">
            <a:solidFill>
              <a:srgbClr val="555553"/>
            </a:solidFill>
            <a:prstDash val="solid"/>
          </a:ln>
        </p:spPr>
      </p:sp>
      <p:sp>
        <p:nvSpPr>
          <p:cNvPr id="9" name="Shape 7"/>
          <p:cNvSpPr/>
          <p:nvPr/>
        </p:nvSpPr>
        <p:spPr>
          <a:xfrm>
            <a:off x="786527" y="3480554"/>
            <a:ext cx="121920" cy="2388037"/>
          </a:xfrm>
          <a:prstGeom prst="roundRect">
            <a:avLst>
              <a:gd name="adj" fmla="val 26599"/>
            </a:avLst>
          </a:prstGeom>
          <a:solidFill>
            <a:srgbClr val="E1E1DF"/>
          </a:solidFill>
          <a:ln/>
        </p:spPr>
      </p:sp>
      <p:sp>
        <p:nvSpPr>
          <p:cNvPr id="10" name="Text 8"/>
          <p:cNvSpPr/>
          <p:nvPr/>
        </p:nvSpPr>
        <p:spPr>
          <a:xfrm>
            <a:off x="1155025" y="3727133"/>
            <a:ext cx="2399467" cy="337780"/>
          </a:xfrm>
          <a:prstGeom prst="rect">
            <a:avLst/>
          </a:prstGeom>
          <a:noFill/>
          <a:ln/>
        </p:spPr>
        <p:txBody>
          <a:bodyPr wrap="none" lIns="0" tIns="0" rIns="0" bIns="0" rtlCol="0" anchor="t"/>
          <a:lstStyle/>
          <a:p>
            <a:pPr algn="l" indent="0" marL="0">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Revenue Report</a:t>
            </a:r>
            <a:endParaRPr lang="en-US" sz="2100" dirty="0"/>
          </a:p>
        </p:txBody>
      </p:sp>
      <p:sp>
        <p:nvSpPr>
          <p:cNvPr id="11" name="Text 9"/>
          <p:cNvSpPr/>
          <p:nvPr/>
        </p:nvSpPr>
        <p:spPr>
          <a:xfrm>
            <a:off x="1155025" y="4270891"/>
            <a:ext cx="2399467" cy="1013341"/>
          </a:xfrm>
          <a:prstGeom prst="rect">
            <a:avLst/>
          </a:prstGeom>
          <a:noFill/>
          <a:ln/>
        </p:spPr>
        <p:txBody>
          <a:bodyPr wrap="squar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Aggregated financial data across rooms, services, and bookings</a:t>
            </a:r>
            <a:endParaRPr lang="en-US" sz="1700" dirty="0"/>
          </a:p>
        </p:txBody>
      </p:sp>
      <p:sp>
        <p:nvSpPr>
          <p:cNvPr id="12" name="Shape 10"/>
          <p:cNvSpPr/>
          <p:nvPr/>
        </p:nvSpPr>
        <p:spPr>
          <a:xfrm>
            <a:off x="4007048" y="3480554"/>
            <a:ext cx="2984063" cy="2388037"/>
          </a:xfrm>
          <a:prstGeom prst="roundRect">
            <a:avLst>
              <a:gd name="adj" fmla="val 6127"/>
            </a:avLst>
          </a:prstGeom>
          <a:solidFill>
            <a:srgbClr val="1F1F1E"/>
          </a:solidFill>
          <a:ln w="30480">
            <a:solidFill>
              <a:srgbClr val="555553"/>
            </a:solidFill>
            <a:prstDash val="solid"/>
          </a:ln>
        </p:spPr>
      </p:sp>
      <p:sp>
        <p:nvSpPr>
          <p:cNvPr id="13" name="Shape 11"/>
          <p:cNvSpPr/>
          <p:nvPr/>
        </p:nvSpPr>
        <p:spPr>
          <a:xfrm>
            <a:off x="3976568" y="3480554"/>
            <a:ext cx="121920" cy="2388037"/>
          </a:xfrm>
          <a:prstGeom prst="roundRect">
            <a:avLst>
              <a:gd name="adj" fmla="val 26599"/>
            </a:avLst>
          </a:prstGeom>
          <a:solidFill>
            <a:srgbClr val="E1E1DF"/>
          </a:solidFill>
          <a:ln/>
        </p:spPr>
      </p:sp>
      <p:sp>
        <p:nvSpPr>
          <p:cNvPr id="14" name="Text 12"/>
          <p:cNvSpPr/>
          <p:nvPr/>
        </p:nvSpPr>
        <p:spPr>
          <a:xfrm>
            <a:off x="4345067" y="3727133"/>
            <a:ext cx="2399467" cy="675561"/>
          </a:xfrm>
          <a:prstGeom prst="rect">
            <a:avLst/>
          </a:prstGeom>
          <a:noFill/>
          <a:ln/>
        </p:spPr>
        <p:txBody>
          <a:bodyPr wrap="square" lIns="0" tIns="0" rIns="0" bIns="0" rtlCol="0" anchor="t"/>
          <a:lstStyle/>
          <a:p>
            <a:pPr algn="l" indent="0" marL="0">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Occupancy Report</a:t>
            </a:r>
            <a:endParaRPr lang="en-US" sz="2100" dirty="0"/>
          </a:p>
        </p:txBody>
      </p:sp>
      <p:sp>
        <p:nvSpPr>
          <p:cNvPr id="15" name="Text 13"/>
          <p:cNvSpPr/>
          <p:nvPr/>
        </p:nvSpPr>
        <p:spPr>
          <a:xfrm>
            <a:off x="4345067" y="4608671"/>
            <a:ext cx="2399467" cy="1013341"/>
          </a:xfrm>
          <a:prstGeom prst="rect">
            <a:avLst/>
          </a:prstGeom>
          <a:noFill/>
          <a:ln/>
        </p:spPr>
        <p:txBody>
          <a:bodyPr wrap="squar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Room occupancy rates, trends, and availability summaries</a:t>
            </a:r>
            <a:endParaRPr lang="en-US" sz="1700" dirty="0"/>
          </a:p>
        </p:txBody>
      </p:sp>
      <p:sp>
        <p:nvSpPr>
          <p:cNvPr id="16" name="Text 14"/>
          <p:cNvSpPr/>
          <p:nvPr/>
        </p:nvSpPr>
        <p:spPr>
          <a:xfrm>
            <a:off x="7586543" y="2910959"/>
            <a:ext cx="2702362" cy="337780"/>
          </a:xfrm>
          <a:prstGeom prst="rect">
            <a:avLst/>
          </a:prstGeom>
          <a:noFill/>
          <a:ln/>
        </p:spPr>
        <p:txBody>
          <a:bodyPr wrap="none" lIns="0" tIns="0" rIns="0" bIns="0" rtlCol="0" anchor="t"/>
          <a:lstStyle/>
          <a:p>
            <a:pPr algn="l" indent="0" marL="0">
              <a:lnSpc>
                <a:spcPts val="2650"/>
              </a:lnSpc>
              <a:buNone/>
            </a:pPr>
            <a:r>
              <a:rPr lang="en-US" sz="2100" dirty="0">
                <a:solidFill>
                  <a:srgbClr val="EDEDE8"/>
                </a:solidFill>
                <a:latin typeface="Tomorrow Semi Bold" pitchFamily="34" charset="0"/>
                <a:ea typeface="Tomorrow Semi Bold" pitchFamily="34" charset="-122"/>
                <a:cs typeface="Tomorrow Semi Bold" pitchFamily="34" charset="-120"/>
              </a:rPr>
              <a:t>MongoDB Reports</a:t>
            </a:r>
            <a:endParaRPr lang="en-US" sz="2100" dirty="0"/>
          </a:p>
        </p:txBody>
      </p:sp>
      <p:sp>
        <p:nvSpPr>
          <p:cNvPr id="17" name="Shape 15"/>
          <p:cNvSpPr/>
          <p:nvPr/>
        </p:nvSpPr>
        <p:spPr>
          <a:xfrm>
            <a:off x="7586543" y="3480554"/>
            <a:ext cx="3044428" cy="2725817"/>
          </a:xfrm>
          <a:prstGeom prst="roundRect">
            <a:avLst>
              <a:gd name="adj" fmla="val 5367"/>
            </a:avLst>
          </a:prstGeom>
          <a:solidFill>
            <a:srgbClr val="1D1D1B"/>
          </a:solidFill>
          <a:ln w="30480">
            <a:solidFill>
              <a:srgbClr val="555553"/>
            </a:solidFill>
            <a:prstDash val="solid"/>
          </a:ln>
        </p:spPr>
      </p:sp>
      <p:sp>
        <p:nvSpPr>
          <p:cNvPr id="18" name="Shape 16"/>
          <p:cNvSpPr/>
          <p:nvPr/>
        </p:nvSpPr>
        <p:spPr>
          <a:xfrm>
            <a:off x="7556063" y="3480554"/>
            <a:ext cx="121920" cy="2725817"/>
          </a:xfrm>
          <a:prstGeom prst="roundRect">
            <a:avLst>
              <a:gd name="adj" fmla="val 26599"/>
            </a:avLst>
          </a:prstGeom>
          <a:solidFill>
            <a:srgbClr val="E1E1DF"/>
          </a:solidFill>
          <a:ln/>
        </p:spPr>
      </p:sp>
      <p:sp>
        <p:nvSpPr>
          <p:cNvPr id="19" name="Text 17"/>
          <p:cNvSpPr/>
          <p:nvPr/>
        </p:nvSpPr>
        <p:spPr>
          <a:xfrm>
            <a:off x="7924562" y="3727133"/>
            <a:ext cx="2459831" cy="675561"/>
          </a:xfrm>
          <a:prstGeom prst="rect">
            <a:avLst/>
          </a:prstGeom>
          <a:noFill/>
          <a:ln/>
        </p:spPr>
        <p:txBody>
          <a:bodyPr wrap="square" lIns="0" tIns="0" rIns="0" bIns="0" rtlCol="0" anchor="t"/>
          <a:lstStyle/>
          <a:p>
            <a:pPr algn="l" indent="0" marL="0">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Average Hotel Rating</a:t>
            </a:r>
            <a:endParaRPr lang="en-US" sz="2100" dirty="0"/>
          </a:p>
        </p:txBody>
      </p:sp>
      <p:sp>
        <p:nvSpPr>
          <p:cNvPr id="20" name="Text 18"/>
          <p:cNvSpPr/>
          <p:nvPr/>
        </p:nvSpPr>
        <p:spPr>
          <a:xfrm>
            <a:off x="7924562" y="4608671"/>
            <a:ext cx="2459831" cy="1351121"/>
          </a:xfrm>
          <a:prstGeom prst="rect">
            <a:avLst/>
          </a:prstGeom>
          <a:noFill/>
          <a:ln/>
        </p:spPr>
        <p:txBody>
          <a:bodyPr wrap="squar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Real-time aggregated guest rating scores from review documents</a:t>
            </a:r>
            <a:endParaRPr lang="en-US" sz="1700" dirty="0"/>
          </a:p>
        </p:txBody>
      </p:sp>
      <p:sp>
        <p:nvSpPr>
          <p:cNvPr id="21" name="Shape 19"/>
          <p:cNvSpPr/>
          <p:nvPr/>
        </p:nvSpPr>
        <p:spPr>
          <a:xfrm>
            <a:off x="10836950" y="3480554"/>
            <a:ext cx="3044428" cy="2725817"/>
          </a:xfrm>
          <a:prstGeom prst="roundRect">
            <a:avLst>
              <a:gd name="adj" fmla="val 5367"/>
            </a:avLst>
          </a:prstGeom>
          <a:solidFill>
            <a:srgbClr val="1D1D1B"/>
          </a:solidFill>
          <a:ln w="30480">
            <a:solidFill>
              <a:srgbClr val="555553"/>
            </a:solidFill>
            <a:prstDash val="solid"/>
          </a:ln>
        </p:spPr>
      </p:sp>
      <p:sp>
        <p:nvSpPr>
          <p:cNvPr id="22" name="Shape 20"/>
          <p:cNvSpPr/>
          <p:nvPr/>
        </p:nvSpPr>
        <p:spPr>
          <a:xfrm>
            <a:off x="10806470" y="3480554"/>
            <a:ext cx="121920" cy="2725817"/>
          </a:xfrm>
          <a:prstGeom prst="roundRect">
            <a:avLst>
              <a:gd name="adj" fmla="val 26599"/>
            </a:avLst>
          </a:prstGeom>
          <a:solidFill>
            <a:srgbClr val="E1E1DF"/>
          </a:solidFill>
          <a:ln/>
        </p:spPr>
      </p:sp>
      <p:sp>
        <p:nvSpPr>
          <p:cNvPr id="23" name="Text 21"/>
          <p:cNvSpPr/>
          <p:nvPr/>
        </p:nvSpPr>
        <p:spPr>
          <a:xfrm>
            <a:off x="11174968" y="3727133"/>
            <a:ext cx="2459831" cy="337780"/>
          </a:xfrm>
          <a:prstGeom prst="rect">
            <a:avLst/>
          </a:prstGeom>
          <a:noFill/>
          <a:ln/>
        </p:spPr>
        <p:txBody>
          <a:bodyPr wrap="none" lIns="0" tIns="0" rIns="0" bIns="0" rtlCol="0" anchor="t"/>
          <a:lstStyle/>
          <a:p>
            <a:pPr algn="l" indent="0" marL="0">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Recent Reviews</a:t>
            </a:r>
            <a:endParaRPr lang="en-US" sz="2100" dirty="0"/>
          </a:p>
        </p:txBody>
      </p:sp>
      <p:sp>
        <p:nvSpPr>
          <p:cNvPr id="24" name="Text 22"/>
          <p:cNvSpPr/>
          <p:nvPr/>
        </p:nvSpPr>
        <p:spPr>
          <a:xfrm>
            <a:off x="11174968" y="4270891"/>
            <a:ext cx="2459831" cy="1013341"/>
          </a:xfrm>
          <a:prstGeom prst="rect">
            <a:avLst/>
          </a:prstGeom>
          <a:noFill/>
          <a:ln/>
        </p:spPr>
        <p:txBody>
          <a:bodyPr wrap="square" lIns="0" tIns="0" rIns="0" bIns="0" rtlCol="0" anchor="t"/>
          <a:lstStyle/>
          <a:p>
            <a:pPr algn="l" indent="0" marL="0">
              <a:lnSpc>
                <a:spcPts val="2650"/>
              </a:lnSpc>
              <a:buNone/>
            </a:pPr>
            <a:r>
              <a:rPr lang="en-US" sz="1700" dirty="0">
                <a:solidFill>
                  <a:srgbClr val="C9C9C0"/>
                </a:solidFill>
                <a:latin typeface="Tomorrow" pitchFamily="34" charset="0"/>
                <a:ea typeface="Tomorrow" pitchFamily="34" charset="-122"/>
                <a:cs typeface="Tomorrow" pitchFamily="34" charset="-120"/>
              </a:rPr>
              <a:t>Latest guest feedback with comments, tags, and star ratings</a:t>
            </a:r>
            <a:endParaRPr lang="en-US" sz="1700" dirty="0"/>
          </a:p>
        </p:txBody>
      </p:sp>
      <p:sp>
        <p:nvSpPr>
          <p:cNvPr id="25" name="Shape 23"/>
          <p:cNvSpPr/>
          <p:nvPr/>
        </p:nvSpPr>
        <p:spPr>
          <a:xfrm>
            <a:off x="756642" y="6670000"/>
            <a:ext cx="13117116" cy="891064"/>
          </a:xfrm>
          <a:prstGeom prst="roundRect">
            <a:avLst>
              <a:gd name="adj" fmla="val 3639"/>
            </a:avLst>
          </a:prstGeom>
          <a:solidFill>
            <a:srgbClr val="022349"/>
          </a:solidFill>
          <a:ln/>
        </p:spPr>
      </p:sp>
      <p:pic>
        <p:nvPicPr>
          <p:cNvPr id="26" name="Image 0" descr="preencoded.png">    </p:cNvPr>
          <p:cNvPicPr>
            <a:picLocks noChangeAspect="1"/>
          </p:cNvPicPr>
          <p:nvPr/>
        </p:nvPicPr>
        <p:blipFill>
          <a:blip r:embed="Rc7a09d1c57a64b42"/>
          <a:stretch>
            <a:fillRect/>
          </a:stretch>
        </p:blipFill>
        <p:spPr>
          <a:xfrm>
            <a:off x="972741" y="7002304"/>
            <a:ext cx="270153" cy="216098"/>
          </a:xfrm>
          <a:prstGeom prst="rect">
            <a:avLst/>
          </a:prstGeom>
        </p:spPr>
      </p:pic>
      <p:sp>
        <p:nvSpPr>
          <p:cNvPr id="27" name="Text 24"/>
          <p:cNvSpPr/>
          <p:nvPr/>
        </p:nvSpPr>
        <p:spPr>
          <a:xfrm>
            <a:off x="1458992" y="6929914"/>
            <a:ext cx="12198668" cy="337780"/>
          </a:xfrm>
          <a:prstGeom prst="rect">
            <a:avLst/>
          </a:prstGeom>
          <a:noFill/>
          <a:ln/>
        </p:spPr>
        <p:txBody>
          <a:bodyPr wrap="none" lIns="0" tIns="0" rIns="0" bIns="0" rtlCol="0" anchor="t"/>
          <a:lstStyle/>
          <a:p>
            <a:pPr algn="l" indent="0" marL="0">
              <a:lnSpc>
                <a:spcPts val="2650"/>
              </a:lnSpc>
              <a:buNone/>
            </a:pPr>
            <a:r>
              <a:rPr lang="en-US" sz="1700" dirty="0">
                <a:solidFill>
                  <a:srgbClr val="FFFFFF"/>
                </a:solidFill>
                <a:latin typeface="Tomorrow" pitchFamily="34" charset="0"/>
                <a:ea typeface="Tomorrow" pitchFamily="34" charset="-122"/>
                <a:cs typeface="Tomorrow" pitchFamily="34" charset="-120"/>
              </a:rPr>
              <a:t>Insert relevant screenshots here to demonstrate live report outputs from both database systems.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19376" y="644843"/>
            <a:ext cx="940713" cy="373856"/>
          </a:xfrm>
          <a:prstGeom prst="roundRect">
            <a:avLst>
              <a:gd name="adj" fmla="val 6598"/>
            </a:avLst>
          </a:prstGeom>
          <a:solidFill>
            <a:srgbClr val="272725"/>
          </a:solidFill>
          <a:ln/>
        </p:spPr>
      </p:sp>
      <p:sp>
        <p:nvSpPr>
          <p:cNvPr id="3" name="Text 1"/>
          <p:cNvSpPr/>
          <p:nvPr/>
        </p:nvSpPr>
        <p:spPr>
          <a:xfrm>
            <a:off x="842605" y="706398"/>
            <a:ext cx="694253" cy="250746"/>
          </a:xfrm>
          <a:prstGeom prst="rect">
            <a:avLst/>
          </a:prstGeom>
          <a:noFill/>
          <a:ln/>
        </p:spPr>
        <p:txBody>
          <a:bodyPr wrap="none" lIns="0" tIns="0" rIns="0" bIns="0" rtlCol="0" anchor="t"/>
          <a:lstStyle/>
          <a:p>
            <a:pPr algn="l" indent="0" marL="0">
              <a:lnSpc>
                <a:spcPts val="1950"/>
              </a:lnSpc>
              <a:buNone/>
            </a:pPr>
            <a:r>
              <a:rPr lang="en-US" sz="1250" dirty="0">
                <a:solidFill>
                  <a:srgbClr val="C9C9C0"/>
                </a:solidFill>
                <a:latin typeface="Tomorrow" pitchFamily="34" charset="0"/>
                <a:ea typeface="Tomorrow" pitchFamily="34" charset="-122"/>
                <a:cs typeface="Tomorrow" pitchFamily="34" charset="-120"/>
              </a:rPr>
              <a:t>SLIDE 12</a:t>
            </a:r>
            <a:endParaRPr lang="en-US" sz="1250" dirty="0"/>
          </a:p>
        </p:txBody>
      </p:sp>
      <p:sp>
        <p:nvSpPr>
          <p:cNvPr id="4" name="Text 2"/>
          <p:cNvSpPr/>
          <p:nvPr/>
        </p:nvSpPr>
        <p:spPr>
          <a:xfrm>
            <a:off x="719376" y="1093113"/>
            <a:ext cx="6600706" cy="642342"/>
          </a:xfrm>
          <a:prstGeom prst="rect">
            <a:avLst/>
          </a:prstGeom>
          <a:noFill/>
          <a:ln/>
        </p:spPr>
        <p:txBody>
          <a:bodyPr wrap="none" lIns="0" tIns="0" rIns="0" bIns="0" rtlCol="0" anchor="t"/>
          <a:lstStyle/>
          <a:p>
            <a:pPr algn="l" indent="0" marL="0">
              <a:lnSpc>
                <a:spcPts val="5050"/>
              </a:lnSpc>
              <a:buNone/>
            </a:pPr>
            <a:r>
              <a:rPr lang="en-US" sz="4000" dirty="0">
                <a:solidFill>
                  <a:srgbClr val="EDEDE8"/>
                </a:solidFill>
                <a:latin typeface="Tomorrow Semi Bold" pitchFamily="34" charset="0"/>
                <a:ea typeface="Tomorrow Semi Bold" pitchFamily="34" charset="-122"/>
                <a:cs typeface="Tomorrow Semi Bold" pitchFamily="34" charset="-120"/>
              </a:rPr>
              <a:t>Benefits &amp; Achievements</a:t>
            </a:r>
            <a:endParaRPr lang="en-US" sz="4000" dirty="0"/>
          </a:p>
        </p:txBody>
      </p:sp>
      <p:sp>
        <p:nvSpPr>
          <p:cNvPr id="5" name="Text 3"/>
          <p:cNvSpPr/>
          <p:nvPr/>
        </p:nvSpPr>
        <p:spPr>
          <a:xfrm>
            <a:off x="719376" y="2014776"/>
            <a:ext cx="13191649" cy="626983"/>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The hybrid database implementation has delivered measurable improvements across all areas of hotel operations at Addis Grand Hotel.</a:t>
            </a:r>
            <a:endParaRPr lang="en-US" sz="1600" dirty="0"/>
          </a:p>
        </p:txBody>
      </p:sp>
      <p:sp>
        <p:nvSpPr>
          <p:cNvPr id="6" name="Shape 4"/>
          <p:cNvSpPr/>
          <p:nvPr/>
        </p:nvSpPr>
        <p:spPr>
          <a:xfrm>
            <a:off x="719376" y="2851309"/>
            <a:ext cx="4273034" cy="2273618"/>
          </a:xfrm>
          <a:prstGeom prst="roundRect">
            <a:avLst>
              <a:gd name="adj" fmla="val 1356"/>
            </a:avLst>
          </a:prstGeom>
          <a:solidFill>
            <a:srgbClr val="3C3C3A"/>
          </a:solidFill>
          <a:ln/>
        </p:spPr>
      </p:sp>
      <p:sp>
        <p:nvSpPr>
          <p:cNvPr id="7" name="Shape 5"/>
          <p:cNvSpPr/>
          <p:nvPr/>
        </p:nvSpPr>
        <p:spPr>
          <a:xfrm>
            <a:off x="924878" y="3056811"/>
            <a:ext cx="616625" cy="616625"/>
          </a:xfrm>
          <a:prstGeom prst="roundRect">
            <a:avLst>
              <a:gd name="adj" fmla="val 14827627"/>
            </a:avLst>
          </a:prstGeom>
          <a:solidFill>
            <a:srgbClr val="E1E1DF"/>
          </a:solidFill>
          <a:ln/>
        </p:spPr>
      </p:sp>
      <p:pic>
        <p:nvPicPr>
          <p:cNvPr id="8" name="Image 0" descr="preencoded.png">    </p:cNvPr>
          <p:cNvPicPr>
            <a:picLocks noChangeAspect="1"/>
          </p:cNvPicPr>
          <p:nvPr/>
        </p:nvPicPr>
        <p:blipFill>
          <a:blip r:embed="Rb5196815057f4974">
            <a:extLst>
              <a:ext uri="{96DAC541-7B7A-43D3-8B79-37D633B846F1}">
                <asvg:svgBlip xmlns:asvg="http://schemas.microsoft.com/office/drawing/2016/SVG/main" r:embed="R569b3987ce004b69"/>
              </a:ext>
            </a:extLst>
          </a:blip>
          <a:stretch>
            <a:fillRect/>
          </a:stretch>
        </p:blipFill>
        <p:spPr>
          <a:xfrm>
            <a:off x="1094423" y="3226356"/>
            <a:ext cx="277416" cy="277416"/>
          </a:xfrm>
          <a:prstGeom prst="rect">
            <a:avLst/>
          </a:prstGeom>
        </p:spPr>
      </p:pic>
      <p:sp>
        <p:nvSpPr>
          <p:cNvPr id="9" name="Text 6"/>
          <p:cNvSpPr/>
          <p:nvPr/>
        </p:nvSpPr>
        <p:spPr>
          <a:xfrm>
            <a:off x="924878" y="3859649"/>
            <a:ext cx="3668911"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Real-Time Room Availability</a:t>
            </a:r>
            <a:endParaRPr lang="en-US" sz="2000" dirty="0"/>
          </a:p>
        </p:txBody>
      </p:sp>
      <p:sp>
        <p:nvSpPr>
          <p:cNvPr id="10" name="Text 7"/>
          <p:cNvSpPr/>
          <p:nvPr/>
        </p:nvSpPr>
        <p:spPr>
          <a:xfrm>
            <a:off x="924878" y="4292441"/>
            <a:ext cx="3862030" cy="626983"/>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Instant visibility into room status eliminates manual lookup delays</a:t>
            </a:r>
            <a:endParaRPr lang="en-US" sz="1600" dirty="0"/>
          </a:p>
        </p:txBody>
      </p:sp>
      <p:sp>
        <p:nvSpPr>
          <p:cNvPr id="11" name="Shape 8"/>
          <p:cNvSpPr/>
          <p:nvPr/>
        </p:nvSpPr>
        <p:spPr>
          <a:xfrm>
            <a:off x="5178623" y="2851309"/>
            <a:ext cx="4273034" cy="2273618"/>
          </a:xfrm>
          <a:prstGeom prst="roundRect">
            <a:avLst>
              <a:gd name="adj" fmla="val 1356"/>
            </a:avLst>
          </a:prstGeom>
          <a:solidFill>
            <a:srgbClr val="3C3C3A"/>
          </a:solidFill>
          <a:ln/>
        </p:spPr>
      </p:sp>
      <p:sp>
        <p:nvSpPr>
          <p:cNvPr id="12" name="Shape 9"/>
          <p:cNvSpPr/>
          <p:nvPr/>
        </p:nvSpPr>
        <p:spPr>
          <a:xfrm>
            <a:off x="5384125" y="3056811"/>
            <a:ext cx="616625" cy="616625"/>
          </a:xfrm>
          <a:prstGeom prst="roundRect">
            <a:avLst>
              <a:gd name="adj" fmla="val 14827627"/>
            </a:avLst>
          </a:prstGeom>
          <a:solidFill>
            <a:srgbClr val="E1E1DF"/>
          </a:solidFill>
          <a:ln/>
        </p:spPr>
      </p:sp>
      <p:pic>
        <p:nvPicPr>
          <p:cNvPr id="13" name="Image 1" descr="preencoded.png">    </p:cNvPr>
          <p:cNvPicPr>
            <a:picLocks noChangeAspect="1"/>
          </p:cNvPicPr>
          <p:nvPr/>
        </p:nvPicPr>
        <p:blipFill>
          <a:blip r:embed="Rb5196815057f4974">
            <a:extLst>
              <a:ext uri="{96DAC541-7B7A-43D3-8B79-37D633B846F1}">
                <asvg:svgBlip xmlns:asvg="http://schemas.microsoft.com/office/drawing/2016/SVG/main" r:embed="Rc74593d995f84d60"/>
              </a:ext>
            </a:extLst>
          </a:blip>
          <a:stretch>
            <a:fillRect/>
          </a:stretch>
        </p:blipFill>
        <p:spPr>
          <a:xfrm>
            <a:off x="5553670" y="3226356"/>
            <a:ext cx="277416" cy="277416"/>
          </a:xfrm>
          <a:prstGeom prst="rect">
            <a:avLst/>
          </a:prstGeom>
        </p:spPr>
      </p:pic>
      <p:sp>
        <p:nvSpPr>
          <p:cNvPr id="14" name="Text 10"/>
          <p:cNvSpPr/>
          <p:nvPr/>
        </p:nvSpPr>
        <p:spPr>
          <a:xfrm>
            <a:off x="5384125" y="3859649"/>
            <a:ext cx="3420189"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Reduced Double Bookings</a:t>
            </a:r>
            <a:endParaRPr lang="en-US" sz="2000" dirty="0"/>
          </a:p>
        </p:txBody>
      </p:sp>
      <p:sp>
        <p:nvSpPr>
          <p:cNvPr id="15" name="Text 11"/>
          <p:cNvSpPr/>
          <p:nvPr/>
        </p:nvSpPr>
        <p:spPr>
          <a:xfrm>
            <a:off x="5384125" y="4292441"/>
            <a:ext cx="3862030" cy="626983"/>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Automated conflict detection prevents reservation overlaps</a:t>
            </a:r>
            <a:endParaRPr lang="en-US" sz="1600" dirty="0"/>
          </a:p>
        </p:txBody>
      </p:sp>
      <p:sp>
        <p:nvSpPr>
          <p:cNvPr id="16" name="Shape 12"/>
          <p:cNvSpPr/>
          <p:nvPr/>
        </p:nvSpPr>
        <p:spPr>
          <a:xfrm>
            <a:off x="9637871" y="2851309"/>
            <a:ext cx="4273034" cy="2273618"/>
          </a:xfrm>
          <a:prstGeom prst="roundRect">
            <a:avLst>
              <a:gd name="adj" fmla="val 1356"/>
            </a:avLst>
          </a:prstGeom>
          <a:solidFill>
            <a:srgbClr val="3C3C3A"/>
          </a:solidFill>
          <a:ln/>
        </p:spPr>
      </p:sp>
      <p:sp>
        <p:nvSpPr>
          <p:cNvPr id="17" name="Shape 13"/>
          <p:cNvSpPr/>
          <p:nvPr/>
        </p:nvSpPr>
        <p:spPr>
          <a:xfrm>
            <a:off x="9843373" y="3056811"/>
            <a:ext cx="616625" cy="616625"/>
          </a:xfrm>
          <a:prstGeom prst="roundRect">
            <a:avLst>
              <a:gd name="adj" fmla="val 14827627"/>
            </a:avLst>
          </a:prstGeom>
          <a:solidFill>
            <a:srgbClr val="E1E1DF"/>
          </a:solidFill>
          <a:ln/>
        </p:spPr>
      </p:sp>
      <p:pic>
        <p:nvPicPr>
          <p:cNvPr id="18" name="Image 2" descr="preencoded.png">    </p:cNvPr>
          <p:cNvPicPr>
            <a:picLocks noChangeAspect="1"/>
          </p:cNvPicPr>
          <p:nvPr/>
        </p:nvPicPr>
        <p:blipFill>
          <a:blip r:embed="Rb5196815057f4974">
            <a:extLst>
              <a:ext uri="{96DAC541-7B7A-43D3-8B79-37D633B846F1}">
                <asvg:svgBlip xmlns:asvg="http://schemas.microsoft.com/office/drawing/2016/SVG/main" r:embed="R033173bc38d54b86"/>
              </a:ext>
            </a:extLst>
          </a:blip>
          <a:stretch>
            <a:fillRect/>
          </a:stretch>
        </p:blipFill>
        <p:spPr>
          <a:xfrm>
            <a:off x="10012918" y="3226356"/>
            <a:ext cx="277416" cy="277416"/>
          </a:xfrm>
          <a:prstGeom prst="rect">
            <a:avLst/>
          </a:prstGeom>
        </p:spPr>
      </p:pic>
      <p:sp>
        <p:nvSpPr>
          <p:cNvPr id="19" name="Text 14"/>
          <p:cNvSpPr/>
          <p:nvPr/>
        </p:nvSpPr>
        <p:spPr>
          <a:xfrm>
            <a:off x="9843373" y="3859649"/>
            <a:ext cx="3684032"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Accurate Billing &amp; Reporting</a:t>
            </a:r>
            <a:endParaRPr lang="en-US" sz="2000" dirty="0"/>
          </a:p>
        </p:txBody>
      </p:sp>
      <p:sp>
        <p:nvSpPr>
          <p:cNvPr id="20" name="Text 15"/>
          <p:cNvSpPr/>
          <p:nvPr/>
        </p:nvSpPr>
        <p:spPr>
          <a:xfrm>
            <a:off x="9843373" y="4292441"/>
            <a:ext cx="3862030" cy="626983"/>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Structured relational data ensures precise financial records</a:t>
            </a:r>
            <a:endParaRPr lang="en-US" sz="1600" dirty="0"/>
          </a:p>
        </p:txBody>
      </p:sp>
      <p:sp>
        <p:nvSpPr>
          <p:cNvPr id="21" name="Shape 16"/>
          <p:cNvSpPr/>
          <p:nvPr/>
        </p:nvSpPr>
        <p:spPr>
          <a:xfrm>
            <a:off x="719376" y="5311140"/>
            <a:ext cx="6502598" cy="2273618"/>
          </a:xfrm>
          <a:prstGeom prst="roundRect">
            <a:avLst>
              <a:gd name="adj" fmla="val 1356"/>
            </a:avLst>
          </a:prstGeom>
          <a:solidFill>
            <a:srgbClr val="3C3C3A"/>
          </a:solidFill>
          <a:ln/>
        </p:spPr>
      </p:sp>
      <p:sp>
        <p:nvSpPr>
          <p:cNvPr id="22" name="Shape 17"/>
          <p:cNvSpPr/>
          <p:nvPr/>
        </p:nvSpPr>
        <p:spPr>
          <a:xfrm>
            <a:off x="924878" y="5516642"/>
            <a:ext cx="616625" cy="616625"/>
          </a:xfrm>
          <a:prstGeom prst="roundRect">
            <a:avLst>
              <a:gd name="adj" fmla="val 14827627"/>
            </a:avLst>
          </a:prstGeom>
          <a:solidFill>
            <a:srgbClr val="E1E1DF"/>
          </a:solidFill>
          <a:ln/>
        </p:spPr>
      </p:sp>
      <p:pic>
        <p:nvPicPr>
          <p:cNvPr id="23" name="Image 3" descr="preencoded.png">    </p:cNvPr>
          <p:cNvPicPr>
            <a:picLocks noChangeAspect="1"/>
          </p:cNvPicPr>
          <p:nvPr/>
        </p:nvPicPr>
        <p:blipFill>
          <a:blip r:embed="Rb5196815057f4974">
            <a:extLst>
              <a:ext uri="{96DAC541-7B7A-43D3-8B79-37D633B846F1}">
                <asvg:svgBlip xmlns:asvg="http://schemas.microsoft.com/office/drawing/2016/SVG/main" r:embed="R77c75b65a2f0444d"/>
              </a:ext>
            </a:extLst>
          </a:blip>
          <a:stretch>
            <a:fillRect/>
          </a:stretch>
        </p:blipFill>
        <p:spPr>
          <a:xfrm>
            <a:off x="1094423" y="5686187"/>
            <a:ext cx="277416" cy="277416"/>
          </a:xfrm>
          <a:prstGeom prst="rect">
            <a:avLst/>
          </a:prstGeom>
        </p:spPr>
      </p:pic>
      <p:sp>
        <p:nvSpPr>
          <p:cNvPr id="24" name="Text 18"/>
          <p:cNvSpPr/>
          <p:nvPr/>
        </p:nvSpPr>
        <p:spPr>
          <a:xfrm>
            <a:off x="924878" y="6319480"/>
            <a:ext cx="4724400"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Better Guest Feedback Management</a:t>
            </a:r>
            <a:endParaRPr lang="en-US" sz="2000" dirty="0"/>
          </a:p>
        </p:txBody>
      </p:sp>
      <p:sp>
        <p:nvSpPr>
          <p:cNvPr id="25" name="Text 19"/>
          <p:cNvSpPr/>
          <p:nvPr/>
        </p:nvSpPr>
        <p:spPr>
          <a:xfrm>
            <a:off x="924878" y="6752273"/>
            <a:ext cx="6091595" cy="626983"/>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Flexible MongoDB schema captures rich, varied guest opinions</a:t>
            </a:r>
            <a:endParaRPr lang="en-US" sz="1600" dirty="0"/>
          </a:p>
        </p:txBody>
      </p:sp>
      <p:sp>
        <p:nvSpPr>
          <p:cNvPr id="26" name="Shape 20"/>
          <p:cNvSpPr/>
          <p:nvPr/>
        </p:nvSpPr>
        <p:spPr>
          <a:xfrm>
            <a:off x="7408188" y="5311140"/>
            <a:ext cx="6502718" cy="2273618"/>
          </a:xfrm>
          <a:prstGeom prst="roundRect">
            <a:avLst>
              <a:gd name="adj" fmla="val 1356"/>
            </a:avLst>
          </a:prstGeom>
          <a:solidFill>
            <a:srgbClr val="3C3C3A"/>
          </a:solidFill>
          <a:ln/>
        </p:spPr>
      </p:sp>
      <p:sp>
        <p:nvSpPr>
          <p:cNvPr id="27" name="Shape 21"/>
          <p:cNvSpPr/>
          <p:nvPr/>
        </p:nvSpPr>
        <p:spPr>
          <a:xfrm>
            <a:off x="7613690" y="5516642"/>
            <a:ext cx="616625" cy="616625"/>
          </a:xfrm>
          <a:prstGeom prst="roundRect">
            <a:avLst>
              <a:gd name="adj" fmla="val 14827627"/>
            </a:avLst>
          </a:prstGeom>
          <a:solidFill>
            <a:srgbClr val="E1E1DF"/>
          </a:solidFill>
          <a:ln/>
        </p:spPr>
      </p:sp>
      <p:pic>
        <p:nvPicPr>
          <p:cNvPr id="28" name="Image 4" descr="preencoded.png">    </p:cNvPr>
          <p:cNvPicPr>
            <a:picLocks noChangeAspect="1"/>
          </p:cNvPicPr>
          <p:nvPr/>
        </p:nvPicPr>
        <p:blipFill>
          <a:blip r:embed="Rb5196815057f4974">
            <a:extLst>
              <a:ext uri="{96DAC541-7B7A-43D3-8B79-37D633B846F1}">
                <asvg:svgBlip xmlns:asvg="http://schemas.microsoft.com/office/drawing/2016/SVG/main" r:embed="Recfd6cdc43e946a4"/>
              </a:ext>
            </a:extLst>
          </a:blip>
          <a:stretch>
            <a:fillRect/>
          </a:stretch>
        </p:blipFill>
        <p:spPr>
          <a:xfrm>
            <a:off x="7783235" y="5686187"/>
            <a:ext cx="277416" cy="277416"/>
          </a:xfrm>
          <a:prstGeom prst="rect">
            <a:avLst/>
          </a:prstGeom>
        </p:spPr>
      </p:pic>
      <p:sp>
        <p:nvSpPr>
          <p:cNvPr id="29" name="Text 22"/>
          <p:cNvSpPr/>
          <p:nvPr/>
        </p:nvSpPr>
        <p:spPr>
          <a:xfrm>
            <a:off x="7613690" y="6319480"/>
            <a:ext cx="4209693" cy="321112"/>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Improved Operational Efficiency</a:t>
            </a:r>
            <a:endParaRPr lang="en-US" sz="2000" dirty="0"/>
          </a:p>
        </p:txBody>
      </p:sp>
      <p:sp>
        <p:nvSpPr>
          <p:cNvPr id="30" name="Text 23"/>
          <p:cNvSpPr/>
          <p:nvPr/>
        </p:nvSpPr>
        <p:spPr>
          <a:xfrm>
            <a:off x="7613690" y="6752273"/>
            <a:ext cx="6091714" cy="626983"/>
          </a:xfrm>
          <a:prstGeom prst="rect">
            <a:avLst/>
          </a:prstGeom>
          <a:noFill/>
          <a:ln/>
        </p:spPr>
        <p:txBody>
          <a:bodyPr wrap="square" lIns="0" tIns="0" rIns="0" bIns="0" rtlCol="0" anchor="t"/>
          <a:lstStyle/>
          <a:p>
            <a:pPr algn="l" indent="0" marL="0">
              <a:lnSpc>
                <a:spcPts val="2450"/>
              </a:lnSpc>
              <a:buNone/>
            </a:pPr>
            <a:r>
              <a:rPr lang="en-US" sz="1600" dirty="0">
                <a:solidFill>
                  <a:srgbClr val="C9C9C0"/>
                </a:solidFill>
                <a:latin typeface="Tomorrow" pitchFamily="34" charset="0"/>
                <a:ea typeface="Tomorrow" pitchFamily="34" charset="-122"/>
                <a:cs typeface="Tomorrow" pitchFamily="34" charset="-120"/>
              </a:rPr>
              <a:t>Streamlined workflows reduce manual effort across departments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568291" y="506968"/>
            <a:ext cx="763191" cy="284559"/>
          </a:xfrm>
          <a:prstGeom prst="roundRect">
            <a:avLst>
              <a:gd name="adj" fmla="val 7025"/>
            </a:avLst>
          </a:prstGeom>
          <a:solidFill>
            <a:srgbClr val="272725"/>
          </a:solidFill>
          <a:ln/>
        </p:spPr>
      </p:sp>
      <p:sp>
        <p:nvSpPr>
          <p:cNvPr id="3" name="Text 1"/>
          <p:cNvSpPr/>
          <p:nvPr/>
        </p:nvSpPr>
        <p:spPr>
          <a:xfrm>
            <a:off x="1668185" y="556855"/>
            <a:ext cx="563404" cy="184785"/>
          </a:xfrm>
          <a:prstGeom prst="rect">
            <a:avLst/>
          </a:prstGeom>
          <a:noFill/>
          <a:ln/>
        </p:spPr>
        <p:txBody>
          <a:bodyPr wrap="none" lIns="0" tIns="0" rIns="0" bIns="0" rtlCol="0" anchor="t"/>
          <a:lstStyle/>
          <a:p>
            <a:pPr algn="l" indent="0" marL="0">
              <a:lnSpc>
                <a:spcPts val="1450"/>
              </a:lnSpc>
              <a:buNone/>
            </a:pPr>
            <a:r>
              <a:rPr lang="en-US" sz="1000" dirty="0">
                <a:solidFill>
                  <a:srgbClr val="C9C9C0"/>
                </a:solidFill>
                <a:latin typeface="Tomorrow" pitchFamily="34" charset="0"/>
                <a:ea typeface="Tomorrow" pitchFamily="34" charset="-122"/>
                <a:cs typeface="Tomorrow" pitchFamily="34" charset="-120"/>
              </a:rPr>
              <a:t>SLIDE 13</a:t>
            </a:r>
            <a:endParaRPr lang="en-US" sz="1000" dirty="0"/>
          </a:p>
        </p:txBody>
      </p:sp>
      <p:sp>
        <p:nvSpPr>
          <p:cNvPr id="4" name="Text 2"/>
          <p:cNvSpPr/>
          <p:nvPr/>
        </p:nvSpPr>
        <p:spPr>
          <a:xfrm>
            <a:off x="1568291" y="840343"/>
            <a:ext cx="5454848" cy="520541"/>
          </a:xfrm>
          <a:prstGeom prst="rect">
            <a:avLst/>
          </a:prstGeom>
          <a:noFill/>
          <a:ln/>
        </p:spPr>
        <p:txBody>
          <a:bodyPr wrap="none" lIns="0" tIns="0" rIns="0" bIns="0" rtlCol="0" anchor="t"/>
          <a:lstStyle/>
          <a:p>
            <a:pPr algn="l" indent="0" marL="0">
              <a:lnSpc>
                <a:spcPts val="4050"/>
              </a:lnSpc>
              <a:buNone/>
            </a:pPr>
            <a:r>
              <a:rPr lang="en-US" sz="3250" dirty="0">
                <a:solidFill>
                  <a:srgbClr val="EDEDE8"/>
                </a:solidFill>
                <a:latin typeface="Tomorrow Semi Bold" pitchFamily="34" charset="0"/>
                <a:ea typeface="Tomorrow Semi Bold" pitchFamily="34" charset="-122"/>
                <a:cs typeface="Tomorrow Semi Bold" pitchFamily="34" charset="-120"/>
              </a:rPr>
              <a:t>Conclusion &amp; Future Work</a:t>
            </a:r>
            <a:endParaRPr lang="en-US" sz="3250" dirty="0"/>
          </a:p>
        </p:txBody>
      </p:sp>
      <p:sp>
        <p:nvSpPr>
          <p:cNvPr id="5" name="Text 3"/>
          <p:cNvSpPr/>
          <p:nvPr/>
        </p:nvSpPr>
        <p:spPr>
          <a:xfrm>
            <a:off x="1568291" y="1666637"/>
            <a:ext cx="2082165" cy="260271"/>
          </a:xfrm>
          <a:prstGeom prst="rect">
            <a:avLst/>
          </a:prstGeom>
          <a:noFill/>
          <a:ln/>
        </p:spPr>
        <p:txBody>
          <a:bodyPr wrap="none" lIns="0" tIns="0" rIns="0" bIns="0" rtlCol="0" anchor="t"/>
          <a:lstStyle/>
          <a:p>
            <a:pPr algn="l" indent="0" marL="0">
              <a:lnSpc>
                <a:spcPts val="2000"/>
              </a:lnSpc>
              <a:buNone/>
            </a:pPr>
            <a:r>
              <a:rPr lang="en-US" sz="1600" dirty="0">
                <a:solidFill>
                  <a:srgbClr val="EDEDE8"/>
                </a:solidFill>
                <a:latin typeface="Tomorrow Semi Bold" pitchFamily="34" charset="0"/>
                <a:ea typeface="Tomorrow Semi Bold" pitchFamily="34" charset="-122"/>
                <a:cs typeface="Tomorrow Semi Bold" pitchFamily="34" charset="-120"/>
              </a:rPr>
              <a:t>Conclusion</a:t>
            </a:r>
            <a:endParaRPr lang="en-US" sz="1600" dirty="0"/>
          </a:p>
        </p:txBody>
      </p:sp>
      <p:sp>
        <p:nvSpPr>
          <p:cNvPr id="6" name="Text 4"/>
          <p:cNvSpPr/>
          <p:nvPr/>
        </p:nvSpPr>
        <p:spPr>
          <a:xfrm>
            <a:off x="1568291" y="2049185"/>
            <a:ext cx="5543669" cy="1155502"/>
          </a:xfrm>
          <a:prstGeom prst="rect">
            <a:avLst/>
          </a:prstGeom>
          <a:noFill/>
          <a:ln/>
        </p:spPr>
        <p:txBody>
          <a:bodyPr wrap="square" lIns="0" tIns="0" rIns="0" bIns="0" rtlCol="0" anchor="t"/>
          <a:lstStyle/>
          <a:p>
            <a:pPr algn="l" indent="0" marL="0">
              <a:lnSpc>
                <a:spcPts val="1800"/>
              </a:lnSpc>
              <a:buNone/>
            </a:pPr>
            <a:r>
              <a:rPr lang="en-US" sz="1300" dirty="0">
                <a:solidFill>
                  <a:srgbClr val="C9C9C0"/>
                </a:solidFill>
                <a:latin typeface="Tomorrow" pitchFamily="34" charset="0"/>
                <a:ea typeface="Tomorrow" pitchFamily="34" charset="-122"/>
                <a:cs typeface="Tomorrow" pitchFamily="34" charset="-120"/>
              </a:rPr>
              <a:t>The hybrid database system successfully addresses the limitations of the current manual system at Addis Grand Hotel. By combining MySQL's structured reliability with MongoDB's schema flexibility, the solution delivers a robust, scalable foundation for modern hotel management.</a:t>
            </a:r>
            <a:endParaRPr lang="en-US" sz="1300" dirty="0"/>
          </a:p>
        </p:txBody>
      </p:sp>
      <p:sp>
        <p:nvSpPr>
          <p:cNvPr id="7" name="Shape 5"/>
          <p:cNvSpPr/>
          <p:nvPr/>
        </p:nvSpPr>
        <p:spPr>
          <a:xfrm>
            <a:off x="7405926" y="1544360"/>
            <a:ext cx="5783461" cy="5534501"/>
          </a:xfrm>
          <a:prstGeom prst="roundRect">
            <a:avLst>
              <a:gd name="adj" fmla="val 451"/>
            </a:avLst>
          </a:prstGeom>
          <a:solidFill>
            <a:srgbClr val="1F1F1E"/>
          </a:solidFill>
          <a:ln/>
        </p:spPr>
      </p:sp>
      <p:sp>
        <p:nvSpPr>
          <p:cNvPr id="8" name="Text 6"/>
          <p:cNvSpPr/>
          <p:nvPr/>
        </p:nvSpPr>
        <p:spPr>
          <a:xfrm>
            <a:off x="7572494" y="1666637"/>
            <a:ext cx="2082165" cy="260271"/>
          </a:xfrm>
          <a:prstGeom prst="rect">
            <a:avLst/>
          </a:prstGeom>
          <a:noFill/>
          <a:ln/>
        </p:spPr>
        <p:txBody>
          <a:bodyPr wrap="none" lIns="0" tIns="0" rIns="0" bIns="0" rtlCol="0" anchor="t"/>
          <a:lstStyle/>
          <a:p>
            <a:pPr algn="l" indent="0" marL="0">
              <a:lnSpc>
                <a:spcPts val="2000"/>
              </a:lnSpc>
              <a:buNone/>
            </a:pPr>
            <a:r>
              <a:rPr lang="en-US" sz="1600" dirty="0">
                <a:solidFill>
                  <a:srgbClr val="EDEDE8"/>
                </a:solidFill>
                <a:latin typeface="Tomorrow Semi Bold" pitchFamily="34" charset="0"/>
                <a:ea typeface="Tomorrow Semi Bold" pitchFamily="34" charset="-122"/>
                <a:cs typeface="Tomorrow Semi Bold" pitchFamily="34" charset="-120"/>
              </a:rPr>
              <a:t>Future Work</a:t>
            </a:r>
            <a:endParaRPr lang="en-US" sz="1600" dirty="0"/>
          </a:p>
        </p:txBody>
      </p:sp>
      <p:sp>
        <p:nvSpPr>
          <p:cNvPr id="9" name="Text 7"/>
          <p:cNvSpPr/>
          <p:nvPr/>
        </p:nvSpPr>
        <p:spPr>
          <a:xfrm>
            <a:off x="7572494" y="2064425"/>
            <a:ext cx="333137" cy="208121"/>
          </a:xfrm>
          <a:prstGeom prst="rect">
            <a:avLst/>
          </a:prstGeom>
          <a:noFill/>
          <a:ln/>
        </p:spPr>
        <p:txBody>
          <a:bodyPr wrap="none" lIns="0" tIns="0" rIns="0" bIns="0" rtlCol="0" anchor="ctr"/>
          <a:lstStyle/>
          <a:p>
            <a:pPr algn="l" indent="0" marL="0">
              <a:lnSpc>
                <a:spcPts val="1800"/>
              </a:lnSpc>
              <a:buNone/>
            </a:pPr>
            <a:r>
              <a:rPr lang="en-US" sz="1300" dirty="0">
                <a:solidFill>
                  <a:srgbClr val="C9C9C0"/>
                </a:solidFill>
                <a:latin typeface="Tomorrow Light" pitchFamily="34" charset="0"/>
                <a:ea typeface="Tomorrow Light" pitchFamily="34" charset="-122"/>
                <a:cs typeface="Tomorrow Light" pitchFamily="34" charset="-120"/>
              </a:rPr>
              <a:t>01</a:t>
            </a:r>
            <a:endParaRPr lang="en-US" sz="1300" dirty="0"/>
          </a:p>
        </p:txBody>
      </p:sp>
      <p:sp>
        <p:nvSpPr>
          <p:cNvPr id="10" name="Shape 8"/>
          <p:cNvSpPr/>
          <p:nvPr/>
        </p:nvSpPr>
        <p:spPr>
          <a:xfrm>
            <a:off x="7572494" y="2324457"/>
            <a:ext cx="5450324" cy="22860"/>
          </a:xfrm>
          <a:prstGeom prst="rect">
            <a:avLst/>
          </a:prstGeom>
          <a:solidFill>
            <a:srgbClr val="E1E1DF"/>
          </a:solidFill>
          <a:ln/>
        </p:spPr>
      </p:sp>
      <p:sp>
        <p:nvSpPr>
          <p:cNvPr id="11" name="Text 9"/>
          <p:cNvSpPr/>
          <p:nvPr/>
        </p:nvSpPr>
        <p:spPr>
          <a:xfrm>
            <a:off x="7572494" y="2453402"/>
            <a:ext cx="2225873" cy="260271"/>
          </a:xfrm>
          <a:prstGeom prst="rect">
            <a:avLst/>
          </a:prstGeom>
          <a:noFill/>
          <a:ln/>
        </p:spPr>
        <p:txBody>
          <a:bodyPr wrap="none" lIns="0" tIns="0" rIns="0" bIns="0" rtlCol="0" anchor="t"/>
          <a:lstStyle/>
          <a:p>
            <a:pPr algn="l"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Web-Based Frontend</a:t>
            </a:r>
            <a:endParaRPr lang="en-US" sz="1600" dirty="0"/>
          </a:p>
        </p:txBody>
      </p:sp>
      <p:sp>
        <p:nvSpPr>
          <p:cNvPr id="12" name="Text 10"/>
          <p:cNvSpPr/>
          <p:nvPr/>
        </p:nvSpPr>
        <p:spPr>
          <a:xfrm>
            <a:off x="7572494" y="2835950"/>
            <a:ext cx="5450324" cy="231100"/>
          </a:xfrm>
          <a:prstGeom prst="rect">
            <a:avLst/>
          </a:prstGeom>
          <a:noFill/>
          <a:ln/>
        </p:spPr>
        <p:txBody>
          <a:bodyPr wrap="none" lIns="0" tIns="0" rIns="0" bIns="0" rtlCol="0" anchor="t"/>
          <a:lstStyle/>
          <a:p>
            <a:pPr algn="l" indent="0" marL="0">
              <a:lnSpc>
                <a:spcPts val="1800"/>
              </a:lnSpc>
              <a:buNone/>
            </a:pPr>
            <a:r>
              <a:rPr lang="en-US" sz="1300" dirty="0">
                <a:solidFill>
                  <a:srgbClr val="C9C9C0"/>
                </a:solidFill>
                <a:latin typeface="Tomorrow" pitchFamily="34" charset="0"/>
                <a:ea typeface="Tomorrow" pitchFamily="34" charset="-122"/>
                <a:cs typeface="Tomorrow" pitchFamily="34" charset="-120"/>
              </a:rPr>
              <a:t>Develop a responsive UI for staff and guests</a:t>
            </a:r>
            <a:endParaRPr lang="en-US" sz="1300" dirty="0"/>
          </a:p>
        </p:txBody>
      </p:sp>
      <p:sp>
        <p:nvSpPr>
          <p:cNvPr id="13" name="Text 11"/>
          <p:cNvSpPr/>
          <p:nvPr/>
        </p:nvSpPr>
        <p:spPr>
          <a:xfrm>
            <a:off x="7572494" y="3314224"/>
            <a:ext cx="333137" cy="208121"/>
          </a:xfrm>
          <a:prstGeom prst="rect">
            <a:avLst/>
          </a:prstGeom>
          <a:noFill/>
          <a:ln/>
        </p:spPr>
        <p:txBody>
          <a:bodyPr wrap="none" lIns="0" tIns="0" rIns="0" bIns="0" rtlCol="0" anchor="ctr"/>
          <a:lstStyle/>
          <a:p>
            <a:pPr algn="l" indent="0" marL="0">
              <a:lnSpc>
                <a:spcPts val="1800"/>
              </a:lnSpc>
              <a:buNone/>
            </a:pPr>
            <a:r>
              <a:rPr lang="en-US" sz="1300" dirty="0">
                <a:solidFill>
                  <a:srgbClr val="C9C9C0"/>
                </a:solidFill>
                <a:latin typeface="Tomorrow Light" pitchFamily="34" charset="0"/>
                <a:ea typeface="Tomorrow Light" pitchFamily="34" charset="-122"/>
                <a:cs typeface="Tomorrow Light" pitchFamily="34" charset="-120"/>
              </a:rPr>
              <a:t>02</a:t>
            </a:r>
            <a:endParaRPr lang="en-US" sz="1300" dirty="0"/>
          </a:p>
        </p:txBody>
      </p:sp>
      <p:sp>
        <p:nvSpPr>
          <p:cNvPr id="14" name="Shape 12"/>
          <p:cNvSpPr/>
          <p:nvPr/>
        </p:nvSpPr>
        <p:spPr>
          <a:xfrm>
            <a:off x="7572494" y="3574256"/>
            <a:ext cx="5450324" cy="22860"/>
          </a:xfrm>
          <a:prstGeom prst="rect">
            <a:avLst/>
          </a:prstGeom>
          <a:solidFill>
            <a:srgbClr val="E1E1DF"/>
          </a:solidFill>
          <a:ln/>
        </p:spPr>
      </p:sp>
      <p:sp>
        <p:nvSpPr>
          <p:cNvPr id="15" name="Text 13"/>
          <p:cNvSpPr/>
          <p:nvPr/>
        </p:nvSpPr>
        <p:spPr>
          <a:xfrm>
            <a:off x="7572494" y="3703201"/>
            <a:ext cx="2953464" cy="260271"/>
          </a:xfrm>
          <a:prstGeom prst="rect">
            <a:avLst/>
          </a:prstGeom>
          <a:noFill/>
          <a:ln/>
        </p:spPr>
        <p:txBody>
          <a:bodyPr wrap="none" lIns="0" tIns="0" rIns="0" bIns="0" rtlCol="0" anchor="t"/>
          <a:lstStyle/>
          <a:p>
            <a:pPr algn="l"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User Authentication &amp; Roles</a:t>
            </a:r>
            <a:endParaRPr lang="en-US" sz="1600" dirty="0"/>
          </a:p>
        </p:txBody>
      </p:sp>
      <p:sp>
        <p:nvSpPr>
          <p:cNvPr id="16" name="Text 14"/>
          <p:cNvSpPr/>
          <p:nvPr/>
        </p:nvSpPr>
        <p:spPr>
          <a:xfrm>
            <a:off x="7572494" y="4085749"/>
            <a:ext cx="5450324" cy="231100"/>
          </a:xfrm>
          <a:prstGeom prst="rect">
            <a:avLst/>
          </a:prstGeom>
          <a:noFill/>
          <a:ln/>
        </p:spPr>
        <p:txBody>
          <a:bodyPr wrap="none" lIns="0" tIns="0" rIns="0" bIns="0" rtlCol="0" anchor="t"/>
          <a:lstStyle/>
          <a:p>
            <a:pPr algn="l" indent="0" marL="0">
              <a:lnSpc>
                <a:spcPts val="1800"/>
              </a:lnSpc>
              <a:buNone/>
            </a:pPr>
            <a:r>
              <a:rPr lang="en-US" sz="1300" dirty="0">
                <a:solidFill>
                  <a:srgbClr val="C9C9C0"/>
                </a:solidFill>
                <a:latin typeface="Tomorrow" pitchFamily="34" charset="0"/>
                <a:ea typeface="Tomorrow" pitchFamily="34" charset="-122"/>
                <a:cs typeface="Tomorrow" pitchFamily="34" charset="-120"/>
              </a:rPr>
              <a:t>Implement secure login with role-based access control</a:t>
            </a:r>
            <a:endParaRPr lang="en-US" sz="1300" dirty="0"/>
          </a:p>
        </p:txBody>
      </p:sp>
      <p:sp>
        <p:nvSpPr>
          <p:cNvPr id="17" name="Text 15"/>
          <p:cNvSpPr/>
          <p:nvPr/>
        </p:nvSpPr>
        <p:spPr>
          <a:xfrm>
            <a:off x="7572494" y="4564023"/>
            <a:ext cx="333137" cy="208121"/>
          </a:xfrm>
          <a:prstGeom prst="rect">
            <a:avLst/>
          </a:prstGeom>
          <a:noFill/>
          <a:ln/>
        </p:spPr>
        <p:txBody>
          <a:bodyPr wrap="none" lIns="0" tIns="0" rIns="0" bIns="0" rtlCol="0" anchor="ctr"/>
          <a:lstStyle/>
          <a:p>
            <a:pPr algn="l" indent="0" marL="0">
              <a:lnSpc>
                <a:spcPts val="1800"/>
              </a:lnSpc>
              <a:buNone/>
            </a:pPr>
            <a:r>
              <a:rPr lang="en-US" sz="1300" dirty="0">
                <a:solidFill>
                  <a:srgbClr val="C9C9C0"/>
                </a:solidFill>
                <a:latin typeface="Tomorrow Light" pitchFamily="34" charset="0"/>
                <a:ea typeface="Tomorrow Light" pitchFamily="34" charset="-122"/>
                <a:cs typeface="Tomorrow Light" pitchFamily="34" charset="-120"/>
              </a:rPr>
              <a:t>03</a:t>
            </a:r>
            <a:endParaRPr lang="en-US" sz="1300" dirty="0"/>
          </a:p>
        </p:txBody>
      </p:sp>
      <p:sp>
        <p:nvSpPr>
          <p:cNvPr id="18" name="Shape 16"/>
          <p:cNvSpPr/>
          <p:nvPr/>
        </p:nvSpPr>
        <p:spPr>
          <a:xfrm>
            <a:off x="7572494" y="4824055"/>
            <a:ext cx="5450324" cy="22860"/>
          </a:xfrm>
          <a:prstGeom prst="rect">
            <a:avLst/>
          </a:prstGeom>
          <a:solidFill>
            <a:srgbClr val="E1E1DF"/>
          </a:solidFill>
          <a:ln/>
        </p:spPr>
      </p:sp>
      <p:sp>
        <p:nvSpPr>
          <p:cNvPr id="19" name="Text 17"/>
          <p:cNvSpPr/>
          <p:nvPr/>
        </p:nvSpPr>
        <p:spPr>
          <a:xfrm>
            <a:off x="7572494" y="4953000"/>
            <a:ext cx="2460903" cy="260271"/>
          </a:xfrm>
          <a:prstGeom prst="rect">
            <a:avLst/>
          </a:prstGeom>
          <a:noFill/>
          <a:ln/>
        </p:spPr>
        <p:txBody>
          <a:bodyPr wrap="none" lIns="0" tIns="0" rIns="0" bIns="0" rtlCol="0" anchor="t"/>
          <a:lstStyle/>
          <a:p>
            <a:pPr algn="l"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Real-Time Notifications</a:t>
            </a:r>
            <a:endParaRPr lang="en-US" sz="1600" dirty="0"/>
          </a:p>
        </p:txBody>
      </p:sp>
      <p:sp>
        <p:nvSpPr>
          <p:cNvPr id="20" name="Text 18"/>
          <p:cNvSpPr/>
          <p:nvPr/>
        </p:nvSpPr>
        <p:spPr>
          <a:xfrm>
            <a:off x="7572494" y="5335548"/>
            <a:ext cx="5450324" cy="231100"/>
          </a:xfrm>
          <a:prstGeom prst="rect">
            <a:avLst/>
          </a:prstGeom>
          <a:noFill/>
          <a:ln/>
        </p:spPr>
        <p:txBody>
          <a:bodyPr wrap="none" lIns="0" tIns="0" rIns="0" bIns="0" rtlCol="0" anchor="t"/>
          <a:lstStyle/>
          <a:p>
            <a:pPr algn="l" indent="0" marL="0">
              <a:lnSpc>
                <a:spcPts val="1800"/>
              </a:lnSpc>
              <a:buNone/>
            </a:pPr>
            <a:r>
              <a:rPr lang="en-US" sz="1300" dirty="0">
                <a:solidFill>
                  <a:srgbClr val="C9C9C0"/>
                </a:solidFill>
                <a:latin typeface="Tomorrow" pitchFamily="34" charset="0"/>
                <a:ea typeface="Tomorrow" pitchFamily="34" charset="-122"/>
                <a:cs typeface="Tomorrow" pitchFamily="34" charset="-120"/>
              </a:rPr>
              <a:t>Alert staff instantly on bookings, requests, and updates</a:t>
            </a:r>
            <a:endParaRPr lang="en-US" sz="1300" dirty="0"/>
          </a:p>
        </p:txBody>
      </p:sp>
      <p:sp>
        <p:nvSpPr>
          <p:cNvPr id="21" name="Text 19"/>
          <p:cNvSpPr/>
          <p:nvPr/>
        </p:nvSpPr>
        <p:spPr>
          <a:xfrm>
            <a:off x="7572494" y="5813822"/>
            <a:ext cx="333137" cy="208121"/>
          </a:xfrm>
          <a:prstGeom prst="rect">
            <a:avLst/>
          </a:prstGeom>
          <a:noFill/>
          <a:ln/>
        </p:spPr>
        <p:txBody>
          <a:bodyPr wrap="none" lIns="0" tIns="0" rIns="0" bIns="0" rtlCol="0" anchor="ctr"/>
          <a:lstStyle/>
          <a:p>
            <a:pPr algn="l" indent="0" marL="0">
              <a:lnSpc>
                <a:spcPts val="1800"/>
              </a:lnSpc>
              <a:buNone/>
            </a:pPr>
            <a:r>
              <a:rPr lang="en-US" sz="1300" dirty="0">
                <a:solidFill>
                  <a:srgbClr val="C9C9C0"/>
                </a:solidFill>
                <a:latin typeface="Tomorrow Light" pitchFamily="34" charset="0"/>
                <a:ea typeface="Tomorrow Light" pitchFamily="34" charset="-122"/>
                <a:cs typeface="Tomorrow Light" pitchFamily="34" charset="-120"/>
              </a:rPr>
              <a:t>04</a:t>
            </a:r>
            <a:endParaRPr lang="en-US" sz="1300" dirty="0"/>
          </a:p>
        </p:txBody>
      </p:sp>
      <p:sp>
        <p:nvSpPr>
          <p:cNvPr id="22" name="Shape 20"/>
          <p:cNvSpPr/>
          <p:nvPr/>
        </p:nvSpPr>
        <p:spPr>
          <a:xfrm>
            <a:off x="7572494" y="6073854"/>
            <a:ext cx="5450324" cy="22860"/>
          </a:xfrm>
          <a:prstGeom prst="rect">
            <a:avLst/>
          </a:prstGeom>
          <a:solidFill>
            <a:srgbClr val="E1E1DF"/>
          </a:solidFill>
          <a:ln/>
        </p:spPr>
      </p:sp>
      <p:sp>
        <p:nvSpPr>
          <p:cNvPr id="23" name="Text 21"/>
          <p:cNvSpPr/>
          <p:nvPr/>
        </p:nvSpPr>
        <p:spPr>
          <a:xfrm>
            <a:off x="7572494" y="6202799"/>
            <a:ext cx="2648188" cy="260271"/>
          </a:xfrm>
          <a:prstGeom prst="rect">
            <a:avLst/>
          </a:prstGeom>
          <a:noFill/>
          <a:ln/>
        </p:spPr>
        <p:txBody>
          <a:bodyPr wrap="none" lIns="0" tIns="0" rIns="0" bIns="0" rtlCol="0" anchor="t"/>
          <a:lstStyle/>
          <a:p>
            <a:pPr algn="l"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Online Payment Gateway</a:t>
            </a:r>
            <a:endParaRPr lang="en-US" sz="1600" dirty="0"/>
          </a:p>
        </p:txBody>
      </p:sp>
      <p:sp>
        <p:nvSpPr>
          <p:cNvPr id="24" name="Text 22"/>
          <p:cNvSpPr/>
          <p:nvPr/>
        </p:nvSpPr>
        <p:spPr>
          <a:xfrm>
            <a:off x="7572494" y="6585347"/>
            <a:ext cx="5450324" cy="231100"/>
          </a:xfrm>
          <a:prstGeom prst="rect">
            <a:avLst/>
          </a:prstGeom>
          <a:noFill/>
          <a:ln/>
        </p:spPr>
        <p:txBody>
          <a:bodyPr wrap="none" lIns="0" tIns="0" rIns="0" bIns="0" rtlCol="0" anchor="t"/>
          <a:lstStyle/>
          <a:p>
            <a:pPr algn="l" indent="0" marL="0">
              <a:lnSpc>
                <a:spcPts val="1800"/>
              </a:lnSpc>
              <a:buNone/>
            </a:pPr>
            <a:r>
              <a:rPr lang="en-US" sz="1300" dirty="0">
                <a:solidFill>
                  <a:srgbClr val="C9C9C0"/>
                </a:solidFill>
                <a:latin typeface="Tomorrow" pitchFamily="34" charset="0"/>
                <a:ea typeface="Tomorrow" pitchFamily="34" charset="-122"/>
                <a:cs typeface="Tomorrow" pitchFamily="34" charset="-120"/>
              </a:rPr>
              <a:t>Integrate secure digital payment processing</a:t>
            </a:r>
            <a:endParaRPr lang="en-US" sz="1300" dirty="0"/>
          </a:p>
        </p:txBody>
      </p:sp>
      <p:sp>
        <p:nvSpPr>
          <p:cNvPr id="25" name="Text 23"/>
          <p:cNvSpPr/>
          <p:nvPr/>
        </p:nvSpPr>
        <p:spPr>
          <a:xfrm>
            <a:off x="1818084" y="7353895"/>
            <a:ext cx="11243905" cy="231100"/>
          </a:xfrm>
          <a:prstGeom prst="rect">
            <a:avLst/>
          </a:prstGeom>
          <a:noFill/>
          <a:ln/>
        </p:spPr>
        <p:txBody>
          <a:bodyPr wrap="none" lIns="0" tIns="0" rIns="0" bIns="0" rtlCol="0" anchor="t"/>
          <a:lstStyle/>
          <a:p>
            <a:pPr algn="l" indent="0" marL="0">
              <a:lnSpc>
                <a:spcPts val="1800"/>
              </a:lnSpc>
              <a:buNone/>
            </a:pPr>
            <a:r>
              <a:rPr lang="en-US" sz="1300" b="1" dirty="0">
                <a:solidFill>
                  <a:srgbClr val="C9C9C0"/>
                </a:solidFill>
                <a:latin typeface="Tomorrow" pitchFamily="34" charset="0"/>
                <a:ea typeface="Tomorrow" pitchFamily="34" charset="-122"/>
                <a:cs typeface="Tomorrow" pitchFamily="34" charset="-120"/>
              </a:rPr>
              <a:t>Thank You!</a:t>
            </a:r>
            <a:pPr algn="l" indent="0" marL="0">
              <a:lnSpc>
                <a:spcPts val="1800"/>
              </a:lnSpc>
              <a:buNone/>
            </a:pPr>
            <a:r>
              <a:rPr lang="en-US" sz="1300" dirty="0">
                <a:solidFill>
                  <a:srgbClr val="C9C9C0"/>
                </a:solidFill>
                <a:latin typeface="Tomorrow" pitchFamily="34" charset="0"/>
                <a:ea typeface="Tomorrow" pitchFamily="34" charset="-122"/>
                <a:cs typeface="Tomorrow" pitchFamily="34" charset="-120"/>
              </a:rPr>
              <a:t> Questions?</a:t>
            </a:r>
            <a:endParaRPr lang="en-US" sz="1300" dirty="0"/>
          </a:p>
        </p:txBody>
      </p:sp>
      <p:sp>
        <p:nvSpPr>
          <p:cNvPr id="26" name="Shape 24"/>
          <p:cNvSpPr/>
          <p:nvPr/>
        </p:nvSpPr>
        <p:spPr>
          <a:xfrm>
            <a:off x="1568291" y="7216378"/>
            <a:ext cx="22860" cy="506135"/>
          </a:xfrm>
          <a:prstGeom prst="rect">
            <a:avLst/>
          </a:prstGeom>
          <a:solidFill>
            <a:srgbClr val="E1E1DF"/>
          </a:solidFill>
          <a:ln/>
        </p:spPr>
      </p:sp>
    </p:spTree>
  </p:cSld>
  <p:clrMapOvr>
    <a:masterClrMapping/>
  </p:clrMapOvr>
</p:sld>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
  <dc:subject/>
  <dc:creator/>
  <lastModifiedBy/>
  <revision>1</revision>
  <dcterms:created xsi:type="dcterms:W3CDTF">2026-04-30T14:57:32.0000000Z</dcterms:created>
  <dcterms:modified xsi:type="dcterms:W3CDTF">2026-04-30T14:58:43.4620000Z</dcterms:modified>
</coreProperties>
</file>