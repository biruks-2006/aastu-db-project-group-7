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0320"/>
            <a:ext cx="9144000" cy="10972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Hotel Management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DD7EE"/>
                </a:solidFill>
              </a:rPr>
              <a:t>Using MySQL and MongoDB  —  Database Group Assignment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C3E6"/>
                </a:solidFill>
              </a:rPr>
              <a:t>Addis Ababa Science and Technology University  |  Department of Software Engineering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Group Members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4389120" cy="1554480"/>
        </p:xfrm>
        <a:graphic>
          <a:graphicData uri="http://schemas.openxmlformats.org/drawingml/2006/table">
            <a:tbl>
              <a:tblPr/>
              <a:tblGrid>
                <a:gridCol w="365760"/>
                <a:gridCol w="2560320"/>
                <a:gridCol w="1463040"/>
              </a:tblGrid>
              <a:tr h="2220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Student 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Beka Solomon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ETS 0242/17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Deborah Mesfin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ETS 0434/17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Biruk Molla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ETS 0336/17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Abreham Teshale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ETS 0076/17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Awach Garang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ETS 1869/17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Gakeer Deng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ETS 1865/17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303520" y="28346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Submitted to: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0" y="30723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Mr. Yaynshet Medhin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03520" y="34015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Group: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0" y="36393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Group 7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39684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Date: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303520" y="4206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Presentation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320040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280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Background &amp; 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5544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</a:rPr>
              <a:t>Addis Grand Hotel context and existing operational challenges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841248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320040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47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1874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Objectives &amp; 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1488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</a:rPr>
              <a:t>Project goals, specific objectives, and system boundaries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50592"/>
            <a:ext cx="841248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42032"/>
            <a:ext cx="320040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42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468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7432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</a:rPr>
              <a:t>Hybrid MySQL + MongoDB approach and rationale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841248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36392"/>
            <a:ext cx="320040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063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Database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3375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</a:rPr>
              <a:t>Entities, relationships, ER diagram, and normalization up to BCNF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30752"/>
            <a:ext cx="320040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30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Implementation &amp; 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39319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</a:rPr>
              <a:t>MySQL and MongoDB queries with testing results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233672"/>
            <a:ext cx="841248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325112"/>
            <a:ext cx="320040" cy="32004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25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Conclusion &amp; Future Work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" y="4526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</a:rPr>
              <a:t>Summary of achievements and recommended improvements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Background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</a:rPr>
              <a:t>Addis Grand Hotel — Current System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About the Organization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Addis Grand Hotel is a mid-sized three-star hotel located in Bole, Addis Ababa. The hotel operates approximately 120 rooms in four categories: Single, Double, Deluxe, and Suite. It provides full hospitality services including accommodation, room service, and restaurant facilities.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Currently, the hotel relies entirely on manual record-keeping and spreadsheets to manage core operations — bookings, guest information, room status, and payments. As the hotel grows, this approach has become critically inadequate.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207008"/>
            <a:ext cx="3108960" cy="2331720"/>
          </a:xfrm>
          <a:prstGeom prst="rect">
            <a:avLst/>
          </a:prstGeom>
          <a:solidFill>
            <a:srgbClr val="D6E4F0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Key Facts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600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Location: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12280" y="160020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Bole, Addis Ababa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06440" y="1947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Rating: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12280" y="194767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Three-star hotel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22951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Rooms: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12280" y="22951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~120 rooms (4 types)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806440" y="26426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Services: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12280" y="264261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Accommodation, room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service, restaurant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06440" y="2990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Current System: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12280" y="2990088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Manual / spreadsheets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1078992"/>
          </a:xfrm>
          <a:prstGeom prst="rect">
            <a:avLst/>
          </a:prstGeom>
          <a:solidFill>
            <a:srgbClr val="FFF2CC"/>
          </a:solidFill>
          <a:ln w="9525">
            <a:solidFill>
              <a:srgbClr val="FFD9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57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</a:rPr>
              <a:t>⚠  The Problem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931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As the hotel grows, its manual system causes double bookings, billing errors, lost guest records, inefficient service handling, and inability to generate management reports — resulting in revenue loss and poor guest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</a:rPr>
              <a:t>Key operational challenges of the existing manual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20624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11155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Double Bookings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No real-time tracking causes frequent reservation conflicts and overbooked rooms.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1234440"/>
            <a:ext cx="420624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234440"/>
            <a:ext cx="73152" cy="11155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Billing Errors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61848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Manual invoice calculations create financial discrepancies and untracked revenue.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41448"/>
            <a:ext cx="420624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41448"/>
            <a:ext cx="73152" cy="11155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32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Lost Guest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82549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Paper and spreadsheet storage leads to frequent loss of guest history and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441448"/>
            <a:ext cx="420624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41448"/>
            <a:ext cx="73152" cy="11155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32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Poor Guest Experience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82549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Inefficient room service and feedback handling lowers guest satisfaction.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48456"/>
            <a:ext cx="420624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48456"/>
            <a:ext cx="73152" cy="11155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739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Staff Overload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03250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Excessive manual tasks reduce service quality and increase human error rates.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648456"/>
            <a:ext cx="4206240" cy="111556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648456"/>
            <a:ext cx="73152" cy="111556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73989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No Reports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403250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Inability to generate timely occupancy and revenue reports hinders decision-making.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804672"/>
          </a:xfrm>
          <a:prstGeom prst="rect">
            <a:avLst/>
          </a:prstGeom>
          <a:solidFill>
            <a:srgbClr val="D6E4F0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52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General Objective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To design and implement a hybrid database system using MySQL and MongoDB to automate and improve the overall efficiency of hotel management at Addis Grand Hotel.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Specific Objectives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4B5"/>
                </a:solidFill>
              </a:rPr>
              <a:t>1.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Design a fully normalized relational database in MySQL for structured data (bookings, rooms, guests, payments, staff, reviews, services).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2880360"/>
            <a:ext cx="804672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986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4B5"/>
                </a:solidFill>
              </a:rPr>
              <a:t>2.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986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Use MongoDB for flexible, semi-structured data — guest reviews with tags, room service orders with item arrays, and guest feedback.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355848"/>
            <a:ext cx="804672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7413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4B5"/>
                </a:solidFill>
              </a:rPr>
              <a:t>3.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37413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Enable real-time room availability checking and automated conflict detection to prevent double bookings.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831336"/>
            <a:ext cx="804672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4962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4B5"/>
                </a:solidFill>
              </a:rPr>
              <a:t>4.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84962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Automate payment tracking and generate management reports (occupancy rates, daily revenue, guest history).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4306824"/>
            <a:ext cx="804672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32511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4B5"/>
                </a:solidFill>
              </a:rPr>
              <a:t>5.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3251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Improve data integrity, reduce manual errors, and enforce referential consistency across all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</a:rPr>
              <a:t>Hybrid MySQL + MongoDB approach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2926080" cy="3456432"/>
          </a:xfrm>
          <a:prstGeom prst="rect">
            <a:avLst/>
          </a:prstGeom>
          <a:solidFill>
            <a:srgbClr val="D6E4F0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07008"/>
            <a:ext cx="29260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07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8.0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</a:rPr>
              <a:t>Structured &amp; Transactional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Hotel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RoomType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395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Room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Guest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Booking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18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BookingRoom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Payment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767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Staff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Review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315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1207008"/>
            <a:ext cx="2286000" cy="345643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207008"/>
            <a:ext cx="2286000" cy="347472"/>
          </a:xfrm>
          <a:prstGeom prst="rect">
            <a:avLst/>
          </a:prstGeom>
          <a:solidFill>
            <a:srgbClr val="767676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47872" y="17190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Business Logic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47872" y="222199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Auth &amp; Access Control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47872" y="272491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Query Routing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47872" y="32278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Data Coordination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47872" y="373075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Report Engine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47872" y="4069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</a:rPr>
              <a:t>cross-database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</a:rPr>
              <a:t>ID reference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67676"/>
                </a:solidFill>
              </a:rPr>
              <a:t>(manual sync)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0" y="1207008"/>
            <a:ext cx="2926080" cy="3456432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207008"/>
            <a:ext cx="2926080" cy="34747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1207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1572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75623"/>
                </a:solidFill>
              </a:rPr>
              <a:t>Flexible &amp; Document-based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0760" y="190195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reviews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roomServiceOrders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2450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• guestFeedback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2761488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Why MongoDB?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Variable item arrays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Flexible tags &amp; ratings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Fast aggregation pipelines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No fixed schema needed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Database Design — Entities &amp; Relationships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56616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6217920"/>
              </a:tblGrid>
              <a:tr h="25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Entity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Hotel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Core hotel info — name and location; root entity for rooms and staff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 categories (Single, Double, Deluxe, Suite) with pricing and max occupancy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Individual rooms with floor number, status, and room type foreign key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 personal data, contact information, nationality, and ID details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Reservations linking guests to rooms with dates, status, and total amount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Junction table resolving the M:M relationship between Booking and 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Payment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Payment records per booking — method, amount, date, transaction 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Staff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Hotel employees with full name, position, contact info, and hire date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Structured guest ratings and comments linked to guest and 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Service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MySQL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Additional services per booking (room service, airport pickup, laundry)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MongoDB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Rich review docs: overallRating, roomRating, serviceRating, tags array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roomServiceOrders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MongoDB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Variable item arrays with name, quantity, price, total, and delivery status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guestFeedback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MongoDB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Post-stay feedback with open suggestions, category ratings, and date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Database Design — Key Relationships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3566160"/>
        </p:xfrm>
        <a:graphic>
          <a:graphicData uri="http://schemas.openxmlformats.org/drawingml/2006/table">
            <a:tbl>
              <a:tblPr/>
              <a:tblGrid>
                <a:gridCol w="1554480"/>
                <a:gridCol w="640080"/>
                <a:gridCol w="1920240"/>
                <a:gridCol w="914400"/>
                <a:gridCol w="356616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From Entity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Relationship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Entity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Cardinality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Hotel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 hotel contains many rooms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Hotel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Staff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 hotel employs many staff members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 guest can make multiple bookings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Resolved via BookingRoom junction table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 : 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Each room belongs to exactly one room 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Payment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 booking may have multiple payment installments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 (MySQL)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 guest can write multiple reviews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 (MySQL)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 booking can have multiple reviews linked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Service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 booking can include multiple additional services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reviews (MongoDB)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 IDs are cross-referenced in MongoDB documents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→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roomServiceOrders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 : 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 IDs are referenced in MongoDB service orders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Database Design — Normalization up to BCNF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8595360" cy="237744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51206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Normal Form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Action Taken in This Project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1NF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Atomic values; no repeating groups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All attributes hold single values. No multi-valued fields in any table. Every column is indivisible.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2NF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No partial dependencies on composite keys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Extracted RoomType from Room table. Created BookingRoom junction table to handle the M:M booking-room relationship properly.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3NF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No transitive dependencies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Moved price_per_night to RoomType (not Room). Removed all transitively dependent and derived attributes from tables.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BCNF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Every determinant must be a candidate key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Verified all functional dependencies across every table. All determinants confirmed as candidate keys — BCNF satisfied.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730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Schema Highlights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All tables use AUTO_INCREMENT primary keys for consistent record identification.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422452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Foreign key constraints enforce referential integrity across all relationships.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42569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ENUM types are used for room status (Available, Occupied, Maintenance, Reserved) and payment method.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462686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• CHECK constraint validates booking dates: check_out_date must be greater than check_in_date.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MySQL Implementation — Table Schema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8595360" cy="3566160"/>
        </p:xfrm>
        <a:graphic>
          <a:graphicData uri="http://schemas.openxmlformats.org/drawingml/2006/table">
            <a:tbl>
              <a:tblPr/>
              <a:tblGrid>
                <a:gridCol w="1463040"/>
                <a:gridCol w="7132320"/>
              </a:tblGrid>
              <a:tr h="3241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Hotel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hotel_id (PK) · name · location · created_at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type_id (PK) · type_name · price_per_night · max_occupancy · description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room_id (PK) · room_number · type_id (FK) · hotel_id (FK) · status · floor_number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guest_id (PK) · full_name · phone · email · address · nationality · id_number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booking_id (PK) · guest_id (FK) · check_in_date · check_out_date · total_amount · status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booking_id (FK) + room_id (FK) → Composite Primary Key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Payment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payment_id (PK) · booking_id (FK) · amount · payment_date · payment_method · transaction_id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Staff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staff_id (PK) · hotel_id (FK) · full_name · position · phone · email · hire_date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review_id (PK) · guest_id (FK) · booking_id (FK) · rating (1–5) · comment · review_date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Service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service_id (PK) · booking_id (FK) · type · cost · service_date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MySQL Implementation — Sample Queries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Query 1 — Check Room Availability for a Date Range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1444752"/>
          </a:xfrm>
          <a:prstGeom prst="rect">
            <a:avLst/>
          </a:prstGeom>
          <a:solidFill>
            <a:srgbClr val="1E1E1E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8138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r.room_number, rt.type_name, rt.price_per_night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Room r JOIN RoomType rt ON r.type_id = rt.type_id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r.room_id NOT IN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br.room_id FROM BookingRoom br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 Booking b ON br.booking_id = b.booking_id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b.check_in_date &lt; '2026-05-20' AND b.check_out_date &gt; '2026-05-15'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AND r.status = 'Available';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Query 2 — Monthly Revenue Report by Room Type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8412480" cy="1353312"/>
          </a:xfrm>
          <a:prstGeom prst="rect">
            <a:avLst/>
          </a:prstGeom>
          <a:solidFill>
            <a:srgbClr val="1E1E1E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64992"/>
            <a:ext cx="8138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rt.type_name, SUM(p.amount) AS total_revenue, COUNT(DISTINCT b.booking_id) AS bookings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Payment 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Booking b ON p.booking_id = b.booking_id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BookingRoom br ON b.booking_id = br.booking_id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Room r ON br.room_id = r.room_id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RoomType rt ON r.type_id = rt.type_id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MONTH(p.payment_date) =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rt.type_name ORDER BY total_revenue DESC;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MongoDB Implementation — Collections &amp; Sample Document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Collections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8595360" cy="1207008"/>
        </p:xfrm>
        <a:graphic>
          <a:graphicData uri="http://schemas.openxmlformats.org/drawingml/2006/table">
            <a:tbl>
              <a:tblPr/>
              <a:tblGrid>
                <a:gridCol w="1828800"/>
                <a:gridCol w="67665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Collection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reviews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_id · guestName · bookingId · roomNumber · overallRating · roomRating · serviceRating · comment · reviewDate · tags[ ]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roomServiceOrders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_id · guestId · bookingId · roomNumber · orderDate · items[ ] (item, quantity, price) · totalAmount · status · specialRequest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guestFeedback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_id · guestName · bookingId · suggestions · rating · submittedDate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279806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Sample Document — reviews collection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3072384"/>
            <a:ext cx="8412480" cy="1600200"/>
          </a:xfrm>
          <a:prstGeom prst="rect">
            <a:avLst/>
          </a:prstGeom>
          <a:solidFill>
            <a:srgbClr val="1E1E1E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108960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"_id": "R001",  "guestName": "Biruk Alemu",  "bookingId": "B001",  "roomNumber": "A-101",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"overallRating": 4.8,  "roomRating": 5,  "serviceRating": 4.5,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"comment": "Excellent stay! Room was very clean, staff was friendly.",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"reviewDate": "2026-04-20",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"tags": ["clean", "friendly_staff", "good_location"]  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Testing &amp;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8595360" cy="3127248"/>
        </p:xfrm>
        <a:graphic>
          <a:graphicData uri="http://schemas.openxmlformats.org/drawingml/2006/table">
            <a:tbl>
              <a:tblPr/>
              <a:tblGrid>
                <a:gridCol w="365760"/>
                <a:gridCol w="3108960"/>
                <a:gridCol w="822960"/>
                <a:gridCol w="4297680"/>
              </a:tblGrid>
              <a:tr h="3909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90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 a room for an existing guest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Booking created; room status updated to 'Occupied'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Attempt to book an already-occupied room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System correctly rejects the conflicting reservation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0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Check-out and mark room as available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Status reverts to 'Available' on check-out date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Generate monthly revenue report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Accurate SUM computed across all confirmed payments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0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Insert a guest review in MongoDB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Document stored with tag array and sub-ratings intact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Aggregate average rating per room 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Correct average computed via MongoDB aggregation pipeline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90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Cross-reference booking_id (MySQL → MongoDB)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</a:rPr>
                        <a:t>Manual ID sync required; no automatic trigger implemented yet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solidFill>
            <a:srgbClr val="D6E4F0"/>
          </a:solidFill>
          <a:ln w="6350">
            <a:solidFill>
              <a:srgbClr val="2E74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E79"/>
                </a:solidFill>
              </a:rPr>
              <a:t>Summary: 6 out of 7 tests PASSED. The partial result (cross-database ID sync) is a known limitation documented for future improvement.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</a:rPr>
              <a:t>Hotel Management System  |  Group 7  |  AASTU  |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What We Achieved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✓  Designed and implemented a fully normalized hybrid database system (MySQL + MongoDB) for Addis Grand Hotel.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✓  All 10 MySQL tables normalized up to BCNF with proper foreign key constraints and referential integrity.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✓  MongoDB handles flexible data — reviews with multiple rating dimensions, service orders with variable item arrays.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✓  6 out of 7 defined test cases passed successfully; one partial result documented as a known limitation.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9144"/>
          </a:xfrm>
          <a:prstGeom prst="rect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63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Recommended Future Improvements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1.  Implement user authentication with role-based access control (admin, receptionist, manager).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2.  Build a backend integration layer (Node.js or PHP) to orchestrate operations across both databases.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867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3.  Add real-time notifications for new bookings and check-out reminders.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793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4.  Integrate a digital payment gateway (Telebirr, CBE Birr) for online payment processing.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5.  Develop a web-based frontend dashboard for management reporting and daily operations.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8412480" cy="2286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Thank you  —  Group 7  |  AASTU Department of Software Engineering  |  May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Management System — Group 7</dc:title>
  <dc:subject>PptxGenJS Presentation</dc:subject>
  <dc:creator>PptxGenJS</dc:creator>
  <cp:lastModifiedBy>PptxGenJS</cp:lastModifiedBy>
  <cp:revision>1</cp:revision>
  <dcterms:created xsi:type="dcterms:W3CDTF">2026-05-22T01:31:44Z</dcterms:created>
  <dcterms:modified xsi:type="dcterms:W3CDTF">2026-05-22T01:31:44Z</dcterms:modified>
</cp:coreProperties>
</file>