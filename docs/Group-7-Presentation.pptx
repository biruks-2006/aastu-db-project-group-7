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3749040" y="0"/>
            <a:ext cx="137160" cy="51435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" name="Shape 2"/>
          <p:cNvSpPr/>
          <p:nvPr/>
        </p:nvSpPr>
        <p:spPr>
          <a:xfrm>
            <a:off x="3886200" y="0"/>
            <a:ext cx="5257800" cy="5143500"/>
          </a:xfrm>
          <a:prstGeom prst="rect">
            <a:avLst/>
          </a:prstGeom>
          <a:solidFill>
            <a:srgbClr val="F7F9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45720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169164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HOTEL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274320" y="3520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MySQL &amp; MongoDB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06240" y="548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GROUP ASSIGNMENT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06240" y="868680"/>
            <a:ext cx="438912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0" name="Text 7"/>
          <p:cNvSpPr/>
          <p:nvPr/>
        </p:nvSpPr>
        <p:spPr>
          <a:xfrm>
            <a:off x="4206240" y="10058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7</a:t>
            </a:r>
            <a:endParaRPr lang="en-US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463040"/>
          <a:ext cx="4572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FA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Beka Solomon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ETS 0242/17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Deborah Mesfin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ETS 0434/17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Biruk Molla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ETS 0336/17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Abreham Teshale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ETS 0076/17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Awach Garang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ETS 1869/17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Gakeer Deng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ETS 1865/17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206240" y="45720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Mr. Yaynshet Medhin  |  May 2026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206240" y="4800600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Ababa Science and Technology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109728" cy="914400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12252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207008" y="1298448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 &amp; Problem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07008" y="166420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Grand Hotel context and current challenges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709160" y="118872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188720"/>
            <a:ext cx="109728" cy="914400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92040" y="12252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58968" y="1298448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Scope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458968" y="166420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 and system boundaries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57200" y="2267712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" y="2267712"/>
            <a:ext cx="109728" cy="914400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96312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0080" y="23042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207008" y="23774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1207008" y="274320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MySQL + MongoDB design approach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4709160" y="2267712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709160" y="2267712"/>
            <a:ext cx="109728" cy="914400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496312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892040" y="23042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458968" y="23774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Design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458968" y="274320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diagram, schema, normalization up to BCNF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57200" y="3346704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457200" y="3346704"/>
            <a:ext cx="109728" cy="914400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575304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40080" y="3383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1207008" y="345643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Results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1207008" y="3822192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&amp; MongoDB queries and sample outputs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4709160" y="3346704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4709160" y="3346704"/>
            <a:ext cx="109728" cy="914400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575304"/>
            <a:ext cx="411480" cy="41148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892040" y="3383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000" dirty="0"/>
          </a:p>
        </p:txBody>
      </p:sp>
      <p:sp>
        <p:nvSpPr>
          <p:cNvPr id="40" name="Text 32"/>
          <p:cNvSpPr/>
          <p:nvPr/>
        </p:nvSpPr>
        <p:spPr>
          <a:xfrm>
            <a:off x="5458968" y="345643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1300" dirty="0"/>
          </a:p>
        </p:txBody>
      </p:sp>
      <p:sp>
        <p:nvSpPr>
          <p:cNvPr id="41" name="Text 33"/>
          <p:cNvSpPr/>
          <p:nvPr/>
        </p:nvSpPr>
        <p:spPr>
          <a:xfrm>
            <a:off x="5458968" y="3822192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 and next steps</a:t>
            </a:r>
            <a:endParaRPr lang="en-US" sz="950" dirty="0"/>
          </a:p>
        </p:txBody>
      </p:sp>
      <p:sp>
        <p:nvSpPr>
          <p:cNvPr id="42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3" name="Text 3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44" name="Text 36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— Addis Grand Hotel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7043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Grand Hotel is a mid-sized 3-star hotel in Addis Ababa, serving business and leisure travellers. It currently relies on manual processes and spreadsheets for daily operations — a system that no longer meets the hotel's growing needs.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1325880" cy="1417320"/>
          </a:xfrm>
          <a:prstGeom prst="rect">
            <a:avLst/>
          </a:prstGeom>
          <a:solidFill>
            <a:srgbClr val="F7F9FC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331720"/>
            <a:ext cx="1325880" cy="256032"/>
          </a:xfrm>
          <a:prstGeom prst="rect">
            <a:avLst/>
          </a:prstGeom>
          <a:solidFill>
            <a:srgbClr val="2E5FA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70048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308152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Rooms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33756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· Double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Deluxe · Suite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938528" y="2331720"/>
            <a:ext cx="1325880" cy="1417320"/>
          </a:xfrm>
          <a:prstGeom prst="rect">
            <a:avLst/>
          </a:prstGeom>
          <a:solidFill>
            <a:srgbClr val="F7F9FC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938528" y="2331720"/>
            <a:ext cx="1325880" cy="256032"/>
          </a:xfrm>
          <a:prstGeom prst="rect">
            <a:avLst/>
          </a:prstGeom>
          <a:solidFill>
            <a:srgbClr val="B8504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267004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38528" y="308152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System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938528" y="333756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 &amp;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records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419856" y="2331720"/>
            <a:ext cx="1325880" cy="1417320"/>
          </a:xfrm>
          <a:prstGeom prst="rect">
            <a:avLst/>
          </a:prstGeom>
          <a:solidFill>
            <a:srgbClr val="F7F9FC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419856" y="2331720"/>
            <a:ext cx="1325880" cy="256032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2670048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19856" y="308152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Services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3419856" y="333756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service,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restaurant, stays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892040" y="1097280"/>
            <a:ext cx="3931920" cy="3520440"/>
          </a:xfrm>
          <a:prstGeom prst="rect">
            <a:avLst/>
          </a:prstGeom>
          <a:solidFill>
            <a:srgbClr val="D6E4F0"/>
          </a:solidFill>
          <a:ln w="6350">
            <a:solidFill>
              <a:srgbClr val="E8EEF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02920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ADDIS GRAND HOTEL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5029200" y="1508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5577840" y="1874520"/>
            <a:ext cx="2377440" cy="1737360"/>
          </a:xfrm>
          <a:prstGeom prst="rect">
            <a:avLst/>
          </a:prstGeom>
          <a:solidFill>
            <a:srgbClr val="2E5FA3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486400" y="1645920"/>
            <a:ext cx="256032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87568" y="1965960"/>
            <a:ext cx="320040" cy="347472"/>
          </a:xfrm>
          <a:prstGeom prst="rect">
            <a:avLst/>
          </a:prstGeom>
          <a:solidFill>
            <a:srgbClr val="C9A84C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217920" y="196596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748272" y="1965960"/>
            <a:ext cx="320040" cy="347472"/>
          </a:xfrm>
          <a:prstGeom prst="rect">
            <a:avLst/>
          </a:prstGeom>
          <a:solidFill>
            <a:srgbClr val="C9A84C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278624" y="196596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687568" y="246888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217920" y="246888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748272" y="246888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278624" y="246888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5687568" y="297180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17920" y="297180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748272" y="297180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7278624" y="2971800"/>
            <a:ext cx="320040" cy="347472"/>
          </a:xfrm>
          <a:prstGeom prst="rect">
            <a:avLst/>
          </a:prstGeom>
          <a:solidFill>
            <a:srgbClr val="E8F4FD"/>
          </a:solidFill>
          <a:ln w="6350">
            <a:solidFill>
              <a:srgbClr val="D6E4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510528" y="3291840"/>
            <a:ext cx="50292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5029200" y="36576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Ababa, Ethiopia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5029200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Operations: Manual &amp; Spreadsheet-based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3" name="Text 38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Grand Hotel's reliance on manual processes and spreadsheets creates critical operational failures: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4114800" cy="73152"/>
          </a:xfrm>
          <a:prstGeom prst="rect">
            <a:avLst/>
          </a:prstGeom>
          <a:solidFill>
            <a:srgbClr val="C6282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373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16459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Bookings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07008" y="19659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availability tracking causes frequent reservation conflicts, resulting in overbooked rooms and angry guests.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800600" y="1508760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508760"/>
            <a:ext cx="4114800" cy="73152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73736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6459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Billing Errors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550408" y="19659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invoice calculation leads to financial discrepancies, overcharges, and untracked revenue that damages trust.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57200" y="3081528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3081528"/>
            <a:ext cx="4114800" cy="73152"/>
          </a:xfrm>
          <a:prstGeom prst="rect">
            <a:avLst/>
          </a:prstGeom>
          <a:solidFill>
            <a:srgbClr val="2E5FA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310128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7008" y="321868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Lost Guest Records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207008" y="353872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and spreadsheet storage leads to frequent data loss, making guest history and preferences unrecoverable.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800600" y="3081528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00600" y="3081528"/>
            <a:ext cx="4114800" cy="73152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3310128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50408" y="321868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Poor Guest Experience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550408" y="353872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 handling of room service orders and feedback causes dissatisfaction and repeat business loss.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8" name="Text 22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15568"/>
            <a:ext cx="8229600" cy="804672"/>
          </a:xfrm>
          <a:prstGeom prst="rect">
            <a:avLst/>
          </a:prstGeom>
          <a:solidFill>
            <a:srgbClr val="D6E4F0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15568"/>
            <a:ext cx="128016" cy="804672"/>
          </a:xfrm>
          <a:prstGeom prst="rect">
            <a:avLst/>
          </a:prstGeom>
          <a:solidFill>
            <a:srgbClr val="2E5FA3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612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Objective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41732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design and implement a hybrid database system using MySQL and MongoDB that automates and improves the efficiency of all core hotel operations at Addis Grand Hotel.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0848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9184" cy="3657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2316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98448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normalised relational database in MySQL for structured hotel data (bookings, rooms, payments)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2761488"/>
            <a:ext cx="8229600" cy="9144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57200" y="2862072"/>
            <a:ext cx="329184" cy="3657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" y="286207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0779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98448" y="28620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MongoDB for flexible, semi-structured data — guest reviews, room service orders, and feedback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57200" y="3246120"/>
            <a:ext cx="8229600" cy="9144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21" name="Shape 17"/>
          <p:cNvSpPr/>
          <p:nvPr/>
        </p:nvSpPr>
        <p:spPr>
          <a:xfrm>
            <a:off x="457200" y="3346704"/>
            <a:ext cx="329184" cy="3657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18"/>
          <p:cNvSpPr/>
          <p:nvPr/>
        </p:nvSpPr>
        <p:spPr>
          <a:xfrm>
            <a:off x="457200" y="3346704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392424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298448" y="334670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real-time room availability checking and automated conflict detection to prevent double bookings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730752"/>
            <a:ext cx="8229600" cy="9144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26" name="Shape 21"/>
          <p:cNvSpPr/>
          <p:nvPr/>
        </p:nvSpPr>
        <p:spPr>
          <a:xfrm>
            <a:off x="457200" y="3831336"/>
            <a:ext cx="329184" cy="3657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2"/>
          <p:cNvSpPr/>
          <p:nvPr/>
        </p:nvSpPr>
        <p:spPr>
          <a:xfrm>
            <a:off x="457200" y="3831336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77056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298448" y="38313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management reports: occupancy rates, daily revenue summaries, and guest history analytics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57200" y="4215384"/>
            <a:ext cx="8229600" cy="9144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31" name="Shape 25"/>
          <p:cNvSpPr/>
          <p:nvPr/>
        </p:nvSpPr>
        <p:spPr>
          <a:xfrm>
            <a:off x="457200" y="4315968"/>
            <a:ext cx="329184" cy="3657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2" name="Text 26"/>
          <p:cNvSpPr/>
          <p:nvPr/>
        </p:nvSpPr>
        <p:spPr>
          <a:xfrm>
            <a:off x="457200" y="4315968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168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98448" y="431596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manual errors, enforce data integrity, and improve overall staff workflow efficiency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6" name="Text 29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37" name="Text 30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— Hybrid Approach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70432"/>
            <a:ext cx="256032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70432"/>
            <a:ext cx="2560320" cy="347472"/>
          </a:xfrm>
          <a:prstGeom prst="rect">
            <a:avLst/>
          </a:prstGeom>
          <a:solidFill>
            <a:srgbClr val="2E5FA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70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MySQL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5544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&amp; Transactional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828800"/>
            <a:ext cx="731520" cy="7315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2920" y="2670048"/>
            <a:ext cx="2286000" cy="246888"/>
          </a:xfrm>
          <a:prstGeom prst="rect">
            <a:avLst/>
          </a:prstGeom>
          <a:solidFill>
            <a:srgbClr val="D6E4F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267004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RoomType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920" y="2962656"/>
            <a:ext cx="228600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296265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3255264"/>
            <a:ext cx="2286000" cy="246888"/>
          </a:xfrm>
          <a:prstGeom prst="rect">
            <a:avLst/>
          </a:prstGeom>
          <a:solidFill>
            <a:srgbClr val="D6E4F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325526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3547872"/>
            <a:ext cx="228600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354787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840480"/>
            <a:ext cx="2286000" cy="246888"/>
          </a:xfrm>
          <a:prstGeom prst="rect">
            <a:avLst/>
          </a:prstGeom>
          <a:solidFill>
            <a:srgbClr val="D6E4F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384048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BookingRoom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02920" y="4133088"/>
            <a:ext cx="228600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413308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17920" y="1170432"/>
            <a:ext cx="256032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7920" y="1170432"/>
            <a:ext cx="2560320" cy="347472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0" y="1170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217920" y="15544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&amp; Document-based</a:t>
            </a:r>
            <a:endParaRPr lang="en-US" sz="9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828800"/>
            <a:ext cx="731520" cy="73152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6355080" y="2670048"/>
            <a:ext cx="2286000" cy="246888"/>
          </a:xfrm>
          <a:prstGeom prst="rect">
            <a:avLst/>
          </a:prstGeom>
          <a:solidFill>
            <a:srgbClr val="E8F5E9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55080" y="267004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355080" y="2962656"/>
            <a:ext cx="228600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55080" y="296265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roomServiceOrders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355080" y="3255264"/>
            <a:ext cx="2286000" cy="246888"/>
          </a:xfrm>
          <a:prstGeom prst="rect">
            <a:avLst/>
          </a:prstGeom>
          <a:solidFill>
            <a:srgbClr val="E8F5E9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355080" y="325526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guestFeedback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3200400" y="1691640"/>
            <a:ext cx="2743200" cy="2286000"/>
          </a:xfrm>
          <a:prstGeom prst="rect">
            <a:avLst/>
          </a:prstGeom>
          <a:solidFill>
            <a:srgbClr val="1F3864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3200400" y="1828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3474720" y="2359152"/>
            <a:ext cx="2194560" cy="27432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2423160"/>
            <a:ext cx="640080" cy="64008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3291840" y="312724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
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
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Coordination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2944368" y="2606040"/>
            <a:ext cx="27432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0" name="Shape 35"/>
          <p:cNvSpPr/>
          <p:nvPr/>
        </p:nvSpPr>
        <p:spPr>
          <a:xfrm>
            <a:off x="5925312" y="2606040"/>
            <a:ext cx="292608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1" name="Shape 3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2" name="Text 37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Entity Relationship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4069080" cy="1097280"/>
          </a:xfrm>
          <a:prstGeom prst="rect">
            <a:avLst/>
          </a:prstGeom>
          <a:solidFill>
            <a:srgbClr val="F7F9FC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70432"/>
            <a:ext cx="91440" cy="1097280"/>
          </a:xfrm>
          <a:prstGeom prst="rect">
            <a:avLst/>
          </a:prstGeom>
          <a:solidFill>
            <a:srgbClr val="2E5FA3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35024"/>
            <a:ext cx="1005840" cy="320040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3502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19072" y="135331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: 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719072" y="1490472"/>
            <a:ext cx="82296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2" name="Shape 10"/>
          <p:cNvSpPr/>
          <p:nvPr/>
        </p:nvSpPr>
        <p:spPr>
          <a:xfrm>
            <a:off x="2633472" y="1335024"/>
            <a:ext cx="169164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33502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8368" y="176479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guest can make many bookings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00600" y="1170432"/>
            <a:ext cx="4069080" cy="1097280"/>
          </a:xfrm>
          <a:prstGeom prst="rect">
            <a:avLst/>
          </a:prstGeom>
          <a:solidFill>
            <a:srgbClr val="F7F9FC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00600" y="1170432"/>
            <a:ext cx="91440" cy="1097280"/>
          </a:xfrm>
          <a:prstGeom prst="rect">
            <a:avLst/>
          </a:prstGeom>
          <a:solidFill>
            <a:srgbClr val="2E5FA3"/>
          </a:solidFill>
          <a:ln/>
        </p:spPr>
      </p:sp>
      <p:sp>
        <p:nvSpPr>
          <p:cNvPr id="17" name="Shape 15"/>
          <p:cNvSpPr/>
          <p:nvPr/>
        </p:nvSpPr>
        <p:spPr>
          <a:xfrm>
            <a:off x="5001768" y="1335024"/>
            <a:ext cx="1005840" cy="320040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01768" y="133502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62472" y="135331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: 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62472" y="1490472"/>
            <a:ext cx="82296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1" name="Shape 19"/>
          <p:cNvSpPr/>
          <p:nvPr/>
        </p:nvSpPr>
        <p:spPr>
          <a:xfrm>
            <a:off x="6976872" y="1335024"/>
            <a:ext cx="169164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76872" y="133502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01768" y="176479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bookings can include many rooms — resolved via BookingRoom junction table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423160"/>
            <a:ext cx="4069080" cy="1097280"/>
          </a:xfrm>
          <a:prstGeom prst="rect">
            <a:avLst/>
          </a:prstGeom>
          <a:solidFill>
            <a:srgbClr val="F7F9FC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2423160"/>
            <a:ext cx="91440" cy="1097280"/>
          </a:xfrm>
          <a:prstGeom prst="rect">
            <a:avLst/>
          </a:prstGeom>
          <a:solidFill>
            <a:srgbClr val="2E5FA3"/>
          </a:solidFill>
          <a:ln/>
        </p:spPr>
      </p:sp>
      <p:sp>
        <p:nvSpPr>
          <p:cNvPr id="26" name="Shape 24"/>
          <p:cNvSpPr/>
          <p:nvPr/>
        </p:nvSpPr>
        <p:spPr>
          <a:xfrm>
            <a:off x="658368" y="2587752"/>
            <a:ext cx="1005840" cy="320040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258775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719072" y="26060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: 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719072" y="2743200"/>
            <a:ext cx="82296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0" name="Shape 28"/>
          <p:cNvSpPr/>
          <p:nvPr/>
        </p:nvSpPr>
        <p:spPr>
          <a:xfrm>
            <a:off x="2633472" y="2587752"/>
            <a:ext cx="169164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33472" y="25877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RoomType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58368" y="3017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rooms belong to one room type (Single, Double, Deluxe, Suite)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2423160"/>
            <a:ext cx="4069080" cy="1097280"/>
          </a:xfrm>
          <a:prstGeom prst="rect">
            <a:avLst/>
          </a:prstGeom>
          <a:solidFill>
            <a:srgbClr val="F7F9FC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00600" y="2423160"/>
            <a:ext cx="91440" cy="1097280"/>
          </a:xfrm>
          <a:prstGeom prst="rect">
            <a:avLst/>
          </a:prstGeom>
          <a:solidFill>
            <a:srgbClr val="2E5FA3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1768" y="2587752"/>
            <a:ext cx="1005840" cy="320040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01768" y="258775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62472" y="26060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: 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62472" y="2743200"/>
            <a:ext cx="82296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9" name="Shape 37"/>
          <p:cNvSpPr/>
          <p:nvPr/>
        </p:nvSpPr>
        <p:spPr>
          <a:xfrm>
            <a:off x="6976872" y="2587752"/>
            <a:ext cx="169164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76872" y="25877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01768" y="3017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booking may have multiple payment records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3675888"/>
            <a:ext cx="4069080" cy="1097280"/>
          </a:xfrm>
          <a:prstGeom prst="rect">
            <a:avLst/>
          </a:prstGeom>
          <a:solidFill>
            <a:srgbClr val="E8F5E9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57200" y="3675888"/>
            <a:ext cx="91440" cy="109728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44" name="Shape 42"/>
          <p:cNvSpPr/>
          <p:nvPr/>
        </p:nvSpPr>
        <p:spPr>
          <a:xfrm>
            <a:off x="658368" y="3840480"/>
            <a:ext cx="1005840" cy="320040"/>
          </a:xfrm>
          <a:prstGeom prst="rect">
            <a:avLst/>
          </a:prstGeom>
          <a:solidFill>
            <a:srgbClr val="1665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3840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719072" y="38587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: M →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719072" y="3995928"/>
            <a:ext cx="82296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8" name="Shape 46"/>
          <p:cNvSpPr/>
          <p:nvPr/>
        </p:nvSpPr>
        <p:spPr>
          <a:xfrm>
            <a:off x="2633472" y="3840480"/>
            <a:ext cx="1691640" cy="320040"/>
          </a:xfrm>
          <a:prstGeom prst="rect">
            <a:avLst/>
          </a:prstGeom>
          <a:solidFill>
            <a:srgbClr val="1665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33472" y="3840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(MongoDB)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58368" y="42702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ID referenced in MongoDB review documents — cross-DB link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00600" y="3675888"/>
            <a:ext cx="4069080" cy="1097280"/>
          </a:xfrm>
          <a:prstGeom prst="rect">
            <a:avLst/>
          </a:prstGeom>
          <a:solidFill>
            <a:srgbClr val="E8F5E9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00600" y="3675888"/>
            <a:ext cx="91440" cy="109728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53" name="Shape 51"/>
          <p:cNvSpPr/>
          <p:nvPr/>
        </p:nvSpPr>
        <p:spPr>
          <a:xfrm>
            <a:off x="5001768" y="3840480"/>
            <a:ext cx="1005840" cy="320040"/>
          </a:xfrm>
          <a:prstGeom prst="rect">
            <a:avLst/>
          </a:prstGeom>
          <a:solidFill>
            <a:srgbClr val="1665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01768" y="3840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062472" y="38587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: M →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062472" y="3995928"/>
            <a:ext cx="82296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7" name="Shape 55"/>
          <p:cNvSpPr/>
          <p:nvPr/>
        </p:nvSpPr>
        <p:spPr>
          <a:xfrm>
            <a:off x="6976872" y="3840480"/>
            <a:ext cx="1691640" cy="320040"/>
          </a:xfrm>
          <a:prstGeom prst="rect">
            <a:avLst/>
          </a:prstGeom>
          <a:solidFill>
            <a:srgbClr val="1665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76872" y="3840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ServiceOrder (MongoDB)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001768" y="42702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ID referenced in MongoDB room service order documents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61" name="Text 59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DESIGN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Schema — MySQL Tables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1828800" cy="475488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704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RoomType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0" y="1170432"/>
            <a:ext cx="6400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17043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type_id (PK) · type_name · price_per_night · max_occupancy · description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19072"/>
            <a:ext cx="1828800" cy="475488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1907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86000" y="1719072"/>
            <a:ext cx="6400800" cy="475488"/>
          </a:xfrm>
          <a:prstGeom prst="rect">
            <a:avLst/>
          </a:prstGeom>
          <a:solidFill>
            <a:srgbClr val="E8EEF4"/>
          </a:solidFill>
          <a:ln w="6350">
            <a:solidFill>
              <a:srgbClr val="E8EE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23160" y="171907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room_id (PK) · room_number · type_id (FK) · status · floor_number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67712"/>
            <a:ext cx="1828800" cy="475488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2677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0" y="2267712"/>
            <a:ext cx="6400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226771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guest_id (PK) · full_name · phone · email · address · nationality · id_number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816352"/>
            <a:ext cx="1828800" cy="475488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81635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0" y="2816352"/>
            <a:ext cx="6400800" cy="475488"/>
          </a:xfrm>
          <a:prstGeom prst="rect">
            <a:avLst/>
          </a:prstGeom>
          <a:solidFill>
            <a:srgbClr val="E8EEF4"/>
          </a:solidFill>
          <a:ln w="6350">
            <a:solidFill>
              <a:srgbClr val="E8EE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23160" y="281635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booking_id (PK) · guest_id (FK) · check_in_date · check_out_date · total_amount · status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364992"/>
            <a:ext cx="1828800" cy="475488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36499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BookingRoom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286000" y="3364992"/>
            <a:ext cx="6400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23160" y="336499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booking_id (FK) · room_id (FK) — Composite Primary Key (junction table)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913632"/>
            <a:ext cx="1828800" cy="475488"/>
          </a:xfrm>
          <a:prstGeom prst="rect">
            <a:avLst/>
          </a:prstGeom>
          <a:solidFill>
            <a:srgbClr val="2E5F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9136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86000" y="3913632"/>
            <a:ext cx="6400800" cy="475488"/>
          </a:xfrm>
          <a:prstGeom prst="rect">
            <a:avLst/>
          </a:prstGeom>
          <a:solidFill>
            <a:srgbClr val="E8EEF4"/>
          </a:solidFill>
          <a:ln w="6350">
            <a:solidFill>
              <a:srgbClr val="E8EE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23160" y="391363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payment_id (PK) · booking_id (FK) · amount · payment_date · payment_method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solidFill>
            <a:srgbClr val="D6E4F0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0080" y="4480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to BCNF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44805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1NF: Atomic values  ·  2NF: No partial dependencies  ·  3NF: No transitive dependencies  ·  BCNF: Every determinant is a candidate key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MySQL Implementation &amp; Queries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406908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70432"/>
            <a:ext cx="4069080" cy="3017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170432"/>
            <a:ext cx="38404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Room Availability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472184"/>
            <a:ext cx="4069080" cy="23317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r.room_number, rt.type_name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Room r JOIN RoomType rt ON r.type_id = rt.type_id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r.room_id NOT IN 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br.room_id FROM BookingRoom br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Booking b ON br.booking_id = b.booking_id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b.check_in_date &lt; '2026-05-20'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b.check_out_date &gt; '2026-05-15'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AND r.status = 'available';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3803904"/>
            <a:ext cx="406908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85876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Query tested and validated in MySQL Workbench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00600" y="1170432"/>
            <a:ext cx="406908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0600" y="1170432"/>
            <a:ext cx="4069080" cy="3017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5" name="Text 13"/>
          <p:cNvSpPr/>
          <p:nvPr/>
        </p:nvSpPr>
        <p:spPr>
          <a:xfrm>
            <a:off x="4910328" y="1170432"/>
            <a:ext cx="38404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Revenue Report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1472184"/>
            <a:ext cx="4069080" cy="23317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536192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rt.type_name, SUM(p.amount) AS total_revenue,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COUNT(DISTINCT b.booking_id) AS total_bookings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Payment 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Booking b ON p.booking_id = b.booking_id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BookingRoom br ON b.booking_id = br.booking_id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Room r ON br.room_id = r.room_id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RoomType rt ON r.type_id = rt.type_id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MONTH(p.payment_date) = 5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rt.type_name ORDER BY total_revenue DESC;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00600" y="3803904"/>
            <a:ext cx="4069080" cy="18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4910328" y="385876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Query tested and validated in MySQL Workbench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mysql/schema.sql and mysql/queries.sql for full implementation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Implementation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347472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70432"/>
            <a:ext cx="3474720" cy="301752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70432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MongoDB?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572768"/>
            <a:ext cx="109728" cy="6858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5727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Flexible Schema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184708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reviews can hold ratings, tags, and free-text comments without a rigid structure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441448"/>
            <a:ext cx="109728" cy="6858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4414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Array Support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" y="271576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service orders naturally store variable item lists as embedded arrays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310128"/>
            <a:ext cx="109728" cy="6858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3101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 Aggregation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358444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queries efficiently compute average ratings across thousands of reviews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60520" y="1170432"/>
            <a:ext cx="452628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160520" y="1170432"/>
            <a:ext cx="4526280" cy="301752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0" name="Text 18"/>
          <p:cNvSpPr/>
          <p:nvPr/>
        </p:nvSpPr>
        <p:spPr>
          <a:xfrm>
            <a:off x="4279392" y="1170432"/>
            <a:ext cx="4297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MongoDB Document — reviews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60520" y="1472184"/>
            <a:ext cx="4526280" cy="269748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2" name="Text 20"/>
          <p:cNvSpPr/>
          <p:nvPr/>
        </p:nvSpPr>
        <p:spPr>
          <a:xfrm>
            <a:off x="4279392" y="1517904"/>
            <a:ext cx="4297680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_id: ObjectId("66a1b2c3d4e5f6789abc"),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guest_id: 12,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booking_id: "B-2045",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rating: 4.5,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comment: "Excellent stay, very clean room",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tags: ["clean", "friendly staff", "good food"],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date: ISODate("2026-05-10T14:30:00Z"),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room_type: "Deluxe"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Sample Results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15568"/>
            <a:ext cx="5394960" cy="2560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7" name="Shape 5"/>
          <p:cNvSpPr/>
          <p:nvPr/>
        </p:nvSpPr>
        <p:spPr>
          <a:xfrm>
            <a:off x="5870448" y="1115568"/>
            <a:ext cx="914400" cy="2560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Shape 6"/>
          <p:cNvSpPr/>
          <p:nvPr/>
        </p:nvSpPr>
        <p:spPr>
          <a:xfrm>
            <a:off x="6803136" y="1115568"/>
            <a:ext cx="1883664" cy="2560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15568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70448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94576" y="1115568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371600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70448" y="1371600"/>
            <a:ext cx="914400" cy="402336"/>
          </a:xfrm>
          <a:prstGeom prst="rect">
            <a:avLst/>
          </a:prstGeom>
          <a:solidFill>
            <a:srgbClr val="DCFCE7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1371600"/>
            <a:ext cx="1883664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371600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room for an existing guest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70448" y="1371600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94576" y="1371600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created; room status → 'occupied'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1801368"/>
            <a:ext cx="539496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70448" y="1801368"/>
            <a:ext cx="914400" cy="402336"/>
          </a:xfrm>
          <a:prstGeom prst="rect">
            <a:avLst/>
          </a:prstGeom>
          <a:solidFill>
            <a:srgbClr val="DCFCE7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03136" y="1801368"/>
            <a:ext cx="1883664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180136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to book an already-occupied room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70448" y="1801368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94576" y="180136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correctly rejects the conflicting reservation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2231136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2231136"/>
            <a:ext cx="914400" cy="402336"/>
          </a:xfrm>
          <a:prstGeom prst="rect">
            <a:avLst/>
          </a:prstGeom>
          <a:solidFill>
            <a:srgbClr val="DCFCE7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03136" y="2231136"/>
            <a:ext cx="1883664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2231136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 and mark room available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70448" y="2231136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94576" y="2231136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reverts to 'available' on check-out date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" y="2660904"/>
            <a:ext cx="539496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70448" y="2660904"/>
            <a:ext cx="914400" cy="402336"/>
          </a:xfrm>
          <a:prstGeom prst="rect">
            <a:avLst/>
          </a:prstGeom>
          <a:solidFill>
            <a:srgbClr val="DCFCE7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3136" y="2660904"/>
            <a:ext cx="1883664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2660904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monthly revenue report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70448" y="2660904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94576" y="266090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SUM across all confirmed booking payments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3090672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70448" y="3090672"/>
            <a:ext cx="914400" cy="402336"/>
          </a:xfrm>
          <a:prstGeom prst="rect">
            <a:avLst/>
          </a:prstGeom>
          <a:solidFill>
            <a:srgbClr val="DCFCE7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03136" y="3090672"/>
            <a:ext cx="1883664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3090672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guest review in MongoDB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70448" y="3090672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94576" y="309067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stored with tag array intact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57200" y="3520440"/>
            <a:ext cx="539496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70448" y="3520440"/>
            <a:ext cx="914400" cy="402336"/>
          </a:xfrm>
          <a:prstGeom prst="rect">
            <a:avLst/>
          </a:prstGeom>
          <a:solidFill>
            <a:srgbClr val="DCFCE7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03136" y="3520440"/>
            <a:ext cx="1883664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520440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average rating per room type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870448" y="3520440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894576" y="3520440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average computed via aggregation pipeline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57200" y="3950208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70448" y="3950208"/>
            <a:ext cx="914400" cy="402336"/>
          </a:xfrm>
          <a:prstGeom prst="rect">
            <a:avLst/>
          </a:prstGeom>
          <a:solidFill>
            <a:srgbClr val="FFF3E0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03136" y="3950208"/>
            <a:ext cx="1883664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E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395020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booking_id (MySQL → MongoDB)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870448" y="3950208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94576" y="395020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sync required; no automatic trigger yet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5" name="Text 53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&amp; Achievements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229600" cy="36576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70432"/>
            <a:ext cx="2697480" cy="292608"/>
          </a:xfrm>
          <a:prstGeom prst="rect">
            <a:avLst/>
          </a:prstGeom>
          <a:solidFill>
            <a:srgbClr val="16653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2763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5544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Double Bookings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234440" y="192024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availability checks prevent conflicts automatically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5848" y="1170432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55848" y="1170432"/>
            <a:ext cx="2697480" cy="292608"/>
          </a:xfrm>
          <a:prstGeom prst="rect">
            <a:avLst/>
          </a:prstGeom>
          <a:solidFill>
            <a:srgbClr val="2E5FA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1627632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133088" y="15544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Accurate Billing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133088" y="192024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integrity ensures precise financial records and reporting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254496" y="1170432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54496" y="1170432"/>
            <a:ext cx="2697480" cy="292608"/>
          </a:xfrm>
          <a:prstGeom prst="rect">
            <a:avLst/>
          </a:prstGeom>
          <a:solidFill>
            <a:srgbClr val="6D2E4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1627632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31736" y="15544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Feedback Mgmt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031736" y="192024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MongoDB's flexible schema captures rich, varied guest opinions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57200" y="2880360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7200" y="2880360"/>
            <a:ext cx="2697480" cy="292608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3756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34440" y="3264408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Instant Reports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1234440" y="3630168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Occupancy, revenue, and guest history generated on demand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355848" y="2880360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55848" y="2880360"/>
            <a:ext cx="2697480" cy="292608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016" y="333756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133088" y="3264408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Efficiency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4133088" y="3630168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Streamlined workflows reduce manual effort across all departments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6254496" y="2880360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E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254496" y="2880360"/>
            <a:ext cx="2697480" cy="292608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333756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031736" y="3264408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Scalable Foundation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7031736" y="3630168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architecture can grow with the hotel's future needs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7" name="Text 29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Management System  |  Group 7  |  AASTU — Department of Software Engineering  |  May 2026</a:t>
            </a:r>
            <a:endParaRPr lang="en-US" sz="750" dirty="0"/>
          </a:p>
        </p:txBody>
      </p:sp>
      <p:sp>
        <p:nvSpPr>
          <p:cNvPr id="38" name="Text 30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2E5FA3"/>
          </a:solidFill>
          <a:ln/>
        </p:spPr>
      </p:sp>
      <p:sp>
        <p:nvSpPr>
          <p:cNvPr id="4" name="Shape 2"/>
          <p:cNvSpPr/>
          <p:nvPr/>
        </p:nvSpPr>
        <p:spPr>
          <a:xfrm>
            <a:off x="4315968" y="0"/>
            <a:ext cx="109728" cy="51435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Robust Hybrid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Solution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320040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9659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database system successfully addresses all limitations of Addis Grand Hotel's manual operations. By combining MySQL's ACID-compliant reliability for transactions with MongoDB's schema flexibility for dynamic content, the solution provides a scalable, modern foundation for hotel management.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63440" y="3657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731520"/>
            <a:ext cx="4114800" cy="777240"/>
          </a:xfrm>
          <a:prstGeom prst="rect">
            <a:avLst/>
          </a:prstGeom>
          <a:solidFill>
            <a:srgbClr val="2E5FA3"/>
          </a:solidFill>
          <a:ln w="6350">
            <a:solidFill>
              <a:srgbClr val="4472C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91440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57800" y="73152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257800" y="987552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frontend dashboard for staff and managers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663440" y="1673352"/>
            <a:ext cx="4114800" cy="777240"/>
          </a:xfrm>
          <a:prstGeom prst="rect">
            <a:avLst/>
          </a:prstGeom>
          <a:solidFill>
            <a:srgbClr val="2E5FA3"/>
          </a:solidFill>
          <a:ln w="6350">
            <a:solidFill>
              <a:srgbClr val="4472C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56232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57800" y="1673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5257800" y="1929384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 with role-based access control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663440" y="2615184"/>
            <a:ext cx="4114800" cy="777240"/>
          </a:xfrm>
          <a:prstGeom prst="rect">
            <a:avLst/>
          </a:prstGeom>
          <a:solidFill>
            <a:srgbClr val="2E5FA3"/>
          </a:solidFill>
          <a:ln w="6350">
            <a:solidFill>
              <a:srgbClr val="4472C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798064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57800" y="2615184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5257800" y="2871216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for bookings and service requests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663440" y="3557016"/>
            <a:ext cx="4114800" cy="777240"/>
          </a:xfrm>
          <a:prstGeom prst="rect">
            <a:avLst/>
          </a:prstGeom>
          <a:solidFill>
            <a:srgbClr val="2E5FA3"/>
          </a:solidFill>
          <a:ln w="6350">
            <a:solidFill>
              <a:srgbClr val="4472C4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739896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257800" y="355701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257800" y="3813048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digital payment gateway (Telebirr, CBE Birr)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162850"/>
          </a:solidFill>
          <a:ln/>
        </p:spPr>
      </p:sp>
      <p:sp>
        <p:nvSpPr>
          <p:cNvPr id="27" name="Text 21"/>
          <p:cNvSpPr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 Welcome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14400" y="491947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  |  AASTU Department of Software Engineering  |  May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Hotel Management System — Group 7</dc:title>
  <dc:subject>PptxGenJS Presentation</dc:subject>
  <dc:creator>Group 7 — AASTU</dc:creator>
  <cp:lastModifiedBy>Group 7 — AASTU</cp:lastModifiedBy>
  <cp:revision>1</cp:revision>
  <dcterms:created xsi:type="dcterms:W3CDTF">2026-05-14T19:00:09Z</dcterms:created>
  <dcterms:modified xsi:type="dcterms:W3CDTF">2026-05-14T19:00:09Z</dcterms:modified>
</cp:coreProperties>
</file>